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cab4d9f14b4f45" /><Relationship Type="http://schemas.openxmlformats.org/officeDocument/2006/relationships/extended-properties" Target="/docProps/app.xml" Id="R2890ac26986b4342" /><Relationship Type="http://schemas.openxmlformats.org/officeDocument/2006/relationships/officeDocument" Target="/ppt/presentation.xml" Id="Rb5a1b5045f9f4d9c" /></Relationships>
</file>

<file path=ppt/presentation.xml><?xml version="1.0" encoding="utf-8"?>
<p:presentation xmlns:p="http://schemas.openxmlformats.org/presentationml/2006/main">
  <p:sldMasterIdLst>
    <p:sldMasterId xmlns:r="http://schemas.openxmlformats.org/officeDocument/2006/relationships" id="2147483648" r:id="R680a920668654037"/>
  </p:sldMasterIdLst>
  <p:notesMasterIdLst>
    <p:notesMasterId xmlns:r="http://schemas.openxmlformats.org/officeDocument/2006/relationships" r:id="R54244d5edff84f82"/>
  </p:notesMasterIdLst>
  <p:sldIdLst>
    <p:sldId xmlns:r="http://schemas.openxmlformats.org/officeDocument/2006/relationships" id="256" r:id="R5cff371caf764100"/>
    <p:sldId xmlns:r="http://schemas.openxmlformats.org/officeDocument/2006/relationships" id="257" r:id="R2b9b213c99e343dd"/>
    <p:sldId xmlns:r="http://schemas.openxmlformats.org/officeDocument/2006/relationships" id="258" r:id="Rc10e88a506054a52"/>
    <p:sldId xmlns:r="http://schemas.openxmlformats.org/officeDocument/2006/relationships" id="259" r:id="R8faca2105ccf4250"/>
    <p:sldId xmlns:r="http://schemas.openxmlformats.org/officeDocument/2006/relationships" id="260" r:id="R9ac2d1a9a3c549c4"/>
    <p:sldId xmlns:r="http://schemas.openxmlformats.org/officeDocument/2006/relationships" id="261" r:id="R79222d3ff4b544fe"/>
    <p:sldId xmlns:r="http://schemas.openxmlformats.org/officeDocument/2006/relationships" id="262" r:id="R8af1055a90f849fa"/>
    <p:sldId xmlns:r="http://schemas.openxmlformats.org/officeDocument/2006/relationships" id="263" r:id="Ref380d0468ea469e"/>
    <p:sldId xmlns:r="http://schemas.openxmlformats.org/officeDocument/2006/relationships" id="264" r:id="R80396bc3539f4d72"/>
    <p:sldId xmlns:r="http://schemas.openxmlformats.org/officeDocument/2006/relationships" id="265" r:id="R1cd1ce1c5fb344cf"/>
    <p:sldId xmlns:r="http://schemas.openxmlformats.org/officeDocument/2006/relationships" id="266" r:id="Rd913ce9661c44b87"/>
    <p:sldId xmlns:r="http://schemas.openxmlformats.org/officeDocument/2006/relationships" id="267" r:id="Ra319514fccc8462b"/>
    <p:sldId xmlns:r="http://schemas.openxmlformats.org/officeDocument/2006/relationships" id="268" r:id="R7b3a6791216e41d2"/>
    <p:sldId xmlns:r="http://schemas.openxmlformats.org/officeDocument/2006/relationships" id="269" r:id="R51e3411c269d492c"/>
    <p:sldId xmlns:r="http://schemas.openxmlformats.org/officeDocument/2006/relationships" id="270" r:id="R91dcaf06677a4290"/>
    <p:sldId xmlns:r="http://schemas.openxmlformats.org/officeDocument/2006/relationships" id="271" r:id="R8cf78f0bc0754fcb"/>
    <p:sldId xmlns:r="http://schemas.openxmlformats.org/officeDocument/2006/relationships" id="272" r:id="R6ac2f80e180043b4"/>
    <p:sldId xmlns:r="http://schemas.openxmlformats.org/officeDocument/2006/relationships" id="273" r:id="Ra9a9a0614f0b4df9"/>
    <p:sldId xmlns:r="http://schemas.openxmlformats.org/officeDocument/2006/relationships" id="274" r:id="R776fb0a85c8a4d9d"/>
    <p:sldId xmlns:r="http://schemas.openxmlformats.org/officeDocument/2006/relationships" id="275" r:id="R1a55bcc1d6c14f8d"/>
    <p:sldId xmlns:r="http://schemas.openxmlformats.org/officeDocument/2006/relationships" id="276" r:id="R7deb919ce0554539"/>
    <p:sldId xmlns:r="http://schemas.openxmlformats.org/officeDocument/2006/relationships" id="277" r:id="R04ec5a4656f148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83bb3a9f964b42" /><Relationship Type="http://schemas.openxmlformats.org/officeDocument/2006/relationships/slideMaster" Target="/ppt/slideMasters/slideMaster1.xml" Id="R680a920668654037" /><Relationship Type="http://schemas.openxmlformats.org/officeDocument/2006/relationships/notesMaster" Target="/ppt/notesMasters/notesMaster1.xml" Id="R54244d5edff84f82" /><Relationship Type="http://schemas.openxmlformats.org/officeDocument/2006/relationships/presProps" Target="/ppt/presProps.xml" Id="Racb8f02cae984ef3" /><Relationship Type="http://schemas.openxmlformats.org/officeDocument/2006/relationships/tableStyles" Target="/ppt/tableStyles.xml" Id="Rdc4d9bbd4a0e4ca4" /><Relationship Type="http://schemas.openxmlformats.org/officeDocument/2006/relationships/slide" Target="/ppt/slides/slide1.xml" Id="R5cff371caf764100" /><Relationship Type="http://schemas.openxmlformats.org/officeDocument/2006/relationships/slide" Target="/ppt/slides/slide2.xml" Id="R2b9b213c99e343dd" /><Relationship Type="http://schemas.openxmlformats.org/officeDocument/2006/relationships/slide" Target="/ppt/slides/slide3.xml" Id="Rc10e88a506054a52" /><Relationship Type="http://schemas.openxmlformats.org/officeDocument/2006/relationships/slide" Target="/ppt/slides/slide4.xml" Id="R8faca2105ccf4250" /><Relationship Type="http://schemas.openxmlformats.org/officeDocument/2006/relationships/slide" Target="/ppt/slides/slide5.xml" Id="R9ac2d1a9a3c549c4" /><Relationship Type="http://schemas.openxmlformats.org/officeDocument/2006/relationships/slide" Target="/ppt/slides/slide6.xml" Id="R79222d3ff4b544fe" /><Relationship Type="http://schemas.openxmlformats.org/officeDocument/2006/relationships/slide" Target="/ppt/slides/slide7.xml" Id="R8af1055a90f849fa" /><Relationship Type="http://schemas.openxmlformats.org/officeDocument/2006/relationships/slide" Target="/ppt/slides/slide8.xml" Id="Ref380d0468ea469e" /><Relationship Type="http://schemas.openxmlformats.org/officeDocument/2006/relationships/slide" Target="/ppt/slides/slide9.xml" Id="R80396bc3539f4d72" /><Relationship Type="http://schemas.openxmlformats.org/officeDocument/2006/relationships/slide" Target="/ppt/slides/slide10.xml" Id="R1cd1ce1c5fb344cf" /><Relationship Type="http://schemas.openxmlformats.org/officeDocument/2006/relationships/slide" Target="/ppt/slides/slide11.xml" Id="Rd913ce9661c44b87" /><Relationship Type="http://schemas.openxmlformats.org/officeDocument/2006/relationships/slide" Target="/ppt/slides/slide12.xml" Id="Ra319514fccc8462b" /><Relationship Type="http://schemas.openxmlformats.org/officeDocument/2006/relationships/slide" Target="/ppt/slides/slide13.xml" Id="R7b3a6791216e41d2" /><Relationship Type="http://schemas.openxmlformats.org/officeDocument/2006/relationships/slide" Target="/ppt/slides/slide14.xml" Id="R51e3411c269d492c" /><Relationship Type="http://schemas.openxmlformats.org/officeDocument/2006/relationships/slide" Target="/ppt/slides/slide15.xml" Id="R91dcaf06677a4290" /><Relationship Type="http://schemas.openxmlformats.org/officeDocument/2006/relationships/slide" Target="/ppt/slides/slide16.xml" Id="R8cf78f0bc0754fcb" /><Relationship Type="http://schemas.openxmlformats.org/officeDocument/2006/relationships/slide" Target="/ppt/slides/slide17.xml" Id="R6ac2f80e180043b4" /><Relationship Type="http://schemas.openxmlformats.org/officeDocument/2006/relationships/slide" Target="/ppt/slides/slide18.xml" Id="Ra9a9a0614f0b4df9" /><Relationship Type="http://schemas.openxmlformats.org/officeDocument/2006/relationships/slide" Target="/ppt/slides/slide19.xml" Id="R776fb0a85c8a4d9d" /><Relationship Type="http://schemas.openxmlformats.org/officeDocument/2006/relationships/slide" Target="/ppt/slides/slide20.xml" Id="R1a55bcc1d6c14f8d" /><Relationship Type="http://schemas.openxmlformats.org/officeDocument/2006/relationships/slide" Target="/ppt/slides/slide21.xml" Id="R7deb919ce0554539" /><Relationship Type="http://schemas.openxmlformats.org/officeDocument/2006/relationships/slide" Target="/ppt/slides/slide22.xml" Id="R04ec5a4656f148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c4678a648742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0ff8336ae54599" /><Relationship Type="http://schemas.openxmlformats.org/officeDocument/2006/relationships/notesMaster" Target="/ppt/notesMasters/notesMaster1.xml" Id="R8252e55900894f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f7a7ec28914a6a" /><Relationship Type="http://schemas.openxmlformats.org/officeDocument/2006/relationships/notesMaster" Target="/ppt/notesMasters/notesMaster1.xml" Id="R2d3a64b8e6a841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c7190d50e040f7" /><Relationship Type="http://schemas.openxmlformats.org/officeDocument/2006/relationships/notesMaster" Target="/ppt/notesMasters/notesMaster1.xml" Id="R2e70c32f23234a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b17369033d446b" /><Relationship Type="http://schemas.openxmlformats.org/officeDocument/2006/relationships/notesMaster" Target="/ppt/notesMasters/notesMaster1.xml" Id="R9eef0036863b49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fa49d90d4f4254" /><Relationship Type="http://schemas.openxmlformats.org/officeDocument/2006/relationships/notesMaster" Target="/ppt/notesMasters/notesMaster1.xml" Id="R12e136e909094f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2ca177877046ed" /><Relationship Type="http://schemas.openxmlformats.org/officeDocument/2006/relationships/notesMaster" Target="/ppt/notesMasters/notesMaster1.xml" Id="R0d35f6e594564f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44017282dc42b5" /><Relationship Type="http://schemas.openxmlformats.org/officeDocument/2006/relationships/notesMaster" Target="/ppt/notesMasters/notesMaster1.xml" Id="Racad9d95a40240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f3ce8444e948d4" /><Relationship Type="http://schemas.openxmlformats.org/officeDocument/2006/relationships/notesMaster" Target="/ppt/notesMasters/notesMaster1.xml" Id="R111aab04325841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2752a13f694585" /><Relationship Type="http://schemas.openxmlformats.org/officeDocument/2006/relationships/notesMaster" Target="/ppt/notesMasters/notesMaster1.xml" Id="Re9ab8d916a8a45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6c74c6c32c4483" /><Relationship Type="http://schemas.openxmlformats.org/officeDocument/2006/relationships/notesMaster" Target="/ppt/notesMasters/notesMaster1.xml" Id="R796f68e30c2e41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cc046ab8d54dd6" /><Relationship Type="http://schemas.openxmlformats.org/officeDocument/2006/relationships/notesMaster" Target="/ppt/notesMasters/notesMaster1.xml" Id="Re8b292148d3f4b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6c233cd8594e1d" /><Relationship Type="http://schemas.openxmlformats.org/officeDocument/2006/relationships/notesMaster" Target="/ppt/notesMasters/notesMaster1.xml" Id="R7030e1e980124c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e7ab8db5bc44c6" /><Relationship Type="http://schemas.openxmlformats.org/officeDocument/2006/relationships/notesMaster" Target="/ppt/notesMasters/notesMaster1.xml" Id="R514e56bb21b94f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a87903ab3944b8" /><Relationship Type="http://schemas.openxmlformats.org/officeDocument/2006/relationships/notesMaster" Target="/ppt/notesMasters/notesMaster1.xml" Id="R7f285e2b222240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d3fd4e9190435a" /><Relationship Type="http://schemas.openxmlformats.org/officeDocument/2006/relationships/notesMaster" Target="/ppt/notesMasters/notesMaster1.xml" Id="R687b8c22274b4f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05d0a7512e47ba" /><Relationship Type="http://schemas.openxmlformats.org/officeDocument/2006/relationships/notesMaster" Target="/ppt/notesMasters/notesMaster1.xml" Id="Rd8daf0a6fa9e45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84b19ff2db4976" /><Relationship Type="http://schemas.openxmlformats.org/officeDocument/2006/relationships/notesMaster" Target="/ppt/notesMasters/notesMaster1.xml" Id="R523e590bfb2b41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2aeba23a2704bb2" /><Relationship Type="http://schemas.openxmlformats.org/officeDocument/2006/relationships/notesMaster" Target="/ppt/notesMasters/notesMaster1.xml" Id="R8ab82aa84cc64a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b0dc4b7b0b4079" /><Relationship Type="http://schemas.openxmlformats.org/officeDocument/2006/relationships/notesMaster" Target="/ppt/notesMasters/notesMaster1.xml" Id="R332e31ba23434e5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5bb6ab981fa4c84" /><Relationship Type="http://schemas.openxmlformats.org/officeDocument/2006/relationships/notesMaster" Target="/ppt/notesMasters/notesMaster1.xml" Id="Rb15b6583818047a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710a9a2472147c0" /><Relationship Type="http://schemas.openxmlformats.org/officeDocument/2006/relationships/notesMaster" Target="/ppt/notesMasters/notesMaster1.xml" Id="R6fd7e0860e144fd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633e9f8632c441c" /><Relationship Type="http://schemas.openxmlformats.org/officeDocument/2006/relationships/notesMaster" Target="/ppt/notesMasters/notesMaster1.xml" Id="Rbb36404014c345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review walks through the 17-stage patient pathway, then presents the automated test evidence supplied with the project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Orient the audience to the two parts of the model: P01–P08 cover the core clinical route, while P09–P17 handle operational support and exceptions. P08 sends ongoing treatment back into the treatment cycle, so the process is not a simple one-pass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first screenshot to explain the pathway's referral entry point. The model waits for messages and routes each handoff to its corresponding process stage.</a:t>
            </a:r>
          </a:p>
          <a:p xmlns:a="http://schemas.openxmlformats.org/drawingml/2006/main">
            <a:r>
              <a:t/>
            </a:r>
          </a:p>
          <a:p xmlns:a="http://schemas.openxmlformats.org/drawingml/2006/main">
            <a:r>
              <a:t>Source: user-supplied screenshot of Process 01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clinical suitability gateway. Accepted referrals proceed to urgency and service selection; declined referrals are recorded and sent back to the referrer.</a:t>
            </a:r>
          </a:p>
          <a:p xmlns:a="http://schemas.openxmlformats.org/drawingml/2006/main">
            <a:r>
              <a:t/>
            </a:r>
          </a:p>
          <a:p xmlns:a="http://schemas.openxmlformats.org/drawingml/2006/main">
            <a:r>
              <a:t>Source: user-supplied screenshot of Process 02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appointment request and patient communication path. Availability, patient response, and suitability decisions can lead to confirmation, changes, or escalation.</a:t>
            </a:r>
          </a:p>
          <a:p xmlns:a="http://schemas.openxmlformats.org/drawingml/2006/main">
            <a:r>
              <a:t/>
            </a:r>
          </a:p>
          <a:p xmlns:a="http://schemas.openxmlformats.org/drawingml/2006/main">
            <a:r>
              <a:t>Source: user-supplied screenshot of Process 03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consultant reviews the patient and explains diagnosis, treatment risks, and alternatives. The consent outcome controls whether treatment can be authorised or alternatives are discussed.</a:t>
            </a:r>
          </a:p>
          <a:p xmlns:a="http://schemas.openxmlformats.org/drawingml/2006/main">
            <a:r>
              <a:t/>
            </a:r>
          </a:p>
          <a:p xmlns:a="http://schemas.openxmlformats.org/drawingml/2006/main">
            <a:r>
              <a:t>Source: user-supplied screenshot of Process 04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treatment booking and external service checks. The process can hold pending funding or capacity, reserve a provisional slot, or retry after a configured interval.</a:t>
            </a:r>
          </a:p>
          <a:p xmlns:a="http://schemas.openxmlformats.org/drawingml/2006/main">
            <a:r>
              <a:t/>
            </a:r>
          </a:p>
          <a:p xmlns:a="http://schemas.openxmlformats.org/drawingml/2006/main">
            <a:r>
              <a:t>Source: user-supplied screenshot of Process 05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payer classification and any external authorisation requirement. The process records the decision, funding limits, and any required advance payment.</a:t>
            </a:r>
          </a:p>
          <a:p xmlns:a="http://schemas.openxmlformats.org/drawingml/2006/main">
            <a:r>
              <a:t/>
            </a:r>
          </a:p>
          <a:p xmlns:a="http://schemas.openxmlformats.org/drawingml/2006/main">
            <a:r>
              <a:t>Source: user-supplied screenshot of Process 06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the workflow handles confirmed, declined, and unclear payment outcomes. Unresolved payments can put treatment on hold; confirmed outcomes update the booking path.</a:t>
            </a:r>
          </a:p>
          <a:p xmlns:a="http://schemas.openxmlformats.org/drawingml/2006/main">
            <a:r>
              <a:t/>
            </a:r>
          </a:p>
          <a:p xmlns:a="http://schemas.openxmlformats.org/drawingml/2006/main">
            <a:r>
              <a:t>Source: user-supplied screenshot of Process 07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the continuation decision. Continued or changed treatment returns to treatment planning, delay creates a review cycle, and stopping treatment can lead to a refund.</a:t>
            </a:r>
          </a:p>
          <a:p xmlns:a="http://schemas.openxmlformats.org/drawingml/2006/main">
            <a:r>
              <a:t/>
            </a:r>
          </a:p>
          <a:p xmlns:a="http://schemas.openxmlformats.org/drawingml/2006/main">
            <a:r>
              <a:t>Source: user-supplied screenshot of Process 08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how a requested treatment change is checked with the clinician, communicated to the patient, and reconciled with funding and appointment details.</a:t>
            </a:r>
          </a:p>
          <a:p xmlns:a="http://schemas.openxmlformats.org/drawingml/2006/main">
            <a:r>
              <a:t/>
            </a:r>
          </a:p>
          <a:p xmlns:a="http://schemas.openxmlformats.org/drawingml/2006/main">
            <a:r>
              <a:t>Source: user-supplied screenshot of Process 09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model handles cancellation requests, declined appointments, and missed visits. The relevant teams are informed and the booking status is updated.</a:t>
            </a:r>
          </a:p>
          <a:p xmlns:a="http://schemas.openxmlformats.org/drawingml/2006/main">
            <a:r>
              <a:t/>
            </a:r>
          </a:p>
          <a:p xmlns:a="http://schemas.openxmlformats.org/drawingml/2006/main">
            <a:r>
              <a:t>Source: user-supplied screenshot of Process 10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refund or transfer decision, finance review, provider response, and final audit record. Refund denial and transfer to another booking are explicit outcomes.</a:t>
            </a:r>
          </a:p>
          <a:p xmlns:a="http://schemas.openxmlformats.org/drawingml/2006/main">
            <a:r>
              <a:t/>
            </a:r>
          </a:p>
          <a:p xmlns:a="http://schemas.openxmlformats.org/drawingml/2006/main">
            <a:r>
              <a:t>Source: user-supplied screenshot of Process 11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patient inquiry path from receipt to classification and resolution. Specialist questions can be routed to the clinical, administrative, or finance teams.</a:t>
            </a:r>
          </a:p>
          <a:p xmlns:a="http://schemas.openxmlformats.org/drawingml/2006/main">
            <a:r>
              <a:t/>
            </a:r>
          </a:p>
          <a:p xmlns:a="http://schemas.openxmlformats.org/drawingml/2006/main">
            <a:r>
              <a:t>Source: user-supplied screenshot of Process 12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Summarise correspondence review and issue steps, including the handoffs that return letters and decisions to the wider patient pathway.</a:t>
            </a:r>
          </a:p>
          <a:p xmlns:a="http://schemas.openxmlformats.org/drawingml/2006/main">
            <a:r>
              <a:t/>
            </a:r>
          </a:p>
          <a:p xmlns:a="http://schemas.openxmlformats.org/drawingml/2006/main">
            <a:r>
              <a:t>Source: user-supplied screenshot of Process 13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follow-up request, slot search, approval, booking, and patient notification. Requests outside the allowed period are marked for attention and passed back to the pathway team.</a:t>
            </a:r>
          </a:p>
          <a:p xmlns:a="http://schemas.openxmlformats.org/drawingml/2006/main">
            <a:r>
              <a:t/>
            </a:r>
          </a:p>
          <a:p xmlns:a="http://schemas.openxmlformats.org/drawingml/2006/main">
            <a:r>
              <a:t>Source: user-supplied screenshot of Process 14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reporting paths: update the monitoring dataset and audit trail, and collect pathway data to generate and securely publish operational reports.</a:t>
            </a:r>
          </a:p>
          <a:p xmlns:a="http://schemas.openxmlformats.org/drawingml/2006/main">
            <a:r>
              <a:t/>
            </a:r>
          </a:p>
          <a:p xmlns:a="http://schemas.openxmlformats.org/drawingml/2006/main">
            <a:r>
              <a:t>Source: user-supplied screenshot of Process 15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stage combines secure access checks with outage handling. Access is granted only for the required role, and offline work is reconciled after service restoration.</a:t>
            </a:r>
          </a:p>
          <a:p xmlns:a="http://schemas.openxmlformats.org/drawingml/2006/main">
            <a:r>
              <a:t/>
            </a:r>
          </a:p>
          <a:p xmlns:a="http://schemas.openxmlformats.org/drawingml/2006/main">
            <a:r>
              <a:t>Source: user-supplied screenshot of Process 16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process section with appointment changes. The workflow checks clinical and operational constraints and escalates unresolved scheduling conflicts.</a:t>
            </a:r>
          </a:p>
          <a:p xmlns:a="http://schemas.openxmlformats.org/drawingml/2006/main">
            <a:r>
              <a:t/>
            </a:r>
          </a:p>
          <a:p xmlns:a="http://schemas.openxmlformats.org/drawingml/2006/main">
            <a:r>
              <a:t>Source: user-supplied screenshot of Process 17 in Hospital_Patient_Pathway_Process_Review.html.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supplied IDE summaries show 7 model coverage tests, 7 database tests, 6 worker persistence tests, 2 corridor message audit tests, and 4 pathway integration tests. The total shown here is the sum of those visible counts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screenshots are the supplied IDE run results for database, message audit, worker persistence, and BPMN model coverage. The duplicate message audit capture was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IDE summary reports four integration scenarios passed. The same screenshot also shows a RuntimeException related to advancing test time and an HTTP 403 response stating that the clock is immutable. Present this caveat plainly and confirm its impact before describing the run as fully clean.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1111812e434b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eeb906e8174a99" /><Relationship Type="http://schemas.openxmlformats.org/officeDocument/2006/relationships/slideLayout" Target="/ppt/slideLayouts/slideLayout1.xml" Id="Rfb6d2baa798d40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6d2baa798d40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3f1e01c4f44620" /><Relationship Type="http://schemas.openxmlformats.org/officeDocument/2006/relationships/notesSlide" Target="/ppt/notesSlides/notesSlide1.xml" Id="R8d428772905a43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4c05ec3f1c4bb8" /><Relationship Type="http://schemas.openxmlformats.org/officeDocument/2006/relationships/notesSlide" Target="/ppt/notesSlides/notesSlide2.xml" Id="Rcb555cbfda5f4f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380975e8144a8" /><Relationship Type="http://schemas.openxmlformats.org/officeDocument/2006/relationships/image" Target="/ppt/media/image.png" Id="R111560535c574ab4" /><Relationship Type="http://schemas.openxmlformats.org/officeDocument/2006/relationships/notesSlide" Target="/ppt/notesSlides/notesSlide3.xml" Id="R0baf7534c35843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a9825bc0404adc" /><Relationship Type="http://schemas.openxmlformats.org/officeDocument/2006/relationships/image" Target="/ppt/media/image2.png" Id="R92206f4e8e134337" /><Relationship Type="http://schemas.openxmlformats.org/officeDocument/2006/relationships/notesSlide" Target="/ppt/notesSlides/notesSlide4.xml" Id="R5aeaecb4a70b43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01eeb1b07947de" /><Relationship Type="http://schemas.openxmlformats.org/officeDocument/2006/relationships/image" Target="/ppt/media/image3.png" Id="R0346b9aa6cf54d02" /><Relationship Type="http://schemas.openxmlformats.org/officeDocument/2006/relationships/notesSlide" Target="/ppt/notesSlides/notesSlide5.xml" Id="R3c8dcec2867f4c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9caa91df0f4a30" /><Relationship Type="http://schemas.openxmlformats.org/officeDocument/2006/relationships/image" Target="/ppt/media/image4.png" Id="R17205796131f4106" /><Relationship Type="http://schemas.openxmlformats.org/officeDocument/2006/relationships/notesSlide" Target="/ppt/notesSlides/notesSlide6.xml" Id="Rc612729ae52444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9b1a6b00c84454" /><Relationship Type="http://schemas.openxmlformats.org/officeDocument/2006/relationships/image" Target="/ppt/media/image5.png" Id="R158c38fe048c47a1" /><Relationship Type="http://schemas.openxmlformats.org/officeDocument/2006/relationships/notesSlide" Target="/ppt/notesSlides/notesSlide7.xml" Id="R76cf3803b2f54a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03c18456f14b74" /><Relationship Type="http://schemas.openxmlformats.org/officeDocument/2006/relationships/image" Target="/ppt/media/image6.png" Id="Rfbf438c742f64cfc" /><Relationship Type="http://schemas.openxmlformats.org/officeDocument/2006/relationships/notesSlide" Target="/ppt/notesSlides/notesSlide8.xml" Id="Rfb282d6e706449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7cbab530164a93" /><Relationship Type="http://schemas.openxmlformats.org/officeDocument/2006/relationships/image" Target="/ppt/media/image7.png" Id="R8b72fbf695eb4c9d" /><Relationship Type="http://schemas.openxmlformats.org/officeDocument/2006/relationships/notesSlide" Target="/ppt/notesSlides/notesSlide9.xml" Id="R0529125ce9a143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ed0b56a3f447b3" /><Relationship Type="http://schemas.openxmlformats.org/officeDocument/2006/relationships/image" Target="/ppt/media/image8.png" Id="R85397ae3a5244dcd" /><Relationship Type="http://schemas.openxmlformats.org/officeDocument/2006/relationships/notesSlide" Target="/ppt/notesSlides/notesSlide10.xml" Id="Ra3047579a40641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a21e0206974442" /><Relationship Type="http://schemas.openxmlformats.org/officeDocument/2006/relationships/image" Target="/ppt/media/image9.png" Id="R382a68d9d16f4b80" /><Relationship Type="http://schemas.openxmlformats.org/officeDocument/2006/relationships/notesSlide" Target="/ppt/notesSlides/notesSlide11.xml" Id="Rcc02cb232a804a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627ddec09742fc" /><Relationship Type="http://schemas.openxmlformats.org/officeDocument/2006/relationships/image" Target="/ppt/media/image10.png" Id="R64e50d41074f4b9c" /><Relationship Type="http://schemas.openxmlformats.org/officeDocument/2006/relationships/notesSlide" Target="/ppt/notesSlides/notesSlide12.xml" Id="R5b02b9235e1247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44da2e3ab644da" /><Relationship Type="http://schemas.openxmlformats.org/officeDocument/2006/relationships/image" Target="/ppt/media/image11.png" Id="Rf2a66211e008424f" /><Relationship Type="http://schemas.openxmlformats.org/officeDocument/2006/relationships/notesSlide" Target="/ppt/notesSlides/notesSlide13.xml" Id="Rc6b2feba69884d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0e8b1f07f2c444e" /><Relationship Type="http://schemas.openxmlformats.org/officeDocument/2006/relationships/image" Target="/ppt/media/image12.png" Id="Ra8d223fc85db43a4" /><Relationship Type="http://schemas.openxmlformats.org/officeDocument/2006/relationships/notesSlide" Target="/ppt/notesSlides/notesSlide14.xml" Id="Ra1e0567cc73b4a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c19240325f44fb" /><Relationship Type="http://schemas.openxmlformats.org/officeDocument/2006/relationships/image" Target="/ppt/media/image13.png" Id="R4a5a2a2bd804472a" /><Relationship Type="http://schemas.openxmlformats.org/officeDocument/2006/relationships/notesSlide" Target="/ppt/notesSlides/notesSlide15.xml" Id="R93a1435f8b9046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b804f564c14edc" /><Relationship Type="http://schemas.openxmlformats.org/officeDocument/2006/relationships/image" Target="/ppt/media/image14.png" Id="Rbc08ce2374bc4ddf" /><Relationship Type="http://schemas.openxmlformats.org/officeDocument/2006/relationships/notesSlide" Target="/ppt/notesSlides/notesSlide16.xml" Id="Rd9f37f3b3bcb4f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5f1f8ad9984859" /><Relationship Type="http://schemas.openxmlformats.org/officeDocument/2006/relationships/image" Target="/ppt/media/image15.png" Id="R30458f9e004b45bf" /><Relationship Type="http://schemas.openxmlformats.org/officeDocument/2006/relationships/notesSlide" Target="/ppt/notesSlides/notesSlide17.xml" Id="Rd07cd14d187248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97890322104712" /><Relationship Type="http://schemas.openxmlformats.org/officeDocument/2006/relationships/image" Target="/ppt/media/image16.png" Id="Rc860fe6e40834dec" /><Relationship Type="http://schemas.openxmlformats.org/officeDocument/2006/relationships/notesSlide" Target="/ppt/notesSlides/notesSlide18.xml" Id="R7369076db21049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47b6c14e8949d4" /><Relationship Type="http://schemas.openxmlformats.org/officeDocument/2006/relationships/image" Target="/ppt/media/image17.png" Id="Rff78fd6f71004525" /><Relationship Type="http://schemas.openxmlformats.org/officeDocument/2006/relationships/notesSlide" Target="/ppt/notesSlides/notesSlide19.xml" Id="R780509f854c54b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5ceeb662cc4458a" /><Relationship Type="http://schemas.openxmlformats.org/officeDocument/2006/relationships/notesSlide" Target="/ppt/notesSlides/notesSlide20.xml" Id="R4a193b4313f249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3a1c95c67c04e60" /><Relationship Type="http://schemas.openxmlformats.org/officeDocument/2006/relationships/image" Target="/ppt/media/image18.png" Id="Ra0208fa23f584a49" /><Relationship Type="http://schemas.openxmlformats.org/officeDocument/2006/relationships/image" Target="/ppt/media/image19.png" Id="R543c6c7fe9ef4080" /><Relationship Type="http://schemas.openxmlformats.org/officeDocument/2006/relationships/image" Target="/ppt/media/image20.png" Id="R81a469454e904fbc" /><Relationship Type="http://schemas.openxmlformats.org/officeDocument/2006/relationships/image" Target="/ppt/media/image21.png" Id="Raa3900c7f88141b5" /><Relationship Type="http://schemas.openxmlformats.org/officeDocument/2006/relationships/notesSlide" Target="/ppt/notesSlides/notesSlide21.xml" Id="R19ec8eaf8d6044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213e03ad0f04098" /><Relationship Type="http://schemas.openxmlformats.org/officeDocument/2006/relationships/image" Target="/ppt/media/image22.png" Id="R87c1ab1bd6424c8b" /><Relationship Type="http://schemas.openxmlformats.org/officeDocument/2006/relationships/notesSlide" Target="/ppt/notesSlides/notesSlide22.xml" Id="R8f0df7e488f94ac8" /></Relationships>
</file>

<file path=ppt/slides/slide1.xml><?xml version="1.0" encoding="utf-8"?>
<p:sld xmlns:p="http://schemas.openxmlformats.org/presentationml/2006/main">
  <p:cSld>
    <p:bg>
      <p:bgPr>
        <a:solidFill xmlns:a="http://schemas.openxmlformats.org/drawingml/2006/main">
          <a:srgbClr val="132B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5F590B-7DDF-4CB4-945B-02C2FFEF1C83}"/>
              </a:ext>
            </a:extLst>
          </p:cNvPr>
          <p:cNvSpPr>
            <a:spLocks xmlns:a="http://schemas.openxmlformats.org/drawingml/2006/main" noGrp="1"/>
          </p:cNvSpPr>
          <p:nvPr/>
        </p:nvSpPr>
        <p:spPr>
          <a:xfrm xmlns:a="http://schemas.openxmlformats.org/drawingml/2006/main">
            <a:off x="838200" y="17621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575" b="1">
                <a:solidFill>
                  <a:srgbClr val="FFFFFF"/>
                </a:solidFill>
                <a:latin typeface="Microsoft YaHei"/>
                <a:ea typeface="Microsoft YaHei"/>
                <a:cs typeface="Microsoft YaHei"/>
              </a:defRPr>
            </a:pPr>
            <a:r>
              <a:rPr sz="4575" b="1">
                <a:solidFill>
                  <a:srgbClr val="FFFFFF"/>
                </a:solidFill>
                <a:latin typeface="Microsoft YaHei"/>
                <a:ea typeface="Microsoft YaHei"/>
                <a:cs typeface="Microsoft YaHei"/>
              </a:rPr>
              <a:t>Hospital Patient Pathway</a:t>
            </a:r>
          </a:p>
        </p:txBody>
      </p:sp>
      <p:sp>
        <p:nvSpPr>
          <p:cNvPr id="2" name="">
            <a:extLst xmlns:a="http://schemas.openxmlformats.org/drawingml/2006/main">
              <a:ext uri="{FF2B5EF4-FFF2-40B4-BE49-F238E27FC236}">
                <a16:creationId xmlns:a16="http://schemas.microsoft.com/office/drawing/2014/main" id="{8B4E73EF-C970-43AD-9805-86C6AC41859A}"/>
              </a:ext>
            </a:extLst>
          </p:cNvPr>
          <p:cNvSpPr>
            <a:spLocks xmlns:a="http://schemas.openxmlformats.org/drawingml/2006/main" noGrp="1"/>
          </p:cNvSpPr>
          <p:nvPr/>
        </p:nvSpPr>
        <p:spPr>
          <a:xfrm xmlns:a="http://schemas.openxmlformats.org/drawingml/2006/main">
            <a:off x="876300" y="281940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7FD5C4"/>
                </a:solidFill>
                <a:latin typeface="Microsoft YaHei"/>
                <a:ea typeface="Microsoft YaHei"/>
                <a:cs typeface="Microsoft YaHei"/>
              </a:defRPr>
            </a:pPr>
            <a:r>
              <a:rPr sz="2475" b="1">
                <a:solidFill>
                  <a:srgbClr val="7FD5C4"/>
                </a:solidFill>
                <a:latin typeface="Microsoft YaHei"/>
                <a:ea typeface="Microsoft YaHei"/>
                <a:cs typeface="Microsoft YaHei"/>
              </a:rPr>
              <a:t>BPMN 1–17 · Camunda 8</a:t>
            </a:r>
          </a:p>
        </p:txBody>
      </p:sp>
      <p:sp>
        <p:nvSpPr>
          <p:cNvPr id="3" name="">
            <a:extLst xmlns:a="http://schemas.openxmlformats.org/drawingml/2006/main">
              <a:ext uri="{FF2B5EF4-FFF2-40B4-BE49-F238E27FC236}">
                <a16:creationId xmlns:a16="http://schemas.microsoft.com/office/drawing/2014/main" id="{2181A66A-F9A1-4E5B-BEAD-28CE1C83658B}"/>
              </a:ext>
            </a:extLst>
          </p:cNvPr>
          <p:cNvSpPr>
            <a:spLocks xmlns:a="http://schemas.openxmlformats.org/drawingml/2006/main" noGrp="1"/>
          </p:cNvSpPr>
          <p:nvPr/>
        </p:nvSpPr>
        <p:spPr>
          <a:xfrm xmlns:a="http://schemas.openxmlformats.org/drawingml/2006/main">
            <a:off x="876300" y="3619500"/>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0">
                <a:solidFill>
                  <a:srgbClr val="E4EDF4"/>
                </a:solidFill>
                <a:latin typeface="Microsoft YaHei"/>
                <a:ea typeface="Microsoft YaHei"/>
                <a:cs typeface="Microsoft YaHei"/>
              </a:defRPr>
            </a:pPr>
            <a:r>
              <a:rPr sz="2025" b="0">
                <a:solidFill>
                  <a:srgbClr val="E4EDF4"/>
                </a:solidFill>
                <a:latin typeface="Microsoft YaHei"/>
                <a:ea typeface="Microsoft YaHei"/>
                <a:cs typeface="Microsoft YaHei"/>
              </a:rPr>
              <a:t>Process walkthrough and test evidence</a:t>
            </a:r>
          </a:p>
        </p:txBody>
      </p:sp>
      <p:sp>
        <p:nvSpPr>
          <p:cNvPr id="4" name="">
            <a:extLst xmlns:a="http://schemas.openxmlformats.org/drawingml/2006/main">
              <a:ext uri="{FF2B5EF4-FFF2-40B4-BE49-F238E27FC236}">
                <a16:creationId xmlns:a16="http://schemas.microsoft.com/office/drawing/2014/main" id="{E854B26C-913C-480E-A170-34404788DD52}"/>
              </a:ext>
            </a:extLst>
          </p:cNvPr>
          <p:cNvSpPr>
            <a:spLocks xmlns:a="http://schemas.openxmlformats.org/drawingml/2006/main" noGrp="1"/>
          </p:cNvSpPr>
          <p:nvPr/>
        </p:nvSpPr>
        <p:spPr>
          <a:xfrm xmlns:a="http://schemas.openxmlformats.org/drawingml/2006/main">
            <a:off x="876300" y="4953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333"/>
          </a:bodyPr>
          <a:lstStyle xmlns:a="http://schemas.openxmlformats.org/drawingml/2006/main"/>
          <a:p xmlns:a="http://schemas.openxmlformats.org/drawingml/2006/main">
            <a:pPr algn="l">
              <a:defRPr sz="1500" b="0">
                <a:solidFill>
                  <a:srgbClr val="BCCBD7"/>
                </a:solidFill>
                <a:latin typeface="Microsoft YaHei"/>
                <a:ea typeface="Microsoft YaHei"/>
                <a:cs typeface="Microsoft YaHei"/>
              </a:defRPr>
            </a:pPr>
            <a:r>
              <a:rPr sz="1500" b="0">
                <a:solidFill>
                  <a:srgbClr val="BCCBD7"/>
                </a:solidFill>
                <a:latin typeface="Microsoft YaHei"/>
                <a:ea typeface="Microsoft YaHei"/>
                <a:cs typeface="Microsoft YaHei"/>
              </a:rPr>
              <a:t>30 September 2026</a:t>
            </a:r>
          </a:p>
        </p:txBody>
      </p:sp>
    </p:spTree>
    <p:extLst>
      <p:ext uri="{BB962C8B-B14F-4D97-AF65-F5344CB8AC3E}">
        <p14:creationId xmlns:p14="http://schemas.microsoft.com/office/powerpoint/2010/main" val="1037192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BDBA582-5FBE-4DDA-B3B9-67A8397ADC67}"/>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Hospital Patient Pathway</a:t>
            </a:r>
          </a:p>
        </p:txBody>
      </p:sp>
      <p:sp>
        <p:nvSpPr>
          <p:cNvPr id="2" name="">
            <a:extLst xmlns:a="http://schemas.openxmlformats.org/drawingml/2006/main">
              <a:ext uri="{FF2B5EF4-FFF2-40B4-BE49-F238E27FC236}">
                <a16:creationId xmlns:a16="http://schemas.microsoft.com/office/drawing/2014/main" id="{9319D891-56C9-453E-B3F3-10C1C83A44E3}"/>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2 / 22</a:t>
            </a:r>
          </a:p>
        </p:txBody>
      </p:sp>
      <p:sp>
        <p:nvSpPr>
          <p:cNvPr id="3" name="">
            <a:extLst xmlns:a="http://schemas.openxmlformats.org/drawingml/2006/main">
              <a:ext uri="{FF2B5EF4-FFF2-40B4-BE49-F238E27FC236}">
                <a16:creationId xmlns:a16="http://schemas.microsoft.com/office/drawing/2014/main" id="{2697FBF4-6FA2-4C18-A630-0E105A7DB314}"/>
              </a:ext>
            </a:extLst>
          </p:cNvPr>
          <p:cNvSpPr>
            <a:spLocks xmlns:a="http://schemas.openxmlformats.org/drawingml/2006/main" noGrp="1"/>
          </p:cNvSpPr>
          <p:nvPr/>
        </p:nvSpPr>
        <p:spPr>
          <a:xfrm xmlns:a="http://schemas.openxmlformats.org/drawingml/2006/main">
            <a:off x="723900" y="106680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52677B"/>
                </a:solidFill>
                <a:latin typeface="Microsoft YaHei"/>
                <a:ea typeface="Microsoft YaHei"/>
                <a:cs typeface="Microsoft YaHei"/>
              </a:defRPr>
            </a:pPr>
            <a:r>
              <a:rPr sz="1650" b="0">
                <a:solidFill>
                  <a:srgbClr val="52677B"/>
                </a:solidFill>
                <a:latin typeface="Microsoft YaHei"/>
                <a:ea typeface="Microsoft YaHei"/>
                <a:cs typeface="Microsoft YaHei"/>
              </a:rPr>
              <a:t>17 BPMN stages connect referral intake, clinical decisions, treatment, finance, and operational support.</a:t>
            </a:r>
          </a:p>
        </p:txBody>
      </p:sp>
      <p:sp>
        <p:nvSpPr>
          <p:cNvPr id="4" name="">
            <a:extLst xmlns:a="http://schemas.openxmlformats.org/drawingml/2006/main">
              <a:ext uri="{FF2B5EF4-FFF2-40B4-BE49-F238E27FC236}">
                <a16:creationId xmlns:a16="http://schemas.microsoft.com/office/drawing/2014/main" id="{CBF90093-0417-47A2-8BBD-CC676F5384DA}"/>
              </a:ext>
            </a:extLst>
          </p:cNvPr>
          <p:cNvSpPr>
            <a:spLocks xmlns:a="http://schemas.openxmlformats.org/drawingml/2006/main" noGrp="1"/>
          </p:cNvSpPr>
          <p:nvPr/>
        </p:nvSpPr>
        <p:spPr>
          <a:xfrm xmlns:a="http://schemas.openxmlformats.org/drawingml/2006/main">
            <a:off x="742950" y="17526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306FA4"/>
                </a:solidFill>
                <a:latin typeface="Microsoft YaHei"/>
                <a:ea typeface="Microsoft YaHei"/>
                <a:cs typeface="Microsoft YaHei"/>
              </a:defRPr>
            </a:pPr>
            <a:r>
              <a:rPr sz="1350" b="1">
                <a:solidFill>
                  <a:srgbClr val="306FA4"/>
                </a:solidFill>
                <a:latin typeface="Microsoft YaHei"/>
                <a:ea typeface="Microsoft YaHei"/>
                <a:cs typeface="Microsoft YaHei"/>
              </a:rPr>
              <a:t>CORE CLINICAL PATH · P01–P08</a:t>
            </a:r>
          </a:p>
        </p:txBody>
      </p:sp>
      <p:sp>
        <p:nvSpPr>
          <p:cNvPr id="5" name="BPMN stage 1">
            <a:extLst xmlns:a="http://schemas.openxmlformats.org/drawingml/2006/main">
              <a:ext uri="{FF2B5EF4-FFF2-40B4-BE49-F238E27FC236}">
                <a16:creationId xmlns:a16="http://schemas.microsoft.com/office/drawing/2014/main" id="{DA17CD91-F7A9-4189-8233-C37AE2B8225F}"/>
              </a:ext>
            </a:extLst>
          </p:cNvPr>
          <p:cNvSpPr>
            <a:spLocks xmlns:a="http://schemas.openxmlformats.org/drawingml/2006/main" noGrp="1"/>
          </p:cNvSpPr>
          <p:nvPr/>
        </p:nvSpPr>
        <p:spPr>
          <a:xfrm xmlns:a="http://schemas.openxmlformats.org/drawingml/2006/main">
            <a:off x="552450" y="2209800"/>
            <a:ext cx="1257300" cy="914400"/>
          </a:xfrm>
          <a:prstGeom xmlns:a="http://schemas.openxmlformats.org/drawingml/2006/main" prst="roundRect">
            <a:avLst>
              <a:gd name="adj" fmla="val 6250"/>
            </a:avLst>
          </a:prstGeom>
          <a:solidFill xmlns:a="http://schemas.openxmlformats.org/drawingml/2006/main">
            <a:srgbClr val="EAF1F7"/>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01</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Referral</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receipt</a:t>
            </a:r>
          </a:p>
        </p:txBody>
      </p:sp>
      <p:sp>
        <p:nvSpPr>
          <p:cNvPr id="6" name="BPMN stage 2">
            <a:extLst xmlns:a="http://schemas.openxmlformats.org/drawingml/2006/main">
              <a:ext uri="{FF2B5EF4-FFF2-40B4-BE49-F238E27FC236}">
                <a16:creationId xmlns:a16="http://schemas.microsoft.com/office/drawing/2014/main" id="{D0924986-F9DC-40C1-8731-96F0AD75F0D6}"/>
              </a:ext>
            </a:extLst>
          </p:cNvPr>
          <p:cNvSpPr>
            <a:spLocks xmlns:a="http://schemas.openxmlformats.org/drawingml/2006/main" noGrp="1"/>
          </p:cNvSpPr>
          <p:nvPr/>
        </p:nvSpPr>
        <p:spPr>
          <a:xfrm xmlns:a="http://schemas.openxmlformats.org/drawingml/2006/main">
            <a:off x="1962150" y="2209800"/>
            <a:ext cx="1257300" cy="914400"/>
          </a:xfrm>
          <a:prstGeom xmlns:a="http://schemas.openxmlformats.org/drawingml/2006/main" prst="roundRect">
            <a:avLst>
              <a:gd name="adj" fmla="val 6250"/>
            </a:avLst>
          </a:prstGeom>
          <a:solidFill xmlns:a="http://schemas.openxmlformats.org/drawingml/2006/main">
            <a:srgbClr val="EAF1F7"/>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02</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Referral</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review</a:t>
            </a:r>
          </a:p>
        </p:txBody>
      </p:sp>
      <p:sp>
        <p:nvSpPr>
          <p:cNvPr id="7" name="BPMN stage 3">
            <a:extLst xmlns:a="http://schemas.openxmlformats.org/drawingml/2006/main">
              <a:ext uri="{FF2B5EF4-FFF2-40B4-BE49-F238E27FC236}">
                <a16:creationId xmlns:a16="http://schemas.microsoft.com/office/drawing/2014/main" id="{ACD689E1-DBC8-4307-8CDB-F6A6C22427C6}"/>
              </a:ext>
            </a:extLst>
          </p:cNvPr>
          <p:cNvSpPr>
            <a:spLocks xmlns:a="http://schemas.openxmlformats.org/drawingml/2006/main" noGrp="1"/>
          </p:cNvSpPr>
          <p:nvPr/>
        </p:nvSpPr>
        <p:spPr>
          <a:xfrm xmlns:a="http://schemas.openxmlformats.org/drawingml/2006/main">
            <a:off x="3371850" y="2209800"/>
            <a:ext cx="1257300" cy="914400"/>
          </a:xfrm>
          <a:prstGeom xmlns:a="http://schemas.openxmlformats.org/drawingml/2006/main" prst="roundRect">
            <a:avLst>
              <a:gd name="adj" fmla="val 6250"/>
            </a:avLst>
          </a:prstGeom>
          <a:solidFill xmlns:a="http://schemas.openxmlformats.org/drawingml/2006/main">
            <a:srgbClr val="EAF1F7"/>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03</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Initial</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consultation</a:t>
            </a:r>
          </a:p>
        </p:txBody>
      </p:sp>
      <p:sp>
        <p:nvSpPr>
          <p:cNvPr id="8" name="BPMN stage 4">
            <a:extLst xmlns:a="http://schemas.openxmlformats.org/drawingml/2006/main">
              <a:ext uri="{FF2B5EF4-FFF2-40B4-BE49-F238E27FC236}">
                <a16:creationId xmlns:a16="http://schemas.microsoft.com/office/drawing/2014/main" id="{3067F978-27D4-4155-83AE-DA4F50F6A9E9}"/>
              </a:ext>
            </a:extLst>
          </p:cNvPr>
          <p:cNvSpPr>
            <a:spLocks xmlns:a="http://schemas.openxmlformats.org/drawingml/2006/main" noGrp="1"/>
          </p:cNvSpPr>
          <p:nvPr/>
        </p:nvSpPr>
        <p:spPr>
          <a:xfrm xmlns:a="http://schemas.openxmlformats.org/drawingml/2006/main">
            <a:off x="4781550" y="2209800"/>
            <a:ext cx="1257300" cy="914400"/>
          </a:xfrm>
          <a:prstGeom xmlns:a="http://schemas.openxmlformats.org/drawingml/2006/main" prst="roundRect">
            <a:avLst>
              <a:gd name="adj" fmla="val 6250"/>
            </a:avLst>
          </a:prstGeom>
          <a:solidFill xmlns:a="http://schemas.openxmlformats.org/drawingml/2006/main">
            <a:srgbClr val="EAF1F7"/>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04</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Diagnosis &amp;</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consent</a:t>
            </a:r>
          </a:p>
        </p:txBody>
      </p:sp>
      <p:sp>
        <p:nvSpPr>
          <p:cNvPr id="9" name="BPMN stage 5">
            <a:extLst xmlns:a="http://schemas.openxmlformats.org/drawingml/2006/main">
              <a:ext uri="{FF2B5EF4-FFF2-40B4-BE49-F238E27FC236}">
                <a16:creationId xmlns:a16="http://schemas.microsoft.com/office/drawing/2014/main" id="{20B8B73D-47B0-4911-ACDD-DCC0D082B7F5}"/>
              </a:ext>
            </a:extLst>
          </p:cNvPr>
          <p:cNvSpPr>
            <a:spLocks xmlns:a="http://schemas.openxmlformats.org/drawingml/2006/main" noGrp="1"/>
          </p:cNvSpPr>
          <p:nvPr/>
        </p:nvSpPr>
        <p:spPr>
          <a:xfrm xmlns:a="http://schemas.openxmlformats.org/drawingml/2006/main">
            <a:off x="6191250" y="2209800"/>
            <a:ext cx="1257300" cy="914400"/>
          </a:xfrm>
          <a:prstGeom xmlns:a="http://schemas.openxmlformats.org/drawingml/2006/main" prst="roundRect">
            <a:avLst>
              <a:gd name="adj" fmla="val 6250"/>
            </a:avLst>
          </a:prstGeom>
          <a:solidFill xmlns:a="http://schemas.openxmlformats.org/drawingml/2006/main">
            <a:srgbClr val="E7F4F1"/>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05</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Treatment &amp;</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services</a:t>
            </a:r>
          </a:p>
        </p:txBody>
      </p:sp>
      <p:sp>
        <p:nvSpPr>
          <p:cNvPr id="10" name="BPMN stage 6">
            <a:extLst xmlns:a="http://schemas.openxmlformats.org/drawingml/2006/main">
              <a:ext uri="{FF2B5EF4-FFF2-40B4-BE49-F238E27FC236}">
                <a16:creationId xmlns:a16="http://schemas.microsoft.com/office/drawing/2014/main" id="{841D7309-A8EF-47EC-A397-0F42426CE64A}"/>
              </a:ext>
            </a:extLst>
          </p:cNvPr>
          <p:cNvSpPr>
            <a:spLocks xmlns:a="http://schemas.openxmlformats.org/drawingml/2006/main" noGrp="1"/>
          </p:cNvSpPr>
          <p:nvPr/>
        </p:nvSpPr>
        <p:spPr>
          <a:xfrm xmlns:a="http://schemas.openxmlformats.org/drawingml/2006/main">
            <a:off x="7600950" y="2209800"/>
            <a:ext cx="1257300" cy="914400"/>
          </a:xfrm>
          <a:prstGeom xmlns:a="http://schemas.openxmlformats.org/drawingml/2006/main" prst="roundRect">
            <a:avLst>
              <a:gd name="adj" fmla="val 6250"/>
            </a:avLst>
          </a:prstGeom>
          <a:solidFill xmlns:a="http://schemas.openxmlformats.org/drawingml/2006/main">
            <a:srgbClr val="E7F4F1"/>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06</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Funding</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verification</a:t>
            </a:r>
          </a:p>
        </p:txBody>
      </p:sp>
      <p:sp>
        <p:nvSpPr>
          <p:cNvPr id="11" name="BPMN stage 7">
            <a:extLst xmlns:a="http://schemas.openxmlformats.org/drawingml/2006/main">
              <a:ext uri="{FF2B5EF4-FFF2-40B4-BE49-F238E27FC236}">
                <a16:creationId xmlns:a16="http://schemas.microsoft.com/office/drawing/2014/main" id="{AA2C7EC4-0A3D-4905-9341-22688A7FD378}"/>
              </a:ext>
            </a:extLst>
          </p:cNvPr>
          <p:cNvSpPr>
            <a:spLocks xmlns:a="http://schemas.openxmlformats.org/drawingml/2006/main" noGrp="1"/>
          </p:cNvSpPr>
          <p:nvPr/>
        </p:nvSpPr>
        <p:spPr>
          <a:xfrm xmlns:a="http://schemas.openxmlformats.org/drawingml/2006/main">
            <a:off x="9010650" y="2209800"/>
            <a:ext cx="1257300" cy="914400"/>
          </a:xfrm>
          <a:prstGeom xmlns:a="http://schemas.openxmlformats.org/drawingml/2006/main" prst="roundRect">
            <a:avLst>
              <a:gd name="adj" fmla="val 6250"/>
            </a:avLst>
          </a:prstGeom>
          <a:solidFill xmlns:a="http://schemas.openxmlformats.org/drawingml/2006/main">
            <a:srgbClr val="E7F4F1"/>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07</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Payment</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result</a:t>
            </a:r>
          </a:p>
        </p:txBody>
      </p:sp>
      <p:sp>
        <p:nvSpPr>
          <p:cNvPr id="12" name="BPMN stage 8">
            <a:extLst xmlns:a="http://schemas.openxmlformats.org/drawingml/2006/main">
              <a:ext uri="{FF2B5EF4-FFF2-40B4-BE49-F238E27FC236}">
                <a16:creationId xmlns:a16="http://schemas.microsoft.com/office/drawing/2014/main" id="{8AD1C04D-6094-4551-94FE-6AC4F95379C0}"/>
              </a:ext>
            </a:extLst>
          </p:cNvPr>
          <p:cNvSpPr>
            <a:spLocks xmlns:a="http://schemas.openxmlformats.org/drawingml/2006/main" noGrp="1"/>
          </p:cNvSpPr>
          <p:nvPr/>
        </p:nvSpPr>
        <p:spPr>
          <a:xfrm xmlns:a="http://schemas.openxmlformats.org/drawingml/2006/main">
            <a:off x="10420350" y="2209800"/>
            <a:ext cx="1257300" cy="914400"/>
          </a:xfrm>
          <a:prstGeom xmlns:a="http://schemas.openxmlformats.org/drawingml/2006/main" prst="roundRect">
            <a:avLst>
              <a:gd name="adj" fmla="val 6250"/>
            </a:avLst>
          </a:prstGeom>
          <a:solidFill xmlns:a="http://schemas.openxmlformats.org/drawingml/2006/main">
            <a:srgbClr val="E7F4F1"/>
          </a:solidFill>
          <a:ln xmlns:a="http://schemas.openxmlformats.org/drawingml/2006/main" w="14288">
            <a:solidFill>
              <a:srgbClr val="CBD6DF"/>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08</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Continuation</a:t>
            </a:r>
          </a:p>
          <a:p xmlns:a="http://schemas.openxmlformats.org/drawingml/2006/main">
            <a:pPr algn="ctr">
              <a:defRPr sz="1200" b="1">
                <a:solidFill>
                  <a:srgbClr val="182F46"/>
                </a:solidFill>
                <a:latin typeface="Microsoft YaHei"/>
                <a:ea typeface="Microsoft YaHei"/>
                <a:cs typeface="Microsoft YaHei"/>
              </a:defRPr>
            </a:pPr>
            <a:r>
              <a:rPr sz="1200" b="1">
                <a:solidFill>
                  <a:srgbClr val="182F46"/>
                </a:solidFill>
                <a:latin typeface="Microsoft YaHei"/>
                <a:ea typeface="Microsoft YaHei"/>
                <a:cs typeface="Microsoft YaHei"/>
              </a:rPr>
              <a:t>review</a:t>
            </a:r>
          </a:p>
        </p:txBody>
      </p:sp>
      <p:cxnSp>
        <p:nvCxnSpPr>
          <p:cNvPr id="41" name=""/>
          <p:cNvCxnSpPr>
            <a:stCxn xmlns:a="http://schemas.openxmlformats.org/drawingml/2006/main" id="5" idx="3"/>
            <a:endCxn xmlns:a="http://schemas.openxmlformats.org/drawingml/2006/main" id="6" idx="1"/>
          </p:cNvCxnSpPr>
          <p:nvPr/>
        </p:nvCxnSpPr>
        <p:spPr>
          <a:xfrm xmlns:a="http://schemas.openxmlformats.org/drawingml/2006/main">
            <a:off x="1809750" y="2667000"/>
            <a:ext cx="152400" cy="0"/>
          </a:xfrm>
          <a:prstGeom xmlns:a="http://schemas.openxmlformats.org/drawingml/2006/main" prst="straightConnector1">
            <a:avLst/>
          </a:prstGeom>
          <a:ln xmlns:a="http://schemas.openxmlformats.org/drawingml/2006/main" w="20955">
            <a:solidFill>
              <a:srgbClr val="168C83"/>
            </a:solidFill>
            <a:prstDash val="solid"/>
            <a:tailEnd type="arrow" w="med" len="med"/>
          </a:ln>
        </p:spPr>
      </p:cxnSp>
      <p:cxnSp>
        <p:nvCxnSpPr>
          <p:cNvPr id="42" name=""/>
          <p:cNvCxnSpPr>
            <a:stCxn xmlns:a="http://schemas.openxmlformats.org/drawingml/2006/main" id="6" idx="3"/>
            <a:endCxn xmlns:a="http://schemas.openxmlformats.org/drawingml/2006/main" id="7" idx="1"/>
          </p:cNvCxnSpPr>
          <p:nvPr/>
        </p:nvCxnSpPr>
        <p:spPr>
          <a:xfrm xmlns:a="http://schemas.openxmlformats.org/drawingml/2006/main">
            <a:off x="3219450" y="2667000"/>
            <a:ext cx="152400" cy="0"/>
          </a:xfrm>
          <a:prstGeom xmlns:a="http://schemas.openxmlformats.org/drawingml/2006/main" prst="straightConnector1">
            <a:avLst/>
          </a:prstGeom>
          <a:ln xmlns:a="http://schemas.openxmlformats.org/drawingml/2006/main" w="20955">
            <a:solidFill>
              <a:srgbClr val="168C83"/>
            </a:solidFill>
            <a:prstDash val="solid"/>
            <a:tailEnd type="arrow" w="med" len="med"/>
          </a:ln>
        </p:spPr>
      </p:cxnSp>
      <p:cxnSp>
        <p:nvCxnSpPr>
          <p:cNvPr id="43" name=""/>
          <p:cNvCxnSpPr>
            <a:stCxn xmlns:a="http://schemas.openxmlformats.org/drawingml/2006/main" id="7" idx="3"/>
            <a:endCxn xmlns:a="http://schemas.openxmlformats.org/drawingml/2006/main" id="8" idx="1"/>
          </p:cNvCxnSpPr>
          <p:nvPr/>
        </p:nvCxnSpPr>
        <p:spPr>
          <a:xfrm xmlns:a="http://schemas.openxmlformats.org/drawingml/2006/main">
            <a:off x="4629150" y="2667000"/>
            <a:ext cx="152400" cy="0"/>
          </a:xfrm>
          <a:prstGeom xmlns:a="http://schemas.openxmlformats.org/drawingml/2006/main" prst="straightConnector1">
            <a:avLst/>
          </a:prstGeom>
          <a:ln xmlns:a="http://schemas.openxmlformats.org/drawingml/2006/main" w="20955">
            <a:solidFill>
              <a:srgbClr val="168C83"/>
            </a:solidFill>
            <a:prstDash val="solid"/>
            <a:tailEnd type="arrow" w="med" len="med"/>
          </a:ln>
        </p:spPr>
      </p:cxnSp>
      <p:cxnSp>
        <p:nvCxnSpPr>
          <p:cNvPr id="44" name=""/>
          <p:cNvCxnSpPr>
            <a:stCxn xmlns:a="http://schemas.openxmlformats.org/drawingml/2006/main" id="8" idx="3"/>
            <a:endCxn xmlns:a="http://schemas.openxmlformats.org/drawingml/2006/main" id="9" idx="1"/>
          </p:cNvCxnSpPr>
          <p:nvPr/>
        </p:nvCxnSpPr>
        <p:spPr>
          <a:xfrm xmlns:a="http://schemas.openxmlformats.org/drawingml/2006/main">
            <a:off x="6038850" y="2667000"/>
            <a:ext cx="152400" cy="0"/>
          </a:xfrm>
          <a:prstGeom xmlns:a="http://schemas.openxmlformats.org/drawingml/2006/main" prst="straightConnector1">
            <a:avLst/>
          </a:prstGeom>
          <a:ln xmlns:a="http://schemas.openxmlformats.org/drawingml/2006/main" w="20955">
            <a:solidFill>
              <a:srgbClr val="168C83"/>
            </a:solidFill>
            <a:prstDash val="solid"/>
            <a:tailEnd type="arrow" w="med" len="med"/>
          </a:ln>
        </p:spPr>
      </p:cxn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7448550" y="2667000"/>
            <a:ext cx="152400" cy="0"/>
          </a:xfrm>
          <a:prstGeom xmlns:a="http://schemas.openxmlformats.org/drawingml/2006/main" prst="straightConnector1">
            <a:avLst/>
          </a:prstGeom>
          <a:ln xmlns:a="http://schemas.openxmlformats.org/drawingml/2006/main" w="20955">
            <a:solidFill>
              <a:srgbClr val="168C83"/>
            </a:solidFill>
            <a:prstDash val="solid"/>
            <a:tailEnd type="arrow"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8858250" y="2667000"/>
            <a:ext cx="152400" cy="0"/>
          </a:xfrm>
          <a:prstGeom xmlns:a="http://schemas.openxmlformats.org/drawingml/2006/main" prst="straightConnector1">
            <a:avLst/>
          </a:prstGeom>
          <a:ln xmlns:a="http://schemas.openxmlformats.org/drawingml/2006/main" w="20955">
            <a:solidFill>
              <a:srgbClr val="168C83"/>
            </a:solidFill>
            <a:prstDash val="solid"/>
            <a:tailEnd type="arrow" w="med" len="med"/>
          </a:ln>
        </p:spPr>
      </p:cxnSp>
      <p:cxnSp>
        <p:nvCxnSpPr>
          <p:cNvPr id="47" name=""/>
          <p:cNvCxnSpPr>
            <a:stCxn xmlns:a="http://schemas.openxmlformats.org/drawingml/2006/main" id="11" idx="3"/>
            <a:endCxn xmlns:a="http://schemas.openxmlformats.org/drawingml/2006/main" id="12" idx="1"/>
          </p:cNvCxnSpPr>
          <p:nvPr/>
        </p:nvCxnSpPr>
        <p:spPr>
          <a:xfrm xmlns:a="http://schemas.openxmlformats.org/drawingml/2006/main">
            <a:off x="10267950" y="2667000"/>
            <a:ext cx="152400" cy="0"/>
          </a:xfrm>
          <a:prstGeom xmlns:a="http://schemas.openxmlformats.org/drawingml/2006/main" prst="straightConnector1">
            <a:avLst/>
          </a:prstGeom>
          <a:ln xmlns:a="http://schemas.openxmlformats.org/drawingml/2006/main" w="20955">
            <a:solidFill>
              <a:srgbClr val="168C83"/>
            </a:solidFill>
            <a:prstDash val="solid"/>
            <a:tailEnd type="arrow" w="med" len="med"/>
          </a:ln>
        </p:spPr>
      </p:cxnSp>
      <p:sp>
        <p:nvSpPr>
          <p:cNvPr id="20" name="">
            <a:extLst xmlns:a="http://schemas.openxmlformats.org/drawingml/2006/main">
              <a:ext uri="{FF2B5EF4-FFF2-40B4-BE49-F238E27FC236}">
                <a16:creationId xmlns:a16="http://schemas.microsoft.com/office/drawing/2014/main" id="{475EF229-6F7F-407F-BC0C-3F8D547CFC98}"/>
              </a:ext>
            </a:extLst>
          </p:cNvPr>
          <p:cNvSpPr>
            <a:spLocks xmlns:a="http://schemas.openxmlformats.org/drawingml/2006/main" noGrp="1"/>
          </p:cNvSpPr>
          <p:nvPr/>
        </p:nvSpPr>
        <p:spPr>
          <a:xfrm xmlns:a="http://schemas.openxmlformats.org/drawingml/2006/main">
            <a:off x="742950" y="33242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32B42"/>
                </a:solidFill>
                <a:latin typeface="Microsoft YaHei"/>
                <a:ea typeface="Microsoft YaHei"/>
                <a:cs typeface="Microsoft YaHei"/>
              </a:defRPr>
            </a:pPr>
            <a:r>
              <a:rPr sz="1425" b="1">
                <a:solidFill>
                  <a:srgbClr val="132B42"/>
                </a:solidFill>
                <a:latin typeface="Microsoft YaHei"/>
                <a:ea typeface="Microsoft YaHei"/>
                <a:cs typeface="Microsoft YaHei"/>
              </a:rPr>
              <a:t>P08 may repeat the treatment cycle, schedule a later review, or route a stopped case to refund handling.</a:t>
            </a:r>
          </a:p>
        </p:txBody>
      </p:sp>
      <p:sp>
        <p:nvSpPr>
          <p:cNvPr id="21" name="">
            <a:extLst xmlns:a="http://schemas.openxmlformats.org/drawingml/2006/main">
              <a:ext uri="{FF2B5EF4-FFF2-40B4-BE49-F238E27FC236}">
                <a16:creationId xmlns:a16="http://schemas.microsoft.com/office/drawing/2014/main" id="{C09F868E-F0A3-459B-B565-88A777F1A11A}"/>
              </a:ext>
            </a:extLst>
          </p:cNvPr>
          <p:cNvSpPr>
            <a:spLocks xmlns:a="http://schemas.openxmlformats.org/drawingml/2006/main" noGrp="1"/>
          </p:cNvSpPr>
          <p:nvPr/>
        </p:nvSpPr>
        <p:spPr>
          <a:xfrm xmlns:a="http://schemas.openxmlformats.org/drawingml/2006/main">
            <a:off x="742950" y="411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168C83"/>
                </a:solidFill>
                <a:latin typeface="Microsoft YaHei"/>
                <a:ea typeface="Microsoft YaHei"/>
                <a:cs typeface="Microsoft YaHei"/>
              </a:defRPr>
            </a:pPr>
            <a:r>
              <a:rPr sz="1350" b="1">
                <a:solidFill>
                  <a:srgbClr val="168C83"/>
                </a:solidFill>
                <a:latin typeface="Microsoft YaHei"/>
                <a:ea typeface="Microsoft YaHei"/>
                <a:cs typeface="Microsoft YaHei"/>
              </a:rPr>
              <a:t>OPERATIONAL SUPPORT · P09–P17</a:t>
            </a:r>
          </a:p>
        </p:txBody>
      </p:sp>
      <p:sp>
        <p:nvSpPr>
          <p:cNvPr id="22" name="">
            <a:extLst xmlns:a="http://schemas.openxmlformats.org/drawingml/2006/main">
              <a:ext uri="{FF2B5EF4-FFF2-40B4-BE49-F238E27FC236}">
                <a16:creationId xmlns:a16="http://schemas.microsoft.com/office/drawing/2014/main" id="{565C049D-7B90-4EF3-84EF-9AB5E2B624FE}"/>
              </a:ext>
            </a:extLst>
          </p:cNvPr>
          <p:cNvSpPr>
            <a:spLocks xmlns:a="http://schemas.openxmlformats.org/drawingml/2006/main" noGrp="1"/>
          </p:cNvSpPr>
          <p:nvPr/>
        </p:nvSpPr>
        <p:spPr>
          <a:xfrm xmlns:a="http://schemas.openxmlformats.org/drawingml/2006/main">
            <a:off x="762000" y="46482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615"/>
          </a:bodyPr>
          <a:lstStyle xmlns:a="http://schemas.openxmlformats.org/drawingml/2006/main"/>
          <a:p xmlns:a="http://schemas.openxmlformats.org/drawingml/2006/main">
            <a:pPr algn="l">
              <a:defRPr sz="1950" b="1">
                <a:solidFill>
                  <a:srgbClr val="168C83"/>
                </a:solidFill>
                <a:latin typeface="Microsoft YaHei"/>
                <a:ea typeface="Microsoft YaHei"/>
                <a:cs typeface="Microsoft YaHei"/>
              </a:defRPr>
            </a:pPr>
            <a:r>
              <a:rPr sz="1950" b="1">
                <a:solidFill>
                  <a:srgbClr val="168C83"/>
                </a:solidFill>
                <a:latin typeface="Microsoft YaHei"/>
                <a:ea typeface="Microsoft YaHei"/>
                <a:cs typeface="Microsoft YaHei"/>
              </a:rPr>
              <a:t>09–11</a:t>
            </a:r>
          </a:p>
        </p:txBody>
      </p:sp>
      <p:sp>
        <p:nvSpPr>
          <p:cNvPr id="23" name="">
            <a:extLst xmlns:a="http://schemas.openxmlformats.org/drawingml/2006/main">
              <a:ext uri="{FF2B5EF4-FFF2-40B4-BE49-F238E27FC236}">
                <a16:creationId xmlns:a16="http://schemas.microsoft.com/office/drawing/2014/main" id="{47677A3C-2CCC-4FBF-85E6-B34EBEBCF7C1}"/>
              </a:ext>
            </a:extLst>
          </p:cNvPr>
          <p:cNvSpPr>
            <a:spLocks xmlns:a="http://schemas.openxmlformats.org/drawingml/2006/main" noGrp="1"/>
          </p:cNvSpPr>
          <p:nvPr/>
        </p:nvSpPr>
        <p:spPr>
          <a:xfrm xmlns:a="http://schemas.openxmlformats.org/drawingml/2006/main">
            <a:off x="762000" y="5029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82F46"/>
                </a:solidFill>
                <a:latin typeface="Microsoft YaHei"/>
                <a:ea typeface="Microsoft YaHei"/>
                <a:cs typeface="Microsoft YaHei"/>
              </a:defRPr>
            </a:pPr>
            <a:r>
              <a:rPr sz="1425" b="0">
                <a:solidFill>
                  <a:srgbClr val="182F46"/>
                </a:solidFill>
                <a:latin typeface="Microsoft YaHei"/>
                <a:ea typeface="Microsoft YaHei"/>
                <a:cs typeface="Microsoft YaHei"/>
              </a:rPr>
              <a:t>Treatment changes, attendance exceptions, refunds</a:t>
            </a:r>
          </a:p>
        </p:txBody>
      </p:sp>
      <p:sp>
        <p:nvSpPr>
          <p:cNvPr id="24" name="">
            <a:extLst xmlns:a="http://schemas.openxmlformats.org/drawingml/2006/main">
              <a:ext uri="{FF2B5EF4-FFF2-40B4-BE49-F238E27FC236}">
                <a16:creationId xmlns:a16="http://schemas.microsoft.com/office/drawing/2014/main" id="{B21296F3-AF60-4278-8D2F-DC2EBF518F35}"/>
              </a:ext>
            </a:extLst>
          </p:cNvPr>
          <p:cNvSpPr>
            <a:spLocks xmlns:a="http://schemas.openxmlformats.org/drawingml/2006/main" noGrp="1"/>
          </p:cNvSpPr>
          <p:nvPr/>
        </p:nvSpPr>
        <p:spPr>
          <a:xfrm xmlns:a="http://schemas.openxmlformats.org/drawingml/2006/main">
            <a:off x="4343400" y="46482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615"/>
          </a:bodyPr>
          <a:lstStyle xmlns:a="http://schemas.openxmlformats.org/drawingml/2006/main"/>
          <a:p xmlns:a="http://schemas.openxmlformats.org/drawingml/2006/main">
            <a:pPr algn="l">
              <a:defRPr sz="1950" b="1">
                <a:solidFill>
                  <a:srgbClr val="168C83"/>
                </a:solidFill>
                <a:latin typeface="Microsoft YaHei"/>
                <a:ea typeface="Microsoft YaHei"/>
                <a:cs typeface="Microsoft YaHei"/>
              </a:defRPr>
            </a:pPr>
            <a:r>
              <a:rPr sz="1950" b="1">
                <a:solidFill>
                  <a:srgbClr val="168C83"/>
                </a:solidFill>
                <a:latin typeface="Microsoft YaHei"/>
                <a:ea typeface="Microsoft YaHei"/>
                <a:cs typeface="Microsoft YaHei"/>
              </a:rPr>
              <a:t>12–14</a:t>
            </a:r>
          </a:p>
        </p:txBody>
      </p:sp>
      <p:sp>
        <p:nvSpPr>
          <p:cNvPr id="25" name="">
            <a:extLst xmlns:a="http://schemas.openxmlformats.org/drawingml/2006/main">
              <a:ext uri="{FF2B5EF4-FFF2-40B4-BE49-F238E27FC236}">
                <a16:creationId xmlns:a16="http://schemas.microsoft.com/office/drawing/2014/main" id="{C2243A5D-369D-4ED3-BA2E-400B602B701F}"/>
              </a:ext>
            </a:extLst>
          </p:cNvPr>
          <p:cNvSpPr>
            <a:spLocks xmlns:a="http://schemas.openxmlformats.org/drawingml/2006/main" noGrp="1"/>
          </p:cNvSpPr>
          <p:nvPr/>
        </p:nvSpPr>
        <p:spPr>
          <a:xfrm xmlns:a="http://schemas.openxmlformats.org/drawingml/2006/main">
            <a:off x="4343400" y="5029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82F46"/>
                </a:solidFill>
                <a:latin typeface="Microsoft YaHei"/>
                <a:ea typeface="Microsoft YaHei"/>
                <a:cs typeface="Microsoft YaHei"/>
              </a:defRPr>
            </a:pPr>
            <a:r>
              <a:rPr sz="1425" b="0">
                <a:solidFill>
                  <a:srgbClr val="182F46"/>
                </a:solidFill>
                <a:latin typeface="Microsoft YaHei"/>
                <a:ea typeface="Microsoft YaHei"/>
                <a:cs typeface="Microsoft YaHei"/>
              </a:rPr>
              <a:t>Patient inquiries, medical letters, follow-up booking</a:t>
            </a:r>
          </a:p>
        </p:txBody>
      </p:sp>
      <p:sp>
        <p:nvSpPr>
          <p:cNvPr id="26" name="">
            <a:extLst xmlns:a="http://schemas.openxmlformats.org/drawingml/2006/main">
              <a:ext uri="{FF2B5EF4-FFF2-40B4-BE49-F238E27FC236}">
                <a16:creationId xmlns:a16="http://schemas.microsoft.com/office/drawing/2014/main" id="{7F633B41-13F7-4B19-B3AC-63A684F39A41}"/>
              </a:ext>
            </a:extLst>
          </p:cNvPr>
          <p:cNvSpPr>
            <a:spLocks xmlns:a="http://schemas.openxmlformats.org/drawingml/2006/main" noGrp="1"/>
          </p:cNvSpPr>
          <p:nvPr/>
        </p:nvSpPr>
        <p:spPr>
          <a:xfrm xmlns:a="http://schemas.openxmlformats.org/drawingml/2006/main">
            <a:off x="7924800" y="46482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615"/>
          </a:bodyPr>
          <a:lstStyle xmlns:a="http://schemas.openxmlformats.org/drawingml/2006/main"/>
          <a:p xmlns:a="http://schemas.openxmlformats.org/drawingml/2006/main">
            <a:pPr algn="l">
              <a:defRPr sz="1950" b="1">
                <a:solidFill>
                  <a:srgbClr val="168C83"/>
                </a:solidFill>
                <a:latin typeface="Microsoft YaHei"/>
                <a:ea typeface="Microsoft YaHei"/>
                <a:cs typeface="Microsoft YaHei"/>
              </a:defRPr>
            </a:pPr>
            <a:r>
              <a:rPr sz="1950" b="1">
                <a:solidFill>
                  <a:srgbClr val="168C83"/>
                </a:solidFill>
                <a:latin typeface="Microsoft YaHei"/>
                <a:ea typeface="Microsoft YaHei"/>
                <a:cs typeface="Microsoft YaHei"/>
              </a:rPr>
              <a:t>15–17</a:t>
            </a:r>
          </a:p>
        </p:txBody>
      </p:sp>
      <p:sp>
        <p:nvSpPr>
          <p:cNvPr id="27" name="">
            <a:extLst xmlns:a="http://schemas.openxmlformats.org/drawingml/2006/main">
              <a:ext uri="{FF2B5EF4-FFF2-40B4-BE49-F238E27FC236}">
                <a16:creationId xmlns:a16="http://schemas.microsoft.com/office/drawing/2014/main" id="{E419A792-7FCF-4C1C-BA2F-458D63121B88}"/>
              </a:ext>
            </a:extLst>
          </p:cNvPr>
          <p:cNvSpPr>
            <a:spLocks xmlns:a="http://schemas.openxmlformats.org/drawingml/2006/main" noGrp="1"/>
          </p:cNvSpPr>
          <p:nvPr/>
        </p:nvSpPr>
        <p:spPr>
          <a:xfrm xmlns:a="http://schemas.openxmlformats.org/drawingml/2006/main">
            <a:off x="7924800" y="5029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82F46"/>
                </a:solidFill>
                <a:latin typeface="Microsoft YaHei"/>
                <a:ea typeface="Microsoft YaHei"/>
                <a:cs typeface="Microsoft YaHei"/>
              </a:defRPr>
            </a:pPr>
            <a:r>
              <a:rPr sz="1425" b="0">
                <a:solidFill>
                  <a:srgbClr val="182F46"/>
                </a:solidFill>
                <a:latin typeface="Microsoft YaHei"/>
                <a:ea typeface="Microsoft YaHei"/>
                <a:cs typeface="Microsoft YaHei"/>
              </a:rPr>
              <a:t>Monitoring, access and downtime, scheduling escalation</a:t>
            </a:r>
          </a:p>
        </p:txBody>
      </p:sp>
      <p:sp>
        <p:nvSpPr>
          <p:cNvPr id="28" name="">
            <a:extLst xmlns:a="http://schemas.openxmlformats.org/drawingml/2006/main">
              <a:ext uri="{FF2B5EF4-FFF2-40B4-BE49-F238E27FC236}">
                <a16:creationId xmlns:a16="http://schemas.microsoft.com/office/drawing/2014/main" id="{5A03A04A-5754-4005-9B55-2DBA289A22C7}"/>
              </a:ext>
            </a:extLst>
          </p:cNvPr>
          <p:cNvSpPr>
            <a:spLocks xmlns:a="http://schemas.openxmlformats.org/drawingml/2006/main" noGrp="1"/>
          </p:cNvSpPr>
          <p:nvPr/>
        </p:nvSpPr>
        <p:spPr>
          <a:xfrm xmlns:a="http://schemas.openxmlformats.org/drawingml/2006/main">
            <a:off x="742950" y="600075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762"/>
          </a:bodyPr>
          <a:lstStyle xmlns:a="http://schemas.openxmlformats.org/drawingml/2006/main"/>
          <a:p xmlns:a="http://schemas.openxmlformats.org/drawingml/2006/main">
            <a:pPr algn="l">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Source: user-provided BPMN model and stage captures from the interactive review HTML.</a:t>
            </a:r>
          </a:p>
        </p:txBody>
      </p:sp>
    </p:spTree>
    <p:extLst>
      <p:ext uri="{BB962C8B-B14F-4D97-AF65-F5344CB8AC3E}">
        <p14:creationId xmlns:p14="http://schemas.microsoft.com/office/powerpoint/2010/main" val="9567855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993868-A6A8-42F9-A8F1-FE9279A7C64D}"/>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01  Referral Receipt &amp; Handoffs</a:t>
            </a:r>
          </a:p>
        </p:txBody>
      </p:sp>
      <p:sp>
        <p:nvSpPr>
          <p:cNvPr id="2" name="">
            <a:extLst xmlns:a="http://schemas.openxmlformats.org/drawingml/2006/main">
              <a:ext uri="{FF2B5EF4-FFF2-40B4-BE49-F238E27FC236}">
                <a16:creationId xmlns:a16="http://schemas.microsoft.com/office/drawing/2014/main" id="{B64AABBD-269A-4115-98A8-E1AC6EAE03C4}"/>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3 / 22</a:t>
            </a:r>
          </a:p>
        </p:txBody>
      </p:sp>
      <p:sp>
        <p:nvSpPr>
          <p:cNvPr id="3" name="">
            <a:extLst xmlns:a="http://schemas.openxmlformats.org/drawingml/2006/main">
              <a:ext uri="{FF2B5EF4-FFF2-40B4-BE49-F238E27FC236}">
                <a16:creationId xmlns:a16="http://schemas.microsoft.com/office/drawing/2014/main" id="{625C41E2-D6FF-4CD6-B237-D822D2A4ABBD}"/>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Referral intake launches the pathway and routes messages to downstream stages.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11560535c574ab4"/>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7089350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55C2BC-DCCF-4B07-8CF0-5891BEA5CC1D}"/>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02  Referral Review</a:t>
            </a:r>
          </a:p>
        </p:txBody>
      </p:sp>
      <p:sp>
        <p:nvSpPr>
          <p:cNvPr id="2" name="">
            <a:extLst xmlns:a="http://schemas.openxmlformats.org/drawingml/2006/main">
              <a:ext uri="{FF2B5EF4-FFF2-40B4-BE49-F238E27FC236}">
                <a16:creationId xmlns:a16="http://schemas.microsoft.com/office/drawing/2014/main" id="{17446A31-631C-424F-A8BD-E7AEB15EA1D0}"/>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4 / 22</a:t>
            </a:r>
          </a:p>
        </p:txBody>
      </p:sp>
      <p:sp>
        <p:nvSpPr>
          <p:cNvPr id="3" name="">
            <a:extLst xmlns:a="http://schemas.openxmlformats.org/drawingml/2006/main">
              <a:ext uri="{FF2B5EF4-FFF2-40B4-BE49-F238E27FC236}">
                <a16:creationId xmlns:a16="http://schemas.microsoft.com/office/drawing/2014/main" id="{AA2F146D-969D-4BB2-9B66-1BCA4D3EE08F}"/>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The clinical suitability decision routes accepted and declined referrals.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2206f4e8e134337"/>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710678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917E5B-7B47-49A4-8E5B-7AFCC0BE0BA7}"/>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03  Initial Consultation &amp; Patient Contact</a:t>
            </a:r>
          </a:p>
        </p:txBody>
      </p:sp>
      <p:sp>
        <p:nvSpPr>
          <p:cNvPr id="2" name="">
            <a:extLst xmlns:a="http://schemas.openxmlformats.org/drawingml/2006/main">
              <a:ext uri="{FF2B5EF4-FFF2-40B4-BE49-F238E27FC236}">
                <a16:creationId xmlns:a16="http://schemas.microsoft.com/office/drawing/2014/main" id="{AFE80D06-A6D0-4672-BE78-F91453F39857}"/>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5 / 22</a:t>
            </a:r>
          </a:p>
        </p:txBody>
      </p:sp>
      <p:sp>
        <p:nvSpPr>
          <p:cNvPr id="3" name="">
            <a:extLst xmlns:a="http://schemas.openxmlformats.org/drawingml/2006/main">
              <a:ext uri="{FF2B5EF4-FFF2-40B4-BE49-F238E27FC236}">
                <a16:creationId xmlns:a16="http://schemas.microsoft.com/office/drawing/2014/main" id="{75A0D68F-57DF-4A4A-8BE2-0595CF11D57F}"/>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Appointment options, patient response, and clinical suitability determine the next step.</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346b9aa6cf54d02"/>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2674090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80585E-0BA8-47C6-AD9A-9A253D56B81A}"/>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04  Diagnosis, Assessment &amp; Informed Consent</a:t>
            </a:r>
          </a:p>
        </p:txBody>
      </p:sp>
      <p:sp>
        <p:nvSpPr>
          <p:cNvPr id="2" name="">
            <a:extLst xmlns:a="http://schemas.openxmlformats.org/drawingml/2006/main">
              <a:ext uri="{FF2B5EF4-FFF2-40B4-BE49-F238E27FC236}">
                <a16:creationId xmlns:a16="http://schemas.microsoft.com/office/drawing/2014/main" id="{7AC664C7-D61A-42B4-9AD7-FE778803B08D}"/>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6 / 22</a:t>
            </a:r>
          </a:p>
        </p:txBody>
      </p:sp>
      <p:sp>
        <p:nvSpPr>
          <p:cNvPr id="3" name="">
            <a:extLst xmlns:a="http://schemas.openxmlformats.org/drawingml/2006/main">
              <a:ext uri="{FF2B5EF4-FFF2-40B4-BE49-F238E27FC236}">
                <a16:creationId xmlns:a16="http://schemas.microsoft.com/office/drawing/2014/main" id="{748D09DA-1220-4789-88B5-CCEBF2C97736}"/>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The diagnosis and consent decision routes authorisation, refusal, or follow-up correspondence.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7205796131f4106"/>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3423848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F1ADF2-35EC-48A3-85F1-89628824A3ED}"/>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05  Treatment &amp; External Services</a:t>
            </a:r>
          </a:p>
        </p:txBody>
      </p:sp>
      <p:sp>
        <p:nvSpPr>
          <p:cNvPr id="2" name="">
            <a:extLst xmlns:a="http://schemas.openxmlformats.org/drawingml/2006/main">
              <a:ext uri="{FF2B5EF4-FFF2-40B4-BE49-F238E27FC236}">
                <a16:creationId xmlns:a16="http://schemas.microsoft.com/office/drawing/2014/main" id="{B6A8D012-DFB0-43C3-8701-B916B41DD146}"/>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7 / 22</a:t>
            </a:r>
          </a:p>
        </p:txBody>
      </p:sp>
      <p:sp>
        <p:nvSpPr>
          <p:cNvPr id="3" name="">
            <a:extLst xmlns:a="http://schemas.openxmlformats.org/drawingml/2006/main">
              <a:ext uri="{FF2B5EF4-FFF2-40B4-BE49-F238E27FC236}">
                <a16:creationId xmlns:a16="http://schemas.microsoft.com/office/drawing/2014/main" id="{0723750D-D51E-4AF2-ADDA-9C10B3098F62}"/>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Treatment booking depends on clinical approval, funding, and external service availability.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58c38fe048c47a1"/>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3482186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95EA4D-299D-4A53-BD9E-028868BF0079}"/>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06  Funding Method Verification</a:t>
            </a:r>
          </a:p>
        </p:txBody>
      </p:sp>
      <p:sp>
        <p:nvSpPr>
          <p:cNvPr id="2" name="">
            <a:extLst xmlns:a="http://schemas.openxmlformats.org/drawingml/2006/main">
              <a:ext uri="{FF2B5EF4-FFF2-40B4-BE49-F238E27FC236}">
                <a16:creationId xmlns:a16="http://schemas.microsoft.com/office/drawing/2014/main" id="{FB2C0E5E-8ECB-4546-9CDF-FB2D7F323C85}"/>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8 / 22</a:t>
            </a:r>
          </a:p>
        </p:txBody>
      </p:sp>
      <p:sp>
        <p:nvSpPr>
          <p:cNvPr id="3" name="">
            <a:extLst xmlns:a="http://schemas.openxmlformats.org/drawingml/2006/main">
              <a:ext uri="{FF2B5EF4-FFF2-40B4-BE49-F238E27FC236}">
                <a16:creationId xmlns:a16="http://schemas.microsoft.com/office/drawing/2014/main" id="{8172B14F-6500-4A74-BBE9-9ABBE83646C8}"/>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The finance path classifies payer and funding source, requests authorisation, and records limits.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bf438c742f64cfc"/>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300787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5FDAA8-DFFA-4B95-BC2A-B9DE4A33151D}"/>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07  Payment Result Handling</a:t>
            </a:r>
          </a:p>
        </p:txBody>
      </p:sp>
      <p:sp>
        <p:nvSpPr>
          <p:cNvPr id="2" name="">
            <a:extLst xmlns:a="http://schemas.openxmlformats.org/drawingml/2006/main">
              <a:ext uri="{FF2B5EF4-FFF2-40B4-BE49-F238E27FC236}">
                <a16:creationId xmlns:a16="http://schemas.microsoft.com/office/drawing/2014/main" id="{4484EAE4-819F-4FE4-98F5-ABE7A4173461}"/>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9 / 22</a:t>
            </a:r>
          </a:p>
        </p:txBody>
      </p:sp>
      <p:sp>
        <p:nvSpPr>
          <p:cNvPr id="3" name="">
            <a:extLst xmlns:a="http://schemas.openxmlformats.org/drawingml/2006/main">
              <a:ext uri="{FF2B5EF4-FFF2-40B4-BE49-F238E27FC236}">
                <a16:creationId xmlns:a16="http://schemas.microsoft.com/office/drawing/2014/main" id="{FFCA469C-52DF-4BD4-9F64-15ECC6EF7C42}"/>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Provider payment responses are checked, reconciled, and returned to the treatment booking path.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b72fbf695eb4c9d"/>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2533185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C55C74-3810-4C46-9A01-3EE4FD914704}"/>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08  Treatment Continuation Review</a:t>
            </a:r>
          </a:p>
        </p:txBody>
      </p:sp>
      <p:sp>
        <p:nvSpPr>
          <p:cNvPr id="2" name="">
            <a:extLst xmlns:a="http://schemas.openxmlformats.org/drawingml/2006/main">
              <a:ext uri="{FF2B5EF4-FFF2-40B4-BE49-F238E27FC236}">
                <a16:creationId xmlns:a16="http://schemas.microsoft.com/office/drawing/2014/main" id="{D6FF145B-6C25-4547-B4D8-A184488BA58E}"/>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10 / 22</a:t>
            </a:r>
          </a:p>
        </p:txBody>
      </p:sp>
      <p:sp>
        <p:nvSpPr>
          <p:cNvPr id="3" name="">
            <a:extLst xmlns:a="http://schemas.openxmlformats.org/drawingml/2006/main">
              <a:ext uri="{FF2B5EF4-FFF2-40B4-BE49-F238E27FC236}">
                <a16:creationId xmlns:a16="http://schemas.microsoft.com/office/drawing/2014/main" id="{A6A47712-F2C3-4666-B6A4-978FC49508FC}"/>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The clinical decision continues treatment, changes the plan, delays review, or starts a refund path.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5397ae3a5244dcd"/>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7531570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0C83CF-2006-4E83-BA5D-25DC81A8B602}"/>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09  Treatment Plan Changes</a:t>
            </a:r>
          </a:p>
        </p:txBody>
      </p:sp>
      <p:sp>
        <p:nvSpPr>
          <p:cNvPr id="2" name="">
            <a:extLst xmlns:a="http://schemas.openxmlformats.org/drawingml/2006/main">
              <a:ext uri="{FF2B5EF4-FFF2-40B4-BE49-F238E27FC236}">
                <a16:creationId xmlns:a16="http://schemas.microsoft.com/office/drawing/2014/main" id="{D7EC41D9-9B51-437F-A4F4-04A95C49B125}"/>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11 / 22</a:t>
            </a:r>
          </a:p>
        </p:txBody>
      </p:sp>
      <p:sp>
        <p:nvSpPr>
          <p:cNvPr id="3" name="">
            <a:extLst xmlns:a="http://schemas.openxmlformats.org/drawingml/2006/main">
              <a:ext uri="{FF2B5EF4-FFF2-40B4-BE49-F238E27FC236}">
                <a16:creationId xmlns:a16="http://schemas.microsoft.com/office/drawing/2014/main" id="{265E0A04-FEF7-4027-9668-2CF83E455DA5}"/>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Clinical approval and funding checks control changes to an existing treatment plan.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82a68d9d16f4b80"/>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1251018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8382F8-5640-437E-A275-1EBFB759E492}"/>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10  Cancellations, Rejections &amp; No-Shows</a:t>
            </a:r>
          </a:p>
        </p:txBody>
      </p:sp>
      <p:sp>
        <p:nvSpPr>
          <p:cNvPr id="2" name="">
            <a:extLst xmlns:a="http://schemas.openxmlformats.org/drawingml/2006/main">
              <a:ext uri="{FF2B5EF4-FFF2-40B4-BE49-F238E27FC236}">
                <a16:creationId xmlns:a16="http://schemas.microsoft.com/office/drawing/2014/main" id="{E2771605-EFDC-45F3-B38A-49DE9006A4A6}"/>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12 / 22</a:t>
            </a:r>
          </a:p>
        </p:txBody>
      </p:sp>
      <p:sp>
        <p:nvSpPr>
          <p:cNvPr id="3" name="">
            <a:extLst xmlns:a="http://schemas.openxmlformats.org/drawingml/2006/main">
              <a:ext uri="{FF2B5EF4-FFF2-40B4-BE49-F238E27FC236}">
                <a16:creationId xmlns:a16="http://schemas.microsoft.com/office/drawing/2014/main" id="{5CEB36EA-32CB-4B1D-A4B7-4765E7B8075F}"/>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Cancellation and attendance events update the booking and trigger any required follow-up.</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4e50d41074f4b9c"/>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3193561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E31312-7430-43CD-92AE-22CE71D850D7}"/>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11  Refunds &amp; Fund Transfers</a:t>
            </a:r>
          </a:p>
        </p:txBody>
      </p:sp>
      <p:sp>
        <p:nvSpPr>
          <p:cNvPr id="2" name="">
            <a:extLst xmlns:a="http://schemas.openxmlformats.org/drawingml/2006/main">
              <a:ext uri="{FF2B5EF4-FFF2-40B4-BE49-F238E27FC236}">
                <a16:creationId xmlns:a16="http://schemas.microsoft.com/office/drawing/2014/main" id="{827C3EC1-550E-4346-91BC-6EF39E176707}"/>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13 / 22</a:t>
            </a:r>
          </a:p>
        </p:txBody>
      </p:sp>
      <p:sp>
        <p:nvSpPr>
          <p:cNvPr id="3" name="">
            <a:extLst xmlns:a="http://schemas.openxmlformats.org/drawingml/2006/main">
              <a:ext uri="{FF2B5EF4-FFF2-40B4-BE49-F238E27FC236}">
                <a16:creationId xmlns:a16="http://schemas.microsoft.com/office/drawing/2014/main" id="{E9640C95-FF18-4675-8B2A-08C1890287A5}"/>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Finance reviews refund eligibility, submits approved refunds, and records the final outcome.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2a66211e008424f"/>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6250775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566EF4-FCAA-4BB1-A5B1-E264F9F97035}"/>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12  Patient Inquiries</a:t>
            </a:r>
          </a:p>
        </p:txBody>
      </p:sp>
      <p:sp>
        <p:nvSpPr>
          <p:cNvPr id="2" name="">
            <a:extLst xmlns:a="http://schemas.openxmlformats.org/drawingml/2006/main">
              <a:ext uri="{FF2B5EF4-FFF2-40B4-BE49-F238E27FC236}">
                <a16:creationId xmlns:a16="http://schemas.microsoft.com/office/drawing/2014/main" id="{989E9C27-CB5D-4682-8506-A3DDD215A509}"/>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14 / 22</a:t>
            </a:r>
          </a:p>
        </p:txBody>
      </p:sp>
      <p:sp>
        <p:nvSpPr>
          <p:cNvPr id="3" name="">
            <a:extLst xmlns:a="http://schemas.openxmlformats.org/drawingml/2006/main">
              <a:ext uri="{FF2B5EF4-FFF2-40B4-BE49-F238E27FC236}">
                <a16:creationId xmlns:a16="http://schemas.microsoft.com/office/drawing/2014/main" id="{2AE392CD-B139-4787-B8D7-B5FA37603EA1}"/>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Inquiry intake, classification, and routing connect clinical, administrative, and finance teams.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8d223fc85db43a4"/>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8636274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4A75F3-D90D-4957-B2FB-5666EF6D4DD3}"/>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13  Medical Correspondence</a:t>
            </a:r>
          </a:p>
        </p:txBody>
      </p:sp>
      <p:sp>
        <p:nvSpPr>
          <p:cNvPr id="2" name="">
            <a:extLst xmlns:a="http://schemas.openxmlformats.org/drawingml/2006/main">
              <a:ext uri="{FF2B5EF4-FFF2-40B4-BE49-F238E27FC236}">
                <a16:creationId xmlns:a16="http://schemas.microsoft.com/office/drawing/2014/main" id="{CE003779-E90E-4611-ADC2-73BB87435B27}"/>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15 / 22</a:t>
            </a:r>
          </a:p>
        </p:txBody>
      </p:sp>
      <p:sp>
        <p:nvSpPr>
          <p:cNvPr id="3" name="">
            <a:extLst xmlns:a="http://schemas.openxmlformats.org/drawingml/2006/main">
              <a:ext uri="{FF2B5EF4-FFF2-40B4-BE49-F238E27FC236}">
                <a16:creationId xmlns:a16="http://schemas.microsoft.com/office/drawing/2014/main" id="{EBCF9905-F18B-4E77-9030-0B94D49FAFBA}"/>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Clinic letters are reviewed, issued, and tracked across the relevant pathway teams.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a5a2a2bd804472a"/>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271823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54B33B-70CB-433D-90AD-B10308B238E9}"/>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14  Follow-up Booking</a:t>
            </a:r>
          </a:p>
        </p:txBody>
      </p:sp>
      <p:sp>
        <p:nvSpPr>
          <p:cNvPr id="2" name="">
            <a:extLst xmlns:a="http://schemas.openxmlformats.org/drawingml/2006/main">
              <a:ext uri="{FF2B5EF4-FFF2-40B4-BE49-F238E27FC236}">
                <a16:creationId xmlns:a16="http://schemas.microsoft.com/office/drawing/2014/main" id="{69FBFAC7-4F6D-4F63-B3A0-546E08BC842D}"/>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16 / 22</a:t>
            </a:r>
          </a:p>
        </p:txBody>
      </p:sp>
      <p:sp>
        <p:nvSpPr>
          <p:cNvPr id="3" name="">
            <a:extLst xmlns:a="http://schemas.openxmlformats.org/drawingml/2006/main">
              <a:ext uri="{FF2B5EF4-FFF2-40B4-BE49-F238E27FC236}">
                <a16:creationId xmlns:a16="http://schemas.microsoft.com/office/drawing/2014/main" id="{65A38884-DECC-4802-A3F4-7C48B4CA005E}"/>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The booking team requests an eligible slot, confirms the appointment, and notifies the patient.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c08ce2374bc4ddf"/>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0163139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872643-6445-4FB4-A9D8-6079D1BED554}"/>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15  Process Monitoring &amp; Reports</a:t>
            </a:r>
          </a:p>
        </p:txBody>
      </p:sp>
      <p:sp>
        <p:nvSpPr>
          <p:cNvPr id="2" name="">
            <a:extLst xmlns:a="http://schemas.openxmlformats.org/drawingml/2006/main">
              <a:ext uri="{FF2B5EF4-FFF2-40B4-BE49-F238E27FC236}">
                <a16:creationId xmlns:a16="http://schemas.microsoft.com/office/drawing/2014/main" id="{89F447E0-0FC7-418F-9496-BE0CB3C25CF9}"/>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17 / 22</a:t>
            </a:r>
          </a:p>
        </p:txBody>
      </p:sp>
      <p:sp>
        <p:nvSpPr>
          <p:cNvPr id="3" name="">
            <a:extLst xmlns:a="http://schemas.openxmlformats.org/drawingml/2006/main">
              <a:ext uri="{FF2B5EF4-FFF2-40B4-BE49-F238E27FC236}">
                <a16:creationId xmlns:a16="http://schemas.microsoft.com/office/drawing/2014/main" id="{B95263F2-47A6-45E7-8CD4-E9F7C695BCB5}"/>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Operational workers update monitoring records and publish role-restricted reports.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0458f9e004b45bf"/>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17148548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3941C2-0CDF-4051-9870-1245C018642D}"/>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16  Identity, Access &amp; System Downtime</a:t>
            </a:r>
          </a:p>
        </p:txBody>
      </p:sp>
      <p:sp>
        <p:nvSpPr>
          <p:cNvPr id="2" name="">
            <a:extLst xmlns:a="http://schemas.openxmlformats.org/drawingml/2006/main">
              <a:ext uri="{FF2B5EF4-FFF2-40B4-BE49-F238E27FC236}">
                <a16:creationId xmlns:a16="http://schemas.microsoft.com/office/drawing/2014/main" id="{C0D35785-EDF4-4BDC-B0CA-8AA9410107EA}"/>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18 / 22</a:t>
            </a:r>
          </a:p>
        </p:txBody>
      </p:sp>
      <p:sp>
        <p:nvSpPr>
          <p:cNvPr id="3" name="">
            <a:extLst xmlns:a="http://schemas.openxmlformats.org/drawingml/2006/main">
              <a:ext uri="{FF2B5EF4-FFF2-40B4-BE49-F238E27FC236}">
                <a16:creationId xmlns:a16="http://schemas.microsoft.com/office/drawing/2014/main" id="{A7A07F0B-8295-41F5-949C-D9FEA9C9F9BE}"/>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Role-based access decisions and downtime recovery are recorded in the audit trail.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860fe6e40834dec"/>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3488413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383154-A8DD-4FE9-90AF-FD106DC401B7}"/>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17  Appointment Changes &amp; Conflicts</a:t>
            </a:r>
          </a:p>
        </p:txBody>
      </p:sp>
      <p:sp>
        <p:nvSpPr>
          <p:cNvPr id="2" name="">
            <a:extLst xmlns:a="http://schemas.openxmlformats.org/drawingml/2006/main">
              <a:ext uri="{FF2B5EF4-FFF2-40B4-BE49-F238E27FC236}">
                <a16:creationId xmlns:a16="http://schemas.microsoft.com/office/drawing/2014/main" id="{97E3B723-10B5-4D08-9ABC-F84C3858F08D}"/>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19 / 22</a:t>
            </a:r>
          </a:p>
        </p:txBody>
      </p:sp>
      <p:sp>
        <p:nvSpPr>
          <p:cNvPr id="3" name="">
            <a:extLst xmlns:a="http://schemas.openxmlformats.org/drawingml/2006/main">
              <a:ext uri="{FF2B5EF4-FFF2-40B4-BE49-F238E27FC236}">
                <a16:creationId xmlns:a16="http://schemas.microsoft.com/office/drawing/2014/main" id="{BD16F5F2-4183-42F3-B582-6D3994EE8754}"/>
              </a:ext>
            </a:extLst>
          </p:cNvPr>
          <p:cNvSpPr>
            <a:spLocks xmlns:a="http://schemas.openxmlformats.org/drawingml/2006/main" noGrp="1"/>
          </p:cNvSpPr>
          <p:nvPr/>
        </p:nvSpPr>
        <p:spPr>
          <a:xfrm xmlns:a="http://schemas.openxmlformats.org/drawingml/2006/main">
            <a:off x="704850" y="10001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Clinical and operational constraints are checked; unresolved scheduling conflicts are escalated.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f78fd6f71004525"/>
          <a:stretch xmlns:a="http://schemas.openxmlformats.org/drawingml/2006/main"/>
        </p:blipFill>
        <p:spPr>
          <a:xfrm xmlns:a="http://schemas.openxmlformats.org/drawingml/2006/main">
            <a:off x="1262158" y="1333500"/>
            <a:ext cx="9667684" cy="4953000"/>
          </a:xfrm>
          <a:prstGeom xmlns:a="http://schemas.openxmlformats.org/drawingml/2006/main" prst="rect">
            <a:avLst/>
          </a:prstGeom>
        </p:spPr>
      </p:pic>
    </p:spTree>
    <p:extLst>
      <p:ext uri="{BB962C8B-B14F-4D97-AF65-F5344CB8AC3E}">
        <p14:creationId xmlns:p14="http://schemas.microsoft.com/office/powerpoint/2010/main" val="4917698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8180D6-9C63-4177-AE2B-09E68D71F48C}"/>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Automated Test Evidence</a:t>
            </a:r>
          </a:p>
        </p:txBody>
      </p:sp>
      <p:sp>
        <p:nvSpPr>
          <p:cNvPr id="2" name="">
            <a:extLst xmlns:a="http://schemas.openxmlformats.org/drawingml/2006/main">
              <a:ext uri="{FF2B5EF4-FFF2-40B4-BE49-F238E27FC236}">
                <a16:creationId xmlns:a16="http://schemas.microsoft.com/office/drawing/2014/main" id="{A2E6B7B0-D508-41D4-9724-0BD6D896D502}"/>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20 / 22</a:t>
            </a:r>
          </a:p>
        </p:txBody>
      </p:sp>
      <p:sp>
        <p:nvSpPr>
          <p:cNvPr id="3" name="">
            <a:extLst xmlns:a="http://schemas.openxmlformats.org/drawingml/2006/main">
              <a:ext uri="{FF2B5EF4-FFF2-40B4-BE49-F238E27FC236}">
                <a16:creationId xmlns:a16="http://schemas.microsoft.com/office/drawing/2014/main" id="{7E3FBB9B-BB46-4841-9608-8C0FAD11F98F}"/>
              </a:ext>
            </a:extLst>
          </p:cNvPr>
          <p:cNvSpPr>
            <a:spLocks xmlns:a="http://schemas.openxmlformats.org/drawingml/2006/main" noGrp="1"/>
          </p:cNvSpPr>
          <p:nvPr/>
        </p:nvSpPr>
        <p:spPr>
          <a:xfrm xmlns:a="http://schemas.openxmlformats.org/drawingml/2006/main">
            <a:off x="742950" y="1085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132B42"/>
                </a:solidFill>
                <a:latin typeface="Microsoft YaHei"/>
                <a:ea typeface="Microsoft YaHei"/>
                <a:cs typeface="Microsoft YaHei"/>
              </a:defRPr>
            </a:pPr>
            <a:r>
              <a:rPr sz="1800" b="1">
                <a:solidFill>
                  <a:srgbClr val="132B42"/>
                </a:solidFill>
                <a:latin typeface="Microsoft YaHei"/>
                <a:ea typeface="Microsoft YaHei"/>
                <a:cs typeface="Microsoft YaHei"/>
              </a:rPr>
              <a:t>26 passing test cases across five supplied IDE run summaries</a:t>
            </a:r>
          </a:p>
        </p:txBody>
      </p:sp>
      <p:graphicFrame>
        <p:nvGraphicFramePr>
          <p:cNvPr id="10" name=""/>
          <p:cNvGraphicFramePr/>
          <p:nvPr/>
        </p:nvGraphicFramePr>
        <p:xfrm>
          <a:off xmlns:a="http://schemas.openxmlformats.org/drawingml/2006/main" x="742950" y="1685925"/>
          <a:ext xmlns:a="http://schemas.openxmlformats.org/drawingml/2006/main" cx="10706100" cy="3543300"/>
        </p:xfrm>
        <a:graphic xmlns:a="http://schemas.openxmlformats.org/drawingml/2006/main">
          <a:graphicData uri="http://schemas.openxmlformats.org/drawingml/2006/table">
            <a:tbl>
              <a:tblPr firstRow="0" bandRow="0"/>
              <a:tblGrid>
                <a:gridCol w="3095625"/>
                <a:gridCol w="5857875"/>
                <a:gridCol w="1752600"/>
              </a:tblGrid>
              <a:tr h="533400">
                <a:tc>
                  <a:txBody>
                    <a:bodyPr>
                      <a:normAutofit/>
                    </a:bodyPr>
                    <a:lstStyle/>
                    <a:p>
                      <a:pPr algn="l"/>
                      <a:r>
                        <a:rPr sz="1425" b="1">
                          <a:solidFill>
                            <a:srgbClr val="FFFFFF"/>
                          </a:solidFill>
                          <a:latin typeface="Microsoft YaHei"/>
                          <a:ea typeface="Microsoft YaHei"/>
                          <a:cs typeface="Microsoft YaHei"/>
                        </a:rPr>
                        <a:t>Test suite</a:t>
                      </a:r>
                    </a:p>
                  </a:txBody>
                  <a:tcPr marL="91440" marR="91440" marT="45720" marB="45720">
                    <a:solidFill>
                      <a:srgbClr val="132B42"/>
                    </a:solidFill>
                  </a:tcPr>
                </a:tc>
                <a:tc>
                  <a:txBody>
                    <a:bodyPr>
                      <a:normAutofit/>
                    </a:bodyPr>
                    <a:lstStyle/>
                    <a:p>
                      <a:pPr algn="l"/>
                      <a:r>
                        <a:rPr sz="1425" b="1">
                          <a:solidFill>
                            <a:srgbClr val="FFFFFF"/>
                          </a:solidFill>
                          <a:latin typeface="Microsoft YaHei"/>
                          <a:ea typeface="Microsoft YaHei"/>
                          <a:cs typeface="Microsoft YaHei"/>
                        </a:rPr>
                        <a:t>Coverage shown in the run</a:t>
                      </a:r>
                    </a:p>
                  </a:txBody>
                  <a:tcPr marL="91440" marR="91440" marT="45720" marB="45720">
                    <a:solidFill>
                      <a:srgbClr val="132B42"/>
                    </a:solidFill>
                  </a:tcPr>
                </a:tc>
                <a:tc>
                  <a:txBody>
                    <a:bodyPr>
                      <a:normAutofit/>
                    </a:bodyPr>
                    <a:lstStyle/>
                    <a:p>
                      <a:pPr algn="ctr"/>
                      <a:r>
                        <a:rPr sz="1425" b="1">
                          <a:solidFill>
                            <a:srgbClr val="FFFFFF"/>
                          </a:solidFill>
                          <a:latin typeface="Microsoft YaHei"/>
                          <a:ea typeface="Microsoft YaHei"/>
                          <a:cs typeface="Microsoft YaHei"/>
                        </a:rPr>
                        <a:t>Passed</a:t>
                      </a:r>
                    </a:p>
                  </a:txBody>
                  <a:tcPr marL="91440" marR="91440" marT="45720" marB="45720">
                    <a:solidFill>
                      <a:srgbClr val="132B42"/>
                    </a:solidFill>
                  </a:tcPr>
                </a:tc>
              </a:tr>
              <a:tr h="600075">
                <a:tc>
                  <a:txBody>
                    <a:bodyPr>
                      <a:normAutofit/>
                    </a:bodyPr>
                    <a:lstStyle/>
                    <a:p>
                      <a:pPr algn="l"/>
                      <a:r>
                        <a:rPr sz="1425" b="0">
                          <a:solidFill>
                            <a:srgbClr val="182F46"/>
                          </a:solidFill>
                          <a:latin typeface="Microsoft YaHei"/>
                          <a:ea typeface="Microsoft YaHei"/>
                          <a:cs typeface="Microsoft YaHei"/>
                        </a:rPr>
                        <a:t>BPMN model coverage</a:t>
                      </a:r>
                    </a:p>
                  </a:txBody>
                  <a:tcPr marL="91440" marR="91440" marT="45720" marB="45720">
                    <a:solidFill>
                      <a:srgbClr val="FFFFFF"/>
                    </a:solidFill>
                  </a:tcPr>
                </a:tc>
                <a:tc>
                  <a:txBody>
                    <a:bodyPr>
                      <a:normAutofit/>
                    </a:bodyPr>
                    <a:lstStyle/>
                    <a:p>
                      <a:pPr algn="l"/>
                      <a:r>
                        <a:rPr sz="1425" b="0">
                          <a:solidFill>
                            <a:srgbClr val="182F46"/>
                          </a:solidFill>
                          <a:latin typeface="Microsoft YaHei"/>
                          <a:ea typeface="Microsoft YaHei"/>
                          <a:cs typeface="Microsoft YaHei"/>
                        </a:rPr>
                        <a:t>Tasks, workers, messages, correlation keys, forms</a:t>
                      </a:r>
                    </a:p>
                  </a:txBody>
                  <a:tcPr marL="91440" marR="91440" marT="45720" marB="45720">
                    <a:solidFill>
                      <a:srgbClr val="FFFFFF"/>
                    </a:solidFill>
                  </a:tcPr>
                </a:tc>
                <a:tc>
                  <a:txBody>
                    <a:bodyPr>
                      <a:normAutofit/>
                    </a:bodyPr>
                    <a:lstStyle/>
                    <a:p>
                      <a:pPr algn="ctr"/>
                      <a:r>
                        <a:rPr sz="1425" b="1">
                          <a:solidFill>
                            <a:srgbClr val="2D8A68"/>
                          </a:solidFill>
                          <a:latin typeface="Microsoft YaHei"/>
                          <a:ea typeface="Microsoft YaHei"/>
                          <a:cs typeface="Microsoft YaHei"/>
                        </a:rPr>
                        <a:t>7 / 7</a:t>
                      </a:r>
                    </a:p>
                  </a:txBody>
                  <a:tcPr marL="91440" marR="91440" marT="45720" marB="45720">
                    <a:solidFill>
                      <a:srgbClr val="FFFFFF"/>
                    </a:solidFill>
                  </a:tcPr>
                </a:tc>
              </a:tr>
              <a:tr h="600075">
                <a:tc>
                  <a:txBody>
                    <a:bodyPr>
                      <a:normAutofit/>
                    </a:bodyPr>
                    <a:lstStyle/>
                    <a:p>
                      <a:pPr algn="l"/>
                      <a:r>
                        <a:rPr sz="1425" b="0">
                          <a:solidFill>
                            <a:srgbClr val="182F46"/>
                          </a:solidFill>
                          <a:latin typeface="Microsoft YaHei"/>
                          <a:ea typeface="Microsoft YaHei"/>
                          <a:cs typeface="Microsoft YaHei"/>
                        </a:rPr>
                        <a:t>Hospital database</a:t>
                      </a:r>
                    </a:p>
                  </a:txBody>
                  <a:tcPr marL="91440" marR="91440" marT="45720" marB="45720">
                    <a:solidFill>
                      <a:srgbClr val="F4F7F9"/>
                    </a:solidFill>
                  </a:tcPr>
                </a:tc>
                <a:tc>
                  <a:txBody>
                    <a:bodyPr>
                      <a:normAutofit/>
                    </a:bodyPr>
                    <a:lstStyle/>
                    <a:p>
                      <a:pPr algn="l"/>
                      <a:r>
                        <a:rPr sz="1425" b="0">
                          <a:solidFill>
                            <a:srgbClr val="182F46"/>
                          </a:solidFill>
                          <a:latin typeface="Microsoft YaHei"/>
                          <a:ea typeface="Microsoft YaHei"/>
                          <a:cs typeface="Microsoft YaHei"/>
                        </a:rPr>
                        <a:t>H2 database and repository persistence</a:t>
                      </a:r>
                    </a:p>
                  </a:txBody>
                  <a:tcPr marL="91440" marR="91440" marT="45720" marB="45720">
                    <a:solidFill>
                      <a:srgbClr val="F4F7F9"/>
                    </a:solidFill>
                  </a:tcPr>
                </a:tc>
                <a:tc>
                  <a:txBody>
                    <a:bodyPr>
                      <a:normAutofit/>
                    </a:bodyPr>
                    <a:lstStyle/>
                    <a:p>
                      <a:pPr algn="ctr"/>
                      <a:r>
                        <a:rPr sz="1425" b="1">
                          <a:solidFill>
                            <a:srgbClr val="2D8A68"/>
                          </a:solidFill>
                          <a:latin typeface="Microsoft YaHei"/>
                          <a:ea typeface="Microsoft YaHei"/>
                          <a:cs typeface="Microsoft YaHei"/>
                        </a:rPr>
                        <a:t>7 / 7</a:t>
                      </a:r>
                    </a:p>
                  </a:txBody>
                  <a:tcPr marL="91440" marR="91440" marT="45720" marB="45720">
                    <a:solidFill>
                      <a:srgbClr val="F4F7F9"/>
                    </a:solidFill>
                  </a:tcPr>
                </a:tc>
              </a:tr>
              <a:tr h="600075">
                <a:tc>
                  <a:txBody>
                    <a:bodyPr>
                      <a:normAutofit/>
                    </a:bodyPr>
                    <a:lstStyle/>
                    <a:p>
                      <a:pPr algn="l"/>
                      <a:r>
                        <a:rPr sz="1425" b="0">
                          <a:solidFill>
                            <a:srgbClr val="182F46"/>
                          </a:solidFill>
                          <a:latin typeface="Microsoft YaHei"/>
                          <a:ea typeface="Microsoft YaHei"/>
                          <a:cs typeface="Microsoft YaHei"/>
                        </a:rPr>
                        <a:t>Worker persistence</a:t>
                      </a:r>
                    </a:p>
                  </a:txBody>
                  <a:tcPr marL="91440" marR="91440" marT="45720" marB="45720">
                    <a:solidFill>
                      <a:srgbClr val="FFFFFF"/>
                    </a:solidFill>
                  </a:tcPr>
                </a:tc>
                <a:tc>
                  <a:txBody>
                    <a:bodyPr>
                      <a:normAutofit/>
                    </a:bodyPr>
                    <a:lstStyle/>
                    <a:p>
                      <a:pPr algn="l"/>
                      <a:r>
                        <a:rPr sz="1425" b="0">
                          <a:solidFill>
                            <a:srgbClr val="182F46"/>
                          </a:solidFill>
                          <a:latin typeface="Microsoft YaHei"/>
                          <a:ea typeface="Microsoft YaHei"/>
                          <a:cs typeface="Microsoft YaHei"/>
                        </a:rPr>
                        <a:t>Worker writes and persisted state</a:t>
                      </a:r>
                    </a:p>
                  </a:txBody>
                  <a:tcPr marL="91440" marR="91440" marT="45720" marB="45720">
                    <a:solidFill>
                      <a:srgbClr val="FFFFFF"/>
                    </a:solidFill>
                  </a:tcPr>
                </a:tc>
                <a:tc>
                  <a:txBody>
                    <a:bodyPr>
                      <a:normAutofit/>
                    </a:bodyPr>
                    <a:lstStyle/>
                    <a:p>
                      <a:pPr algn="ctr"/>
                      <a:r>
                        <a:rPr sz="1425" b="1">
                          <a:solidFill>
                            <a:srgbClr val="2D8A68"/>
                          </a:solidFill>
                          <a:latin typeface="Microsoft YaHei"/>
                          <a:ea typeface="Microsoft YaHei"/>
                          <a:cs typeface="Microsoft YaHei"/>
                        </a:rPr>
                        <a:t>6 / 6</a:t>
                      </a:r>
                    </a:p>
                  </a:txBody>
                  <a:tcPr marL="91440" marR="91440" marT="45720" marB="45720">
                    <a:solidFill>
                      <a:srgbClr val="FFFFFF"/>
                    </a:solidFill>
                  </a:tcPr>
                </a:tc>
              </a:tr>
              <a:tr h="600075">
                <a:tc>
                  <a:txBody>
                    <a:bodyPr>
                      <a:normAutofit/>
                    </a:bodyPr>
                    <a:lstStyle/>
                    <a:p>
                      <a:pPr algn="l"/>
                      <a:r>
                        <a:rPr sz="1425" b="0">
                          <a:solidFill>
                            <a:srgbClr val="182F46"/>
                          </a:solidFill>
                          <a:latin typeface="Microsoft YaHei"/>
                          <a:ea typeface="Microsoft YaHei"/>
                          <a:cs typeface="Microsoft YaHei"/>
                        </a:rPr>
                        <a:t>Corridor message audit</a:t>
                      </a:r>
                    </a:p>
                  </a:txBody>
                  <a:tcPr marL="91440" marR="91440" marT="45720" marB="45720">
                    <a:solidFill>
                      <a:srgbClr val="F4F7F9"/>
                    </a:solidFill>
                  </a:tcPr>
                </a:tc>
                <a:tc>
                  <a:txBody>
                    <a:bodyPr>
                      <a:normAutofit/>
                    </a:bodyPr>
                    <a:lstStyle/>
                    <a:p>
                      <a:pPr algn="l"/>
                      <a:r>
                        <a:rPr sz="1425" b="0">
                          <a:solidFill>
                            <a:srgbClr val="182F46"/>
                          </a:solidFill>
                          <a:latin typeface="Microsoft YaHei"/>
                          <a:ea typeface="Microsoft YaHei"/>
                          <a:cs typeface="Microsoft YaHei"/>
                        </a:rPr>
                        <a:t>Message publication and audit records</a:t>
                      </a:r>
                    </a:p>
                  </a:txBody>
                  <a:tcPr marL="91440" marR="91440" marT="45720" marB="45720">
                    <a:solidFill>
                      <a:srgbClr val="F4F7F9"/>
                    </a:solidFill>
                  </a:tcPr>
                </a:tc>
                <a:tc>
                  <a:txBody>
                    <a:bodyPr>
                      <a:normAutofit/>
                    </a:bodyPr>
                    <a:lstStyle/>
                    <a:p>
                      <a:pPr algn="ctr"/>
                      <a:r>
                        <a:rPr sz="1425" b="1">
                          <a:solidFill>
                            <a:srgbClr val="2D8A68"/>
                          </a:solidFill>
                          <a:latin typeface="Microsoft YaHei"/>
                          <a:ea typeface="Microsoft YaHei"/>
                          <a:cs typeface="Microsoft YaHei"/>
                        </a:rPr>
                        <a:t>2 / 2</a:t>
                      </a:r>
                    </a:p>
                  </a:txBody>
                  <a:tcPr marL="91440" marR="91440" marT="45720" marB="45720">
                    <a:solidFill>
                      <a:srgbClr val="F4F7F9"/>
                    </a:solidFill>
                  </a:tcPr>
                </a:tc>
              </a:tr>
              <a:tr h="600075">
                <a:tc>
                  <a:txBody>
                    <a:bodyPr>
                      <a:normAutofit/>
                    </a:bodyPr>
                    <a:lstStyle/>
                    <a:p>
                      <a:pPr algn="l"/>
                      <a:r>
                        <a:rPr sz="1425" b="0">
                          <a:solidFill>
                            <a:srgbClr val="182F46"/>
                          </a:solidFill>
                          <a:latin typeface="Microsoft YaHei"/>
                          <a:ea typeface="Microsoft YaHei"/>
                          <a:cs typeface="Microsoft YaHei"/>
                        </a:rPr>
                        <a:t>Hospital pathway integration</a:t>
                      </a:r>
                    </a:p>
                  </a:txBody>
                  <a:tcPr marL="91440" marR="91440" marT="45720" marB="45720">
                    <a:solidFill>
                      <a:srgbClr val="FFFFFF"/>
                    </a:solidFill>
                  </a:tcPr>
                </a:tc>
                <a:tc>
                  <a:txBody>
                    <a:bodyPr>
                      <a:normAutofit/>
                    </a:bodyPr>
                    <a:lstStyle/>
                    <a:p>
                      <a:pPr algn="l"/>
                      <a:r>
                        <a:rPr sz="1425" b="0">
                          <a:solidFill>
                            <a:srgbClr val="182F46"/>
                          </a:solidFill>
                          <a:latin typeface="Microsoft YaHei"/>
                          <a:ea typeface="Microsoft YaHei"/>
                          <a:cs typeface="Microsoft YaHei"/>
                        </a:rPr>
                        <a:t>Referral, documents, access, and monitoring paths</a:t>
                      </a:r>
                    </a:p>
                  </a:txBody>
                  <a:tcPr marL="91440" marR="91440" marT="45720" marB="45720">
                    <a:solidFill>
                      <a:srgbClr val="FFFFFF"/>
                    </a:solidFill>
                  </a:tcPr>
                </a:tc>
                <a:tc>
                  <a:txBody>
                    <a:bodyPr>
                      <a:normAutofit/>
                    </a:bodyPr>
                    <a:lstStyle/>
                    <a:p>
                      <a:pPr algn="ctr"/>
                      <a:r>
                        <a:rPr sz="1425" b="1">
                          <a:solidFill>
                            <a:srgbClr val="2D8A68"/>
                          </a:solidFill>
                          <a:latin typeface="Microsoft YaHei"/>
                          <a:ea typeface="Microsoft YaHei"/>
                          <a:cs typeface="Microsoft YaHei"/>
                        </a:rPr>
                        <a:t>4 / 4</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6131BA-CBEA-4256-B7C2-B267F87F885B}"/>
              </a:ext>
            </a:extLst>
          </p:cNvPr>
          <p:cNvSpPr>
            <a:spLocks xmlns:a="http://schemas.openxmlformats.org/drawingml/2006/main" noGrp="1"/>
          </p:cNvSpPr>
          <p:nvPr/>
        </p:nvSpPr>
        <p:spPr>
          <a:xfrm xmlns:a="http://schemas.openxmlformats.org/drawingml/2006/main">
            <a:off x="742950" y="547687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225" b="1">
                <a:solidFill>
                  <a:srgbClr val="168C83"/>
                </a:solidFill>
                <a:latin typeface="Microsoft YaHei"/>
                <a:ea typeface="Microsoft YaHei"/>
                <a:cs typeface="Microsoft YaHei"/>
              </a:defRPr>
            </a:pPr>
            <a:r>
              <a:rPr sz="3225" b="1">
                <a:solidFill>
                  <a:srgbClr val="168C83"/>
                </a:solidFill>
                <a:latin typeface="Microsoft YaHei"/>
                <a:ea typeface="Microsoft YaHei"/>
                <a:cs typeface="Microsoft YaHei"/>
              </a:rPr>
              <a:t>26 / 26</a:t>
            </a:r>
          </a:p>
        </p:txBody>
      </p:sp>
      <p:sp>
        <p:nvSpPr>
          <p:cNvPr id="6" name="">
            <a:extLst xmlns:a="http://schemas.openxmlformats.org/drawingml/2006/main">
              <a:ext uri="{FF2B5EF4-FFF2-40B4-BE49-F238E27FC236}">
                <a16:creationId xmlns:a16="http://schemas.microsoft.com/office/drawing/2014/main" id="{4A189320-2A56-4F0F-86AD-E80F767492F6}"/>
              </a:ext>
            </a:extLst>
          </p:cNvPr>
          <p:cNvSpPr>
            <a:spLocks xmlns:a="http://schemas.openxmlformats.org/drawingml/2006/main" noGrp="1"/>
          </p:cNvSpPr>
          <p:nvPr/>
        </p:nvSpPr>
        <p:spPr>
          <a:xfrm xmlns:a="http://schemas.openxmlformats.org/drawingml/2006/main">
            <a:off x="3124200" y="5619750"/>
            <a:ext cx="802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77B"/>
                </a:solidFill>
                <a:latin typeface="Microsoft YaHei"/>
                <a:ea typeface="Microsoft YaHei"/>
                <a:cs typeface="Microsoft YaHei"/>
              </a:defRPr>
            </a:pPr>
            <a:r>
              <a:rPr sz="1350" b="0">
                <a:solidFill>
                  <a:srgbClr val="52677B"/>
                </a:solidFill>
                <a:latin typeface="Microsoft YaHei"/>
                <a:ea typeface="Microsoft YaHei"/>
                <a:cs typeface="Microsoft YaHei"/>
              </a:rPr>
              <a:t>Counts are taken from the supplied screenshots and do not claim full project-suite coverage.</a:t>
            </a:r>
          </a:p>
        </p:txBody>
      </p:sp>
    </p:spTree>
    <p:extLst>
      <p:ext uri="{BB962C8B-B14F-4D97-AF65-F5344CB8AC3E}">
        <p14:creationId xmlns:p14="http://schemas.microsoft.com/office/powerpoint/2010/main" val="66555631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9930E6-362D-4CA0-8DDE-C09D1C921BB7}"/>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Evidence · Model, Data &amp; Worker Tests</a:t>
            </a:r>
          </a:p>
        </p:txBody>
      </p:sp>
      <p:sp>
        <p:nvSpPr>
          <p:cNvPr id="2" name="">
            <a:extLst xmlns:a="http://schemas.openxmlformats.org/drawingml/2006/main">
              <a:ext uri="{FF2B5EF4-FFF2-40B4-BE49-F238E27FC236}">
                <a16:creationId xmlns:a16="http://schemas.microsoft.com/office/drawing/2014/main" id="{E9F859D6-B8D1-4C3F-A391-F4ADAA9B21B9}"/>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21 / 22</a:t>
            </a:r>
          </a:p>
        </p:txBody>
      </p:sp>
      <p:sp>
        <p:nvSpPr>
          <p:cNvPr id="3" name="">
            <a:extLst xmlns:a="http://schemas.openxmlformats.org/drawingml/2006/main">
              <a:ext uri="{FF2B5EF4-FFF2-40B4-BE49-F238E27FC236}">
                <a16:creationId xmlns:a16="http://schemas.microsoft.com/office/drawing/2014/main" id="{4D7301CD-0B32-4B7B-8C6F-54B5F9F5A264}"/>
              </a:ext>
            </a:extLst>
          </p:cNvPr>
          <p:cNvSpPr>
            <a:spLocks xmlns:a="http://schemas.openxmlformats.org/drawingml/2006/main" noGrp="1"/>
          </p:cNvSpPr>
          <p:nvPr/>
        </p:nvSpPr>
        <p:spPr>
          <a:xfrm xmlns:a="http://schemas.openxmlformats.org/drawingml/2006/main">
            <a:off x="685800" y="1209675"/>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lgn="l">
              <a:defRPr sz="1350" b="1">
                <a:solidFill>
                  <a:srgbClr val="132B42"/>
                </a:solidFill>
                <a:latin typeface="Microsoft YaHei"/>
                <a:ea typeface="Microsoft YaHei"/>
                <a:cs typeface="Microsoft YaHei"/>
              </a:defRPr>
            </a:pPr>
            <a:r>
              <a:rPr sz="1350" b="1">
                <a:solidFill>
                  <a:srgbClr val="132B42"/>
                </a:solidFill>
                <a:latin typeface="Microsoft YaHei"/>
                <a:ea typeface="Microsoft YaHei"/>
                <a:cs typeface="Microsoft YaHei"/>
              </a:rPr>
              <a:t>Hospital database · 7 / 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0208fa23f584a49"/>
          <a:stretch xmlns:a="http://schemas.openxmlformats.org/drawingml/2006/main"/>
        </p:blipFill>
        <p:spPr>
          <a:xfrm xmlns:a="http://schemas.openxmlformats.org/drawingml/2006/main">
            <a:off x="919996" y="1504950"/>
            <a:ext cx="4675107" cy="2266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3DE4E28-31A0-40C5-A688-DA658D7A2CF6}"/>
              </a:ext>
            </a:extLst>
          </p:cNvPr>
          <p:cNvSpPr>
            <a:spLocks xmlns:a="http://schemas.openxmlformats.org/drawingml/2006/main" noGrp="1"/>
          </p:cNvSpPr>
          <p:nvPr/>
        </p:nvSpPr>
        <p:spPr>
          <a:xfrm xmlns:a="http://schemas.openxmlformats.org/drawingml/2006/main">
            <a:off x="6248400" y="1209675"/>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lgn="l">
              <a:defRPr sz="1350" b="1">
                <a:solidFill>
                  <a:srgbClr val="132B42"/>
                </a:solidFill>
                <a:latin typeface="Microsoft YaHei"/>
                <a:ea typeface="Microsoft YaHei"/>
                <a:cs typeface="Microsoft YaHei"/>
              </a:defRPr>
            </a:pPr>
            <a:r>
              <a:rPr sz="1350" b="1">
                <a:solidFill>
                  <a:srgbClr val="132B42"/>
                </a:solidFill>
                <a:latin typeface="Microsoft YaHei"/>
                <a:ea typeface="Microsoft YaHei"/>
                <a:cs typeface="Microsoft YaHei"/>
              </a:rPr>
              <a:t>Corridor message audit · 2 / 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3c6c7fe9ef4080"/>
          <a:stretch xmlns:a="http://schemas.openxmlformats.org/drawingml/2006/main"/>
        </p:blipFill>
        <p:spPr>
          <a:xfrm xmlns:a="http://schemas.openxmlformats.org/drawingml/2006/main">
            <a:off x="6445616" y="1504950"/>
            <a:ext cx="4749068" cy="2266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72FCAC-E484-4AEA-9A57-0733AEA9D2B9}"/>
              </a:ext>
            </a:extLst>
          </p:cNvPr>
          <p:cNvSpPr>
            <a:spLocks xmlns:a="http://schemas.openxmlformats.org/drawingml/2006/main" noGrp="1"/>
          </p:cNvSpPr>
          <p:nvPr/>
        </p:nvSpPr>
        <p:spPr>
          <a:xfrm xmlns:a="http://schemas.openxmlformats.org/drawingml/2006/main">
            <a:off x="685800" y="3876675"/>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lgn="l">
              <a:defRPr sz="1350" b="1">
                <a:solidFill>
                  <a:srgbClr val="132B42"/>
                </a:solidFill>
                <a:latin typeface="Microsoft YaHei"/>
                <a:ea typeface="Microsoft YaHei"/>
                <a:cs typeface="Microsoft YaHei"/>
              </a:defRPr>
            </a:pPr>
            <a:r>
              <a:rPr sz="1350" b="1">
                <a:solidFill>
                  <a:srgbClr val="132B42"/>
                </a:solidFill>
                <a:latin typeface="Microsoft YaHei"/>
                <a:ea typeface="Microsoft YaHei"/>
                <a:cs typeface="Microsoft YaHei"/>
              </a:rPr>
              <a:t>Worker persistence · 6 / 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1a469454e904fbc"/>
          <a:stretch xmlns:a="http://schemas.openxmlformats.org/drawingml/2006/main"/>
        </p:blipFill>
        <p:spPr>
          <a:xfrm xmlns:a="http://schemas.openxmlformats.org/drawingml/2006/main">
            <a:off x="908685" y="4171950"/>
            <a:ext cx="4697730" cy="2266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C2A6D7F-F648-4D6D-BD58-4537A2A173A7}"/>
              </a:ext>
            </a:extLst>
          </p:cNvPr>
          <p:cNvSpPr>
            <a:spLocks xmlns:a="http://schemas.openxmlformats.org/drawingml/2006/main" noGrp="1"/>
          </p:cNvSpPr>
          <p:nvPr/>
        </p:nvSpPr>
        <p:spPr>
          <a:xfrm xmlns:a="http://schemas.openxmlformats.org/drawingml/2006/main">
            <a:off x="6248400" y="3876675"/>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lgn="l">
              <a:defRPr sz="1350" b="1">
                <a:solidFill>
                  <a:srgbClr val="132B42"/>
                </a:solidFill>
                <a:latin typeface="Microsoft YaHei"/>
                <a:ea typeface="Microsoft YaHei"/>
                <a:cs typeface="Microsoft YaHei"/>
              </a:defRPr>
            </a:pPr>
            <a:r>
              <a:rPr sz="1350" b="1">
                <a:solidFill>
                  <a:srgbClr val="132B42"/>
                </a:solidFill>
                <a:latin typeface="Microsoft YaHei"/>
                <a:ea typeface="Microsoft YaHei"/>
                <a:cs typeface="Microsoft YaHei"/>
              </a:rPr>
              <a:t>BPMN model coverage · 7 / 7</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a3900c7f88141b5"/>
          <a:stretch xmlns:a="http://schemas.openxmlformats.org/drawingml/2006/main"/>
        </p:blipFill>
        <p:spPr>
          <a:xfrm xmlns:a="http://schemas.openxmlformats.org/drawingml/2006/main">
            <a:off x="6518678" y="4171950"/>
            <a:ext cx="4602944" cy="2266950"/>
          </a:xfrm>
          <a:prstGeom xmlns:a="http://schemas.openxmlformats.org/drawingml/2006/main" prst="rect">
            <a:avLst/>
          </a:prstGeom>
        </p:spPr>
      </p:pic>
    </p:spTree>
    <p:extLst>
      <p:ext uri="{BB962C8B-B14F-4D97-AF65-F5344CB8AC3E}">
        <p14:creationId xmlns:p14="http://schemas.microsoft.com/office/powerpoint/2010/main" val="72745577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C95B37-E410-45DE-A7AB-AEA43ADED31A}"/>
              </a:ext>
            </a:extLst>
          </p:cNvPr>
          <p:cNvSpPr>
            <a:spLocks xmlns:a="http://schemas.openxmlformats.org/drawingml/2006/main" noGrp="1"/>
          </p:cNvSpPr>
          <p:nvPr/>
        </p:nvSpPr>
        <p:spPr>
          <a:xfrm xmlns:a="http://schemas.openxmlformats.org/drawingml/2006/main">
            <a:off x="685800" y="400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lgn="l">
              <a:defRPr sz="3300" b="1">
                <a:solidFill>
                  <a:srgbClr val="132B42"/>
                </a:solidFill>
                <a:latin typeface="Microsoft YaHei"/>
                <a:ea typeface="Microsoft YaHei"/>
                <a:cs typeface="Microsoft YaHei"/>
              </a:defRPr>
            </a:pPr>
            <a:r>
              <a:rPr sz="3300" b="1">
                <a:solidFill>
                  <a:srgbClr val="132B42"/>
                </a:solidFill>
                <a:latin typeface="Microsoft YaHei"/>
                <a:ea typeface="Microsoft YaHei"/>
                <a:cs typeface="Microsoft YaHei"/>
              </a:rPr>
              <a:t>Hospital Pathway Integration Test</a:t>
            </a:r>
          </a:p>
        </p:txBody>
      </p:sp>
      <p:sp>
        <p:nvSpPr>
          <p:cNvPr id="2" name="">
            <a:extLst xmlns:a="http://schemas.openxmlformats.org/drawingml/2006/main">
              <a:ext uri="{FF2B5EF4-FFF2-40B4-BE49-F238E27FC236}">
                <a16:creationId xmlns:a16="http://schemas.microsoft.com/office/drawing/2014/main" id="{E37BE1D3-F8E7-44BC-9592-DE3A43FF125D}"/>
              </a:ext>
            </a:extLst>
          </p:cNvPr>
          <p:cNvSpPr>
            <a:spLocks xmlns:a="http://schemas.openxmlformats.org/drawingml/2006/main" noGrp="1"/>
          </p:cNvSpPr>
          <p:nvPr/>
        </p:nvSpPr>
        <p:spPr>
          <a:xfrm xmlns:a="http://schemas.openxmlformats.org/drawingml/2006/main">
            <a:off x="10953750" y="64293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lgn="r">
              <a:defRPr sz="1050" b="0">
                <a:solidFill>
                  <a:srgbClr val="52677B"/>
                </a:solidFill>
                <a:latin typeface="Microsoft YaHei"/>
                <a:ea typeface="Microsoft YaHei"/>
                <a:cs typeface="Microsoft YaHei"/>
              </a:defRPr>
            </a:pPr>
            <a:r>
              <a:rPr sz="1050" b="0">
                <a:solidFill>
                  <a:srgbClr val="52677B"/>
                </a:solidFill>
                <a:latin typeface="Microsoft YaHei"/>
                <a:ea typeface="Microsoft YaHei"/>
                <a:cs typeface="Microsoft YaHei"/>
              </a:rPr>
              <a:t>22 / 22</a:t>
            </a:r>
          </a:p>
        </p:txBody>
      </p:sp>
      <p:sp>
        <p:nvSpPr>
          <p:cNvPr id="3" name="">
            <a:extLst xmlns:a="http://schemas.openxmlformats.org/drawingml/2006/main">
              <a:ext uri="{FF2B5EF4-FFF2-40B4-BE49-F238E27FC236}">
                <a16:creationId xmlns:a16="http://schemas.microsoft.com/office/drawing/2014/main" id="{50B6CDE0-C9F3-4678-B29D-DAFC41ED29C2}"/>
              </a:ext>
            </a:extLst>
          </p:cNvPr>
          <p:cNvSpPr>
            <a:spLocks xmlns:a="http://schemas.openxmlformats.org/drawingml/2006/main" noGrp="1"/>
          </p:cNvSpPr>
          <p:nvPr/>
        </p:nvSpPr>
        <p:spPr>
          <a:xfrm xmlns:a="http://schemas.openxmlformats.org/drawingml/2006/main">
            <a:off x="742950" y="13525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4200" b="1">
                <a:solidFill>
                  <a:srgbClr val="2D8A68"/>
                </a:solidFill>
                <a:latin typeface="Microsoft YaHei"/>
                <a:ea typeface="Microsoft YaHei"/>
                <a:cs typeface="Microsoft YaHei"/>
              </a:defRPr>
            </a:pPr>
            <a:r>
              <a:rPr sz="4200" b="1">
                <a:solidFill>
                  <a:srgbClr val="2D8A68"/>
                </a:solidFill>
                <a:latin typeface="Microsoft YaHei"/>
                <a:ea typeface="Microsoft YaHei"/>
                <a:cs typeface="Microsoft YaHei"/>
              </a:rPr>
              <a:t>4 / 4</a:t>
            </a:r>
          </a:p>
        </p:txBody>
      </p:sp>
      <p:sp>
        <p:nvSpPr>
          <p:cNvPr id="4" name="">
            <a:extLst xmlns:a="http://schemas.openxmlformats.org/drawingml/2006/main">
              <a:ext uri="{FF2B5EF4-FFF2-40B4-BE49-F238E27FC236}">
                <a16:creationId xmlns:a16="http://schemas.microsoft.com/office/drawing/2014/main" id="{F9F9CF7C-3D51-448E-B0E2-D43295A5DB3F}"/>
              </a:ext>
            </a:extLst>
          </p:cNvPr>
          <p:cNvSpPr>
            <a:spLocks xmlns:a="http://schemas.openxmlformats.org/drawingml/2006/main" noGrp="1"/>
          </p:cNvSpPr>
          <p:nvPr/>
        </p:nvSpPr>
        <p:spPr>
          <a:xfrm xmlns:a="http://schemas.openxmlformats.org/drawingml/2006/main">
            <a:off x="781050" y="2009775"/>
            <a:ext cx="3752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95"/>
          </a:bodyPr>
          <a:lstStyle xmlns:a="http://schemas.openxmlformats.org/drawingml/2006/main"/>
          <a:p xmlns:a="http://schemas.openxmlformats.org/drawingml/2006/main">
            <a:pPr algn="l">
              <a:defRPr sz="1575" b="1">
                <a:solidFill>
                  <a:srgbClr val="132B42"/>
                </a:solidFill>
                <a:latin typeface="Microsoft YaHei"/>
                <a:ea typeface="Microsoft YaHei"/>
                <a:cs typeface="Microsoft YaHei"/>
              </a:defRPr>
            </a:pPr>
            <a:r>
              <a:rPr sz="1575" b="1">
                <a:solidFill>
                  <a:srgbClr val="132B42"/>
                </a:solidFill>
                <a:latin typeface="Microsoft YaHei"/>
                <a:ea typeface="Microsoft YaHei"/>
                <a:cs typeface="Microsoft YaHei"/>
              </a:rPr>
              <a:t>Scenarios marked passed in the IDE summary</a:t>
            </a:r>
          </a:p>
        </p:txBody>
      </p:sp>
      <p:sp>
        <p:nvSpPr>
          <p:cNvPr id="5" name="">
            <a:extLst xmlns:a="http://schemas.openxmlformats.org/drawingml/2006/main">
              <a:ext uri="{FF2B5EF4-FFF2-40B4-BE49-F238E27FC236}">
                <a16:creationId xmlns:a16="http://schemas.microsoft.com/office/drawing/2014/main" id="{FB3C8CE1-D894-450C-A395-FA9D120CAF56}"/>
              </a:ext>
            </a:extLst>
          </p:cNvPr>
          <p:cNvSpPr>
            <a:spLocks xmlns:a="http://schemas.openxmlformats.org/drawingml/2006/main" noGrp="1"/>
          </p:cNvSpPr>
          <p:nvPr/>
        </p:nvSpPr>
        <p:spPr>
          <a:xfrm xmlns:a="http://schemas.openxmlformats.org/drawingml/2006/main">
            <a:off x="781050" y="27241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82F46"/>
                </a:solidFill>
                <a:latin typeface="Microsoft YaHei"/>
                <a:ea typeface="Microsoft YaHei"/>
                <a:cs typeface="Microsoft YaHei"/>
              </a:defRPr>
            </a:pPr>
            <a:r>
              <a:rPr sz="1350" b="0">
                <a:solidFill>
                  <a:srgbClr val="182F46"/>
                </a:solidFill>
                <a:latin typeface="Microsoft YaHei"/>
                <a:ea typeface="Microsoft YaHei"/>
                <a:cs typeface="Microsoft YaHei"/>
              </a:rPr>
              <a:t>01   Referral review outcome is sent</a:t>
            </a:r>
          </a:p>
        </p:txBody>
      </p:sp>
      <p:sp>
        <p:nvSpPr>
          <p:cNvPr id="6" name="">
            <a:extLst xmlns:a="http://schemas.openxmlformats.org/drawingml/2006/main">
              <a:ext uri="{FF2B5EF4-FFF2-40B4-BE49-F238E27FC236}">
                <a16:creationId xmlns:a16="http://schemas.microsoft.com/office/drawing/2014/main" id="{795B34BA-1359-47FD-802B-599286C6D23E}"/>
              </a:ext>
            </a:extLst>
          </p:cNvPr>
          <p:cNvSpPr>
            <a:spLocks xmlns:a="http://schemas.openxmlformats.org/drawingml/2006/main" noGrp="1"/>
          </p:cNvSpPr>
          <p:nvPr/>
        </p:nvSpPr>
        <p:spPr>
          <a:xfrm xmlns:a="http://schemas.openxmlformats.org/drawingml/2006/main">
            <a:off x="781050" y="32194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82F46"/>
                </a:solidFill>
                <a:latin typeface="Microsoft YaHei"/>
                <a:ea typeface="Microsoft YaHei"/>
                <a:cs typeface="Microsoft YaHei"/>
              </a:defRPr>
            </a:pPr>
            <a:r>
              <a:rPr sz="1350" b="0">
                <a:solidFill>
                  <a:srgbClr val="182F46"/>
                </a:solidFill>
                <a:latin typeface="Microsoft YaHei"/>
                <a:ea typeface="Microsoft YaHei"/>
                <a:cs typeface="Microsoft YaHei"/>
              </a:rPr>
              <a:t>02   Missing documents return by referralId</a:t>
            </a:r>
          </a:p>
        </p:txBody>
      </p:sp>
      <p:sp>
        <p:nvSpPr>
          <p:cNvPr id="7" name="">
            <a:extLst xmlns:a="http://schemas.openxmlformats.org/drawingml/2006/main">
              <a:ext uri="{FF2B5EF4-FFF2-40B4-BE49-F238E27FC236}">
                <a16:creationId xmlns:a16="http://schemas.microsoft.com/office/drawing/2014/main" id="{0F15D3FA-FA84-4E63-83A6-810D9D2EC3E9}"/>
              </a:ext>
            </a:extLst>
          </p:cNvPr>
          <p:cNvSpPr>
            <a:spLocks xmlns:a="http://schemas.openxmlformats.org/drawingml/2006/main" noGrp="1"/>
          </p:cNvSpPr>
          <p:nvPr/>
        </p:nvSpPr>
        <p:spPr>
          <a:xfrm xmlns:a="http://schemas.openxmlformats.org/drawingml/2006/main">
            <a:off x="781050" y="37147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03"/>
          </a:bodyPr>
          <a:lstStyle xmlns:a="http://schemas.openxmlformats.org/drawingml/2006/main"/>
          <a:p xmlns:a="http://schemas.openxmlformats.org/drawingml/2006/main">
            <a:pPr algn="l">
              <a:defRPr sz="1350" b="0">
                <a:solidFill>
                  <a:srgbClr val="182F46"/>
                </a:solidFill>
                <a:latin typeface="Microsoft YaHei"/>
                <a:ea typeface="Microsoft YaHei"/>
                <a:cs typeface="Microsoft YaHei"/>
              </a:defRPr>
            </a:pPr>
            <a:r>
              <a:rPr sz="1350" b="0">
                <a:solidFill>
                  <a:srgbClr val="182F46"/>
                </a:solidFill>
                <a:latin typeface="Microsoft YaHei"/>
                <a:ea typeface="Microsoft YaHei"/>
                <a:cs typeface="Microsoft YaHei"/>
              </a:rPr>
              <a:t>03   Access request follows human and audit steps</a:t>
            </a:r>
          </a:p>
        </p:txBody>
      </p:sp>
      <p:sp>
        <p:nvSpPr>
          <p:cNvPr id="8" name="">
            <a:extLst xmlns:a="http://schemas.openxmlformats.org/drawingml/2006/main">
              <a:ext uri="{FF2B5EF4-FFF2-40B4-BE49-F238E27FC236}">
                <a16:creationId xmlns:a16="http://schemas.microsoft.com/office/drawing/2014/main" id="{BD94F4B4-A3CE-4E80-964C-ED0F32F96E85}"/>
              </a:ext>
            </a:extLst>
          </p:cNvPr>
          <p:cNvSpPr>
            <a:spLocks xmlns:a="http://schemas.openxmlformats.org/drawingml/2006/main" noGrp="1"/>
          </p:cNvSpPr>
          <p:nvPr/>
        </p:nvSpPr>
        <p:spPr>
          <a:xfrm xmlns:a="http://schemas.openxmlformats.org/drawingml/2006/main">
            <a:off x="781050" y="42100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525"/>
          </a:bodyPr>
          <a:lstStyle xmlns:a="http://schemas.openxmlformats.org/drawingml/2006/main"/>
          <a:p xmlns:a="http://schemas.openxmlformats.org/drawingml/2006/main">
            <a:pPr algn="l">
              <a:defRPr sz="1350" b="0">
                <a:solidFill>
                  <a:srgbClr val="182F46"/>
                </a:solidFill>
                <a:latin typeface="Microsoft YaHei"/>
                <a:ea typeface="Microsoft YaHei"/>
                <a:cs typeface="Microsoft YaHei"/>
              </a:defRPr>
            </a:pPr>
            <a:r>
              <a:rPr sz="1350" b="0">
                <a:solidFill>
                  <a:srgbClr val="182F46"/>
                </a:solidFill>
                <a:latin typeface="Microsoft YaHei"/>
                <a:ea typeface="Microsoft YaHei"/>
                <a:cs typeface="Microsoft YaHei"/>
              </a:rPr>
              <a:t>04   Monitoring request reaches reporting workers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7c1ab1bd6424c8b"/>
          <a:stretch xmlns:a="http://schemas.openxmlformats.org/drawingml/2006/main"/>
        </p:blipFill>
        <p:spPr>
          <a:xfrm xmlns:a="http://schemas.openxmlformats.org/drawingml/2006/main">
            <a:off x="4914900" y="1490155"/>
            <a:ext cx="6553200" cy="317284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CDDD457-F514-4B1A-B8F3-1EE138B8DA16}"/>
              </a:ext>
            </a:extLst>
          </p:cNvPr>
          <p:cNvSpPr>
            <a:spLocks xmlns:a="http://schemas.openxmlformats.org/drawingml/2006/main" noGrp="1"/>
          </p:cNvSpPr>
          <p:nvPr/>
        </p:nvSpPr>
        <p:spPr>
          <a:xfrm xmlns:a="http://schemas.openxmlformats.org/drawingml/2006/main">
            <a:off x="762000" y="5286375"/>
            <a:ext cx="10668000" cy="781050"/>
          </a:xfrm>
          <a:prstGeom xmlns:a="http://schemas.openxmlformats.org/drawingml/2006/main" prst="rect">
            <a:avLst/>
          </a:prstGeom>
          <a:solidFill xmlns:a="http://schemas.openxmlformats.org/drawingml/2006/main">
            <a:srgbClr val="FFF3DE"/>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76501B"/>
                </a:solidFill>
                <a:latin typeface="Microsoft YaHei"/>
                <a:ea typeface="Microsoft YaHei"/>
                <a:cs typeface="Microsoft YaHei"/>
              </a:defRPr>
            </a:pPr>
            <a:r>
              <a:rPr sz="1425" b="1">
                <a:solidFill>
                  <a:srgbClr val="76501B"/>
                </a:solidFill>
                <a:latin typeface="Microsoft YaHei"/>
                <a:ea typeface="Microsoft YaHei"/>
                <a:cs typeface="Microsoft YaHei"/>
              </a:rPr>
              <a:t>Review before presenting as a clean run: the console also shows “Failed to increase the time” and HTTP 403 “clock is immutable.”</a:t>
            </a:r>
          </a:p>
        </p:txBody>
      </p:sp>
    </p:spTree>
    <p:extLst>
      <p:ext uri="{BB962C8B-B14F-4D97-AF65-F5344CB8AC3E}">
        <p14:creationId xmlns:p14="http://schemas.microsoft.com/office/powerpoint/2010/main" val="13237902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2026-09-28T17:19:02.0040000Z</dcterms:created>
  <dcterms:modified xsi:type="dcterms:W3CDTF">2026-09-28T17:19:02.0040000Z</dcterms:modified>
</coreProperties>
</file>