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79" r:id="rId2"/>
    <p:sldId id="280" r:id="rId30"/>
    <p:sldId id="257" r:id="rId3"/>
    <p:sldId id="281" r:id="rId31"/>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82" r:id="rId32"/>
    <p:sldId id="283" r:id="rId33"/>
    <p:sldId id="275" r:id="rId21"/>
    <p:sldId id="276" r:id="rId22"/>
    <p:sldId id="277" r:id="rId23"/>
    <p:sldId id="278" r:id="rId24"/>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607" autoAdjust="0"/>
  </p:normalViewPr>
  <p:slideViewPr>
    <p:cSldViewPr snapToGrid="0">
      <p:cViewPr>
        <p:scale>
          <a:sx n="100" d="100"/>
          <a:sy n="100" d="100"/>
        </p:scale>
        <p:origin x="232"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diagram shows 17 processes in the hospital patient pathway. We can understand them in three groups.</a:t>
            </a:r>
          </a:p>
          <a:p>
            <a:r>
              <a:rPr lang="en-US" altLang="zh-CN"/>
              <a:t>The first group is P01 to P07. It shows the main journey: the hospital receives a referral, checks it, contacts the patient, discusses treatment, plans the services, checks who will pay, and handles the payment.</a:t>
            </a:r>
          </a:p>
          <a:p>
            <a:r>
              <a:rPr lang="en-US" altLang="zh-CN"/>
              <a:t>The second group is P08 to P11. These processes deal with what may happen during treatment. The team checks if treatment should continue, handles changes or missed appointments, and deals with refunds or moving money to another appointment.</a:t>
            </a:r>
          </a:p>
          <a:p>
            <a:r>
              <a:rPr lang="en-US" altLang="zh-CN"/>
              <a:t>The third group is P12 to P17. These are support processes. They handle patient questions, clinic letters, follow-up visits, reports, staff access, system problems, and appointment changes. They start when needed, so they do not always happen in number order.</a:t>
            </a:r>
          </a:p>
          <a:p>
            <a:r>
              <a:rPr lang="en-US" altLang="zh-CN"/>
              <a:t>In short, the first group gets the patient ready for treatment. The second group manages treatment changes and payment issues. The third group helps the whole service run safely and smoothly.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1.When the hospital gets a referral, it opens a file for the patient. It writes down who the patient is and who sent the referral.</a:t>
            </a:r>
          </a:p>
          <a:p>
            <a:r>
              <a:rPr lang="en-US" altLang="zh-CN"/>
              <a:t>2.Staff check the list to see if all the referral papers are there.</a:t>
            </a:r>
          </a:p>
          <a:p>
            <a:r>
              <a:rPr lang="en-US" altLang="zh-CN"/>
              <a:t>3.If some papers are missing, staff tell the person who sent the referral what is missing and wait.</a:t>
            </a:r>
          </a:p>
          <a:p>
            <a:r>
              <a:rPr lang="en-US" altLang="zh-CN"/>
              <a:t>4.When the papers arrive, staff add them to the file and check everything again.</a:t>
            </a:r>
          </a:p>
          <a:p>
            <a:r>
              <a:rPr lang="en-US" altLang="zh-CN"/>
              <a:t>5.When all the papers are ready, staff send the case to a doctor. The doctor decides if the hospital can accept the patient.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The doctor checks the referral, the patient’s condition, and any test results. The doctor decides if this hospital can accept the patient.</a:t>
            </a:r>
          </a:p>
          <a:p>
            <a:r>
              <a:rPr lang="en-US" altLang="zh-CN"/>
              <a:t>·  If the hospital cannot accept the patient, staff write down why and tell the person who sent the referral. The referral process then ends.</a:t>
            </a:r>
          </a:p>
          <a:p>
            <a:r>
              <a:rPr lang="en-US" altLang="zh-CN"/>
              <a:t>·  If the hospital can accept the patient, the doctor or staff mark how urgent the case is and choose the team that will help next.</a:t>
            </a:r>
          </a:p>
          <a:p>
            <a:r>
              <a:rPr lang="en-US" altLang="zh-CN"/>
              <a:t>·  The system tells the person who sent the referral that it has been accepted. Then the appointment team contacts the patient.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The booking staff ask the scheduling team for available times. Then they wait for a reply.</a:t>
            </a:r>
          </a:p>
          <a:p>
            <a:r>
              <a:rPr lang="en-US" altLang="zh-CN"/>
              <a:t>·  When the times are available, the booking staff send them and the visit details to the patient.</a:t>
            </a:r>
          </a:p>
          <a:p>
            <a:r>
              <a:rPr lang="en-US" altLang="zh-CN"/>
              <a:t>·  If the patient accepts a time, the team confirms the appointment and sends the details to the patient.</a:t>
            </a:r>
          </a:p>
          <a:p>
            <a:r>
              <a:rPr lang="en-US" altLang="zh-CN"/>
              <a:t>·  If the patient wants a different date, the team sends the request to the rescheduling process.</a:t>
            </a:r>
          </a:p>
          <a:p>
            <a:r>
              <a:rPr lang="en-US" altLang="zh-CN"/>
              <a:t>·  If there are no available times, the team tells the patient they are still looking and keeps the case open.</a:t>
            </a:r>
          </a:p>
          <a:p>
            <a:r>
              <a:rPr lang="en-US" altLang="zh-CN"/>
              <a:t>·  The system checks for an available time again later. If waiting longer could make the patient miss the doctor’s time limit, the case is sent to the patient pathway team for help.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 After the visit, the doctor checks the patient’s condition and test results.</a:t>
            </a:r>
          </a:p>
          <a:p>
            <a:r>
              <a:rPr lang="en-US" altLang="zh-CN" dirty="0"/>
              <a:t>·  The doctor explains the diagnosis, the suggested treatment, its possible risks, and other choices.</a:t>
            </a:r>
          </a:p>
          <a:p>
            <a:r>
              <a:rPr lang="en-US" altLang="zh-CN" dirty="0"/>
              <a:t>·  The patient may need time to think. The team waits for the patient’s answer and does not assume the patient has agreed.</a:t>
            </a:r>
          </a:p>
          <a:p>
            <a:r>
              <a:rPr lang="en-US" altLang="zh-CN" dirty="0"/>
              <a:t>·  If the patient agrees, the team saves the signed form and tells the next team. If the patient says no, the team records the reason and the other choices they discussed. The case is sent to the Finance team if needed.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How it starts: We enter right after the consent decision in P04 — an internal flow. The page can also wake up again when the next treatment cycle is due, coming back from P08, or when a treatment plan change comes in from P09; all merge into the same review.</a:t>
            </a:r>
          </a:p>
          <a:p>
            <a:r>
              <a:rPr lang="en-US" altLang="zh-CN"/>
              <a:t>Trigger: The external services — scheduling, imaging, lab — reply with a "service availability" message; if something isn't available, a timer retries automatically.</a:t>
            </a:r>
          </a:p>
          <a:p>
            <a:r>
              <a:rPr lang="en-US" altLang="zh-CN"/>
              <a:t>Who does it: The Treatment and Chemotherapy Bookings Team. They review the authorised treatment plan, reserve the provisional slots, keep the treatment on hold and notify the pathway team if funding or payment is stuck, and confirm the final booking once clearance arrives.</a:t>
            </a:r>
          </a:p>
          <a:p>
            <a:r>
              <a:rPr lang="en-US" altLang="zh-CN"/>
              <a:t>How it ends: We publish a provisional booking and hand over to funding, P06. The booking only becomes final after the funding clearance or payment confirmation message comes back — then it moves to continuation, P08, and treatment is actually delivered. If clearance never comes, the case stays on hold and the issue goes back to funding or payment.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How it starts: We come in right after the provisional booking from P05. A plan change (from P09) or a funding arrangement change (from P17) can re-enter and reclassify the payer. A finance enquiry comes through the medical secretaries and is handed to the finance team.</a:t>
            </a:r>
          </a:p>
          <a:p>
            <a:r>
              <a:rPr lang="en-US" altLang="zh-CN"/>
              <a:t>Trigger: The insurer replies with a "funding authorisation decision" message.</a:t>
            </a:r>
          </a:p>
          <a:p>
            <a:r>
              <a:rPr lang="en-US" altLang="zh-CN"/>
              <a:t>Who does it: The Finance Team. They classify the payer and the patient's share, record the payer, reference, amount and limits, resolve a funding gap if authorisation is rejected, and answer finance enquiries.</a:t>
            </a:r>
          </a:p>
          <a:p>
            <a:r>
              <a:rPr lang="en-US" altLang="zh-CN"/>
              <a:t>How it ends: If no advance payment is needed, we send funding clearance back to P05 and the booking turns final. If an advance is needed, we move to payment processing, P07. If the gap can't be resolved, the treatment goes pending back to P05 and stays on hold. Enquiry replies go to the enquiries process, P12.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How it starts: We come in after P06 requests an advance payment. If the bookings team sends a payment follow-up, we go straight to reconciliation without opening a new payment cycle.</a:t>
            </a:r>
          </a:p>
          <a:p>
            <a:r>
              <a:rPr lang="en-US" altLang="zh-CN"/>
              <a:t>Trigger: The payment service provider replies with a "payment result" message.</a:t>
            </a:r>
          </a:p>
          <a:p>
            <a:r>
              <a:rPr lang="en-US" altLang="zh-CN"/>
              <a:t>Who does it: The Finance Team. They calculate the charge, record the payment outcome, notify the patient or admin to check the status when payment fails, and reconcile with the provider.</a:t>
            </a:r>
          </a:p>
          <a:p>
            <a:r>
              <a:rPr lang="en-US" altLang="zh-CN"/>
              <a:t>How it ends: If paid, we record it and send confirmation back to P05, which unlocks the final booking. If not, we run an idempotency check first — to make sure we never charge twice — then retry, or flag an investigation and reconcile if a charge already exists. If it stays unresolved, it goes pending back to P05.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How it starts: Two ways. External messages — "next treatment cycle due" or "patient arrives for the cycle" — come in through the medical secretaries and are handed to the clinical team, so this page can start on its own. Or the confirmed booking from P05 comes in, and we deliver that treatment cycle first, then review. Smaller entries: a cancellation from P10, a scheduling conflict from P17, a clinical enquiry from P12.</a:t>
            </a:r>
          </a:p>
          <a:p>
            <a:r>
              <a:rPr lang="en-US" altLang="zh-CN" dirty="0"/>
              <a:t>Trigger: The lab sends a "test results" message.</a:t>
            </a:r>
          </a:p>
          <a:p>
            <a:r>
              <a:rPr lang="en-US" altLang="zh-CN" dirty="0"/>
              <a:t>Who does it: The Clinical Nurse Specialist Team does the clinical review and blood sample, and answers clinical enquiries. The Consultants do the clinical review, decide whether the patient is fit to continue, release the next cycle — that's a manual task done outside the system — decide to postpone or change the plan, and deliver the treatment itself.</a:t>
            </a:r>
          </a:p>
          <a:p>
            <a:r>
              <a:rPr lang="en-US" altLang="zh-CN" dirty="0"/>
              <a:t>How it ends: If fit, we release the next cycle and send it back to P05 to start the loop again. If not fit: postpone — a reassessment timer brings us back later; change the plan — goes to P09; or stop treatment — a refund case goes to P11. In parallel, the clinic letter goes to P13.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process handles requests to change an existing treatment timetable.</a:t>
            </a:r>
          </a:p>
          <a:p>
            <a:r>
              <a:rPr lang="en-US" dirty="0"/>
              <a:t>When a change request arrives, the Bookings Team checks its type — there are three paths:</a:t>
            </a:r>
          </a:p>
          <a:p>
            <a:r>
              <a:rPr lang="en-US" dirty="0"/>
              <a:t>• Formally approved — the request has a signed change form in the system, so adjust the schedule directly.</a:t>
            </a:r>
          </a:p>
          <a:p>
            <a:r>
              <a:rPr lang="en-US" dirty="0"/>
              <a:t>• Informal — the request comes by email, phone, or casual chat. Do NOT act on it immediately.</a:t>
            </a:r>
          </a:p>
          <a:p>
            <a:r>
              <a:rPr lang="en-US" dirty="0"/>
              <a:t>• Urgent safety postponement — a consultant delays the appointment at once for patient safety, but the responsible doctor must formally record and approve it afterward.</a:t>
            </a:r>
          </a:p>
          <a:p>
            <a:r>
              <a:rPr lang="en-US" dirty="0"/>
              <a:t>After the schedule is adjusted, check whether the change affects any existing charge or funding. If it does, pass the case to the Finance Team; if not, the process ends.</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process deals with cancelled appointments, refused visits, and patient no-shows.</a:t>
            </a:r>
          </a:p>
          <a:p>
            <a:r>
              <a:rPr lang="en-US" dirty="0"/>
              <a:t>First, the Outpatient Bookings Team records the event. Then a Patient Pathway Coordinator decides what to do:</a:t>
            </a:r>
          </a:p>
          <a:p>
            <a:r>
              <a:rPr lang="en-US" dirty="0"/>
              <a:t>• Re-book — offer the patient a new appointment.</a:t>
            </a:r>
          </a:p>
          <a:p>
            <a:r>
              <a:rPr lang="en-US" dirty="0"/>
              <a:t>• Clinical review — send the case back to medical staff for assessment.</a:t>
            </a:r>
          </a:p>
          <a:p>
            <a:r>
              <a:rPr lang="en-US" dirty="0"/>
              <a:t>• Notify referrer — inform the original GP or referring </a:t>
            </a:r>
            <a:r>
              <a:rPr lang="en-US" dirty="0" err="1"/>
              <a:t>organisation</a:t>
            </a:r>
            <a:r>
              <a:rPr lang="en-US" dirty="0"/>
              <a:t>.</a:t>
            </a:r>
          </a:p>
          <a:p>
            <a:r>
              <a:rPr lang="en-US" dirty="0"/>
              <a:t>Next, check whether the patient has already paid. If yes, the case goes to Finance — they decide to retain, transfer, or refund the payment. If no payment was made, the case is simply closed.</a:t>
            </a:r>
          </a:p>
          <a:p>
            <a:r>
              <a:rPr lang="en-US" dirty="0"/>
              <a:t>One key point: decisions about continuing treatment, delaying care, or discharging the patient can only be made by </a:t>
            </a:r>
            <a:r>
              <a:rPr lang="en-US" dirty="0" err="1"/>
              <a:t>authorised</a:t>
            </a:r>
            <a:r>
              <a:rPr lang="en-US" dirty="0"/>
              <a:t> clinical professionals</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process handles refunds and moving patient payments between bookings.</a:t>
            </a:r>
          </a:p>
          <a:p>
            <a:r>
              <a:rPr lang="en-US" dirty="0"/>
              <a:t>When a refund or transfer case arrives, an </a:t>
            </a:r>
            <a:r>
              <a:rPr lang="en-US" dirty="0" err="1"/>
              <a:t>authorised</a:t>
            </a:r>
            <a:r>
              <a:rPr lang="en-US" dirty="0"/>
              <a:t> Finance Team member decides the outcome. Important: only </a:t>
            </a:r>
            <a:r>
              <a:rPr lang="en-US" dirty="0" err="1"/>
              <a:t>authorised</a:t>
            </a:r>
            <a:r>
              <a:rPr lang="en-US" dirty="0"/>
              <a:t> finance staff can approve refunds — medical staff cannot unless they also hold finance authority.</a:t>
            </a:r>
          </a:p>
          <a:p>
            <a:r>
              <a:rPr lang="en-US" dirty="0"/>
              <a:t>Three possible outcomes:</a:t>
            </a:r>
          </a:p>
          <a:p>
            <a:r>
              <a:rPr lang="en-US" dirty="0"/>
              <a:t>• Refund approved — send the refund request to the external payment provider, then save the result on the patient account.</a:t>
            </a:r>
          </a:p>
          <a:p>
            <a:r>
              <a:rPr lang="en-US" dirty="0"/>
              <a:t>• Refund rejected — record the finance decision, and that ends the case.</a:t>
            </a:r>
          </a:p>
          <a:p>
            <a:r>
              <a:rPr lang="en-US" dirty="0"/>
              <a:t>• Transfer to another booking — link all related records together: patient data, referral form, treatment request, appointment record, funding choice, payment record, and refund record.</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process handles patient inquiries that come in by phone or message.</a:t>
            </a:r>
          </a:p>
          <a:p>
            <a:r>
              <a:rPr lang="en-US" dirty="0"/>
              <a:t>It starts when the Call Handling Team receives a patient question. They first take notes on the inquiry, then assign it to the right team and check whether it is urgent or imperative.</a:t>
            </a:r>
          </a:p>
          <a:p>
            <a:r>
              <a:rPr lang="en-US" dirty="0"/>
              <a:t>If the case is urgent, it is immediately flagged as high-priority and the process ends.</a:t>
            </a:r>
          </a:p>
          <a:p>
            <a:r>
              <a:rPr lang="en-US" dirty="0"/>
              <a:t>If it is not urgent, the inquiry is classified into one of four types:</a:t>
            </a:r>
          </a:p>
          <a:p>
            <a:r>
              <a:rPr lang="en-US" dirty="0"/>
              <a:t>• Simple office question — the Call Handling team answers the patient directly and closes the case.</a:t>
            </a:r>
          </a:p>
          <a:p>
            <a:r>
              <a:rPr lang="en-US" dirty="0"/>
              <a:t>• General office problem — the team sends out a reply and closes the case.</a:t>
            </a:r>
          </a:p>
          <a:p>
            <a:r>
              <a:rPr lang="en-US" dirty="0"/>
              <a:t>• Payment or funding question the team cannot answer — the case is passed to the Finance Team, who will handle it.</a:t>
            </a:r>
          </a:p>
          <a:p>
            <a:r>
              <a:rPr lang="en-US" dirty="0"/>
              <a:t>• Medical-related question — the case is sent to the medical staff, specifically the Clinical Nurse Specialist Team.</a:t>
            </a:r>
          </a:p>
          <a:p>
            <a:r>
              <a:rPr lang="en-US" dirty="0"/>
              <a:t>In short: urgent cases get flagged right away; everything else is classified and routed to the team that can actually answer it. That covers Process 12.</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process covers the full lifecycle of a clinic letter — from the doctor writing it up to final distribution.</a:t>
            </a:r>
          </a:p>
          <a:p>
            <a:r>
              <a:rPr lang="en-US" dirty="0"/>
              <a:t>It starts when a doctor writes a clinic letter after a patient visit. The senior doctor then reviews and approves it. If not approved, the doctor revises and resubmits.</a:t>
            </a:r>
          </a:p>
          <a:p>
            <a:r>
              <a:rPr lang="en-US" dirty="0"/>
              <a:t>Once approved, the letter goes to the Medical Secretaries for double-checking. If they spot possible medical errors, the letter is sent back to the senior doctor for re-checking. If no errors, it is sent out through approved channels to the correspondence service.</a:t>
            </a:r>
          </a:p>
          <a:p>
            <a:r>
              <a:rPr lang="en-US" dirty="0"/>
              <a:t>If the letter remains unfinished for more than seven days, the process tracks the delay and sends weekly reminders to the doctor. If no response after one month, the issue is reported to senior management, who talks to the responsible doctor. If it still is not done after three months, it is escalated to high-level hospital managers.</a:t>
            </a:r>
          </a:p>
          <a:p>
            <a:r>
              <a:rPr lang="en-US" dirty="0"/>
              <a:t>At every step, the full history of reminders and escalations is preserved. In short: write, review, check, send — with escalating reminders if the letter gets stuck.</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process handles follow-up appointment requests submitted by consultants.</a:t>
            </a:r>
          </a:p>
          <a:p>
            <a:r>
              <a:rPr lang="en-US" dirty="0"/>
              <a:t>It starts when an approved follow-up request arrives — the consultant has stated the required timeframe for the next review.</a:t>
            </a:r>
          </a:p>
          <a:p>
            <a:r>
              <a:rPr lang="en-US" dirty="0"/>
              <a:t>The Outpatient Bookings Team then checks whether a suitable slot is available within that required period.</a:t>
            </a:r>
          </a:p>
          <a:p>
            <a:r>
              <a:rPr lang="en-US" dirty="0"/>
              <a:t>Two paths:</a:t>
            </a:r>
          </a:p>
          <a:p>
            <a:r>
              <a:rPr lang="en-US" dirty="0"/>
              <a:t>• If a slot is available — the bookings team books the follow-up appointment through the external scheduling service, then notifies the patient. The process ends here.</a:t>
            </a:r>
          </a:p>
          <a:p>
            <a:r>
              <a:rPr lang="en-US" dirty="0"/>
              <a:t>• If no slot can be booked within the required timeframe — the issue is flagged for attention and handed over to the Patient Pathway Coordinators. The bookings team must not book a later date on their own.</a:t>
            </a:r>
          </a:p>
          <a:p>
            <a:r>
              <a:rPr lang="en-US" dirty="0"/>
              <a:t>In short: book on time and notify the patient, or escalate to the pathway team — never book late without </a:t>
            </a:r>
            <a:r>
              <a:rPr lang="en-US" dirty="0" err="1"/>
              <a:t>authorisation</a:t>
            </a:r>
            <a:r>
              <a:rPr lang="en-US" dirty="0"/>
              <a:t>. That covers Process 14.</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periodic monitoring process that checks the entire patient pathway and produces reports.</a:t>
            </a:r>
          </a:p>
          <a:p>
            <a:r>
              <a:rPr lang="en-US" dirty="0"/>
              <a:t>It starts with a monitoring cycle. The Administrative Management Team collects records across referrals, waiting times, letters, enquiries, bookings, funding, payments and </a:t>
            </a:r>
            <a:r>
              <a:rPr lang="en-US" dirty="0" err="1"/>
              <a:t>refunds.The</a:t>
            </a:r>
            <a:r>
              <a:rPr lang="en-US" dirty="0"/>
              <a:t> Administrative Manager then reviews the collected records. If no delays or open issues are found, a monitoring report is generated and sent to senior management for </a:t>
            </a:r>
            <a:r>
              <a:rPr lang="en-US" dirty="0" err="1"/>
              <a:t>review.If</a:t>
            </a:r>
            <a:r>
              <a:rPr lang="en-US" dirty="0"/>
              <a:t> issues are found, they are added to the work report and sent to the responsible operational team for action. The process waits for a resolution update. If the issue is not yet solved, monitoring continues. If it is solved, the status is updated with resolution notes, the report is generated, and senior management reviews </a:t>
            </a:r>
            <a:r>
              <a:rPr lang="en-US" dirty="0" err="1"/>
              <a:t>it.In</a:t>
            </a:r>
            <a:r>
              <a:rPr lang="en-US" dirty="0"/>
              <a:t> short: collect data, review it, fix issues, and report — either directly or through escalation.</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process covers five separate identity, access and system-related scenarios.</a:t>
            </a:r>
          </a:p>
          <a:p>
            <a:r>
              <a:rPr lang="en-US" dirty="0"/>
              <a:t>First, an access request: the system verifies the user identity and role permissions. If valid, access is granted; if not, access is blocked.</a:t>
            </a:r>
          </a:p>
          <a:p>
            <a:r>
              <a:rPr lang="en-US" dirty="0"/>
              <a:t>Second, when patient data is received from a referring </a:t>
            </a:r>
            <a:r>
              <a:rPr lang="en-US" dirty="0" err="1"/>
              <a:t>organisation</a:t>
            </a:r>
            <a:r>
              <a:rPr lang="en-US" dirty="0"/>
              <a:t>, the system checks whether the identity matches. If the match is certain, the data is accepted. If not, a staff member manually confirms the patient identity.</a:t>
            </a:r>
          </a:p>
          <a:p>
            <a:r>
              <a:rPr lang="en-US" dirty="0"/>
              <a:t>Third, during a system failure, work is recorded under emergency rules. When systems are restored, missing inputs are completed and stored data is verified before recovery is marked complete.</a:t>
            </a:r>
          </a:p>
          <a:p>
            <a:r>
              <a:rPr lang="en-US" dirty="0"/>
              <a:t>Fourth, every important action is appended to a protected audit history that ordinary users cannot edit.</a:t>
            </a:r>
          </a:p>
          <a:p>
            <a:r>
              <a:rPr lang="en-US" dirty="0"/>
              <a:t>Fifth, when a role-access policy review is due, senior management reviews and approves the </a:t>
            </a:r>
            <a:r>
              <a:rPr lang="en-US" dirty="0" err="1"/>
              <a:t>policy.In</a:t>
            </a:r>
            <a:r>
              <a:rPr lang="en-US" dirty="0"/>
              <a:t> short: verify access, confirm identities, handle outages safely, audit everything, and let senior management own policy changes.</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When a patient asks to change an appointment, staff write down the patient’s name, the current appointment, how the request came in, and when it was made.</a:t>
            </a:r>
          </a:p>
          <a:p>
            <a:r>
              <a:rPr lang="en-US" altLang="zh-CN"/>
              <a:t>·  Staff check the patient’s identity first. They do not change the appointment until they know who the patient is.</a:t>
            </a:r>
          </a:p>
          <a:p>
            <a:r>
              <a:rPr lang="en-US" altLang="zh-CN"/>
              <a:t>·  If the request changes the treatment plan, staff ask the doctor to approve it. If it changes payment or funding, staff ask the Finance team to check it.</a:t>
            </a:r>
          </a:p>
          <a:p>
            <a:r>
              <a:rPr lang="en-US" altLang="zh-CN"/>
              <a:t>·  If the patient only wants a different appointment time, staff ask the scheduling team for new times.</a:t>
            </a:r>
          </a:p>
          <a:p>
            <a:r>
              <a:rPr lang="en-US" altLang="zh-CN"/>
              <a:t>·  When new times are available, staff check that they match the patient’s needs and the time limit set by the doctor.</a:t>
            </a:r>
          </a:p>
          <a:p>
            <a:r>
              <a:rPr lang="en-US" altLang="zh-CN"/>
              <a:t>·  If a time is suitable, staff update the appointment, make the old time available for someone else, and tell the patient about the new time.</a:t>
            </a:r>
          </a:p>
          <a:p>
            <a:r>
              <a:rPr lang="en-US" altLang="zh-CN"/>
              <a:t>·  If there is no suitable time, staff keep the current appointment, explain the problem to the patient, and ask the doctor or patient pathway coordinator to help.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tags" Target="../tags/tag3.xml"/><Relationship Id="rId4" Type="http://schemas.openxmlformats.org/officeDocument/2006/relationships/tags" Target="../tags/tag4.xml"/><Relationship Id="rId5" Type="http://schemas.openxmlformats.org/officeDocument/2006/relationships/tags" Target="../tags/tag5.xml"/><Relationship Id="rId6" Type="http://schemas.openxmlformats.org/officeDocument/2006/relationships/tags" Target="../tags/tag6.xml"/><Relationship Id="rId7" Type="http://schemas.openxmlformats.org/officeDocument/2006/relationships/tags" Target="../tags/tag7.xml"/><Relationship Id="rId8" Type="http://schemas.openxmlformats.org/officeDocument/2006/relationships/tags" Target="../tags/tag8.xml"/><Relationship Id="rId9" Type="http://schemas.openxmlformats.org/officeDocument/2006/relationships/slideLayout" Target="../slideLayouts/slideLayout1.xml"/><Relationship Id="rId10" Type="http://schemas.openxmlformats.org/officeDocument/2006/relationships/notesSlide" Target="../notesSlides/notesSlide20.xml"/><Relationship Id="rId11" Type="http://schemas.openxmlformats.org/officeDocument/2006/relationships/image" Target="../media/image18.png"/><Relationship Id="rId12" Type="http://schemas.openxmlformats.org/officeDocument/2006/relationships/image" Target="../media/image19.png"/><Relationship Id="rId13" Type="http://schemas.openxmlformats.org/officeDocument/2006/relationships/image" Target="../media/image20.png"/><Relationship Id="rId14"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Grp="1"/>
          </p:cNvSpPr>
          <p:nvPr/>
        </p:nvSpPr>
        <p:spPr>
          <a:xfrm>
            <a:off x="2324735" y="1625600"/>
            <a:ext cx="7541895" cy="876300"/>
          </a:xfrm>
          <a:prstGeom prst="rect">
            <a:avLst/>
          </a:prstGeom>
          <a:noFill/>
          <a:ln w="0">
            <a:noFill/>
          </a:ln>
        </p:spPr>
        <p:txBody>
          <a:bodyPr>
            <a:noAutofit/>
          </a:bodyPr>
          <a:lstStyle/>
          <a:p>
            <a:pPr algn="ctr">
              <a:defRPr sz="4575" b="1">
                <a:solidFill>
                  <a:srgbClr val="FFFFFF"/>
                </a:solidFill>
                <a:latin typeface="微软雅黑" panose="020B0503020204020204" charset="-122"/>
                <a:ea typeface="微软雅黑" panose="020B0503020204020204" charset="-122"/>
                <a:cs typeface="微软雅黑" panose="020B0503020204020204" charset="-122"/>
              </a:defRPr>
            </a:pPr>
            <a:r>
              <a:rPr sz="4400" b="1">
                <a:solidFill>
                  <a:schemeClr val="tx1"/>
                </a:solidFill>
                <a:latin typeface="微软雅黑" panose="020B0503020204020204" charset="-122"/>
                <a:ea typeface="微软雅黑" panose="020B0503020204020204" charset="-122"/>
                <a:cs typeface="微软雅黑" panose="020B0503020204020204" charset="-122"/>
              </a:rPr>
              <a:t>Hospital Patient Pathway</a:t>
            </a:r>
          </a:p>
        </p:txBody>
      </p:sp>
      <p:sp>
        <p:nvSpPr>
          <p:cNvPr id="2" name="矩形 1"/>
          <p:cNvSpPr>
            <a:spLocks noGrp="1"/>
          </p:cNvSpPr>
          <p:nvPr/>
        </p:nvSpPr>
        <p:spPr>
          <a:xfrm>
            <a:off x="4958080" y="3176905"/>
            <a:ext cx="2275840" cy="514350"/>
          </a:xfrm>
          <a:prstGeom prst="rect">
            <a:avLst/>
          </a:prstGeom>
          <a:noFill/>
          <a:ln w="0">
            <a:noFill/>
          </a:ln>
        </p:spPr>
        <p:txBody>
          <a:bodyPr/>
          <a:lstStyle/>
          <a:p>
            <a:pPr algn="ctr">
              <a:defRPr sz="2475" b="1">
                <a:solidFill>
                  <a:srgbClr val="7FD5C4"/>
                </a:solidFill>
                <a:latin typeface="微软雅黑" panose="020B0503020204020204" charset="-122"/>
                <a:ea typeface="微软雅黑" panose="020B0503020204020204" charset="-122"/>
                <a:cs typeface="微软雅黑" panose="020B0503020204020204" charset="-122"/>
              </a:defRPr>
            </a:pPr>
            <a:r>
              <a:rPr lang="en-US" sz="3200" b="1">
                <a:solidFill>
                  <a:srgbClr val="7FD5C4"/>
                </a:solidFill>
                <a:latin typeface="微软雅黑" panose="020B0503020204020204" charset="-122"/>
                <a:ea typeface="微软雅黑" panose="020B0503020204020204" charset="-122"/>
                <a:cs typeface="微软雅黑" panose="020B0503020204020204" charset="-122"/>
              </a:rPr>
              <a:t>Group 19</a:t>
            </a:r>
          </a:p>
        </p:txBody>
      </p:sp>
      <p:sp>
        <p:nvSpPr>
          <p:cNvPr id="4" name="矩形 3"/>
          <p:cNvSpPr>
            <a:spLocks noGrp="1"/>
          </p:cNvSpPr>
          <p:nvPr/>
        </p:nvSpPr>
        <p:spPr>
          <a:xfrm>
            <a:off x="3789045" y="3895725"/>
            <a:ext cx="4613910" cy="1855470"/>
          </a:xfrm>
          <a:prstGeom prst="rect">
            <a:avLst/>
          </a:prstGeom>
          <a:noFill/>
          <a:ln w="0">
            <a:noFill/>
          </a:ln>
        </p:spPr>
        <p:txBody>
          <a:bodyPr/>
          <a:lstStyle/>
          <a:p>
            <a:pPr algn="ctr">
              <a:defRPr sz="1500" b="0">
                <a:solidFill>
                  <a:srgbClr val="BCCBD7"/>
                </a:solidFill>
                <a:latin typeface="微软雅黑" panose="020B0503020204020204" charset="-122"/>
                <a:ea typeface="微软雅黑" panose="020B0503020204020204" charset="-122"/>
                <a:cs typeface="微软雅黑" panose="020B0503020204020204" charset="-122"/>
              </a:defRPr>
            </a:pPr>
            <a:r>
              <a:rPr lang="en-US" sz="2800" b="0">
                <a:solidFill>
                  <a:schemeClr val="accent1"/>
                </a:solidFill>
                <a:latin typeface="微软雅黑" panose="020B0503020204020204" charset="-122"/>
                <a:ea typeface="微软雅黑" panose="020B0503020204020204" charset="-122"/>
                <a:cs typeface="微软雅黑" panose="020B0503020204020204" charset="-122"/>
              </a:rPr>
              <a:t>Xinran Zhang	23084415</a:t>
            </a:r>
          </a:p>
          <a:p>
            <a:pPr algn="ctr">
              <a:defRPr sz="1500" b="0">
                <a:solidFill>
                  <a:srgbClr val="BCCBD7"/>
                </a:solidFill>
                <a:latin typeface="微软雅黑" panose="020B0503020204020204" charset="-122"/>
                <a:ea typeface="微软雅黑" panose="020B0503020204020204" charset="-122"/>
                <a:cs typeface="微软雅黑" panose="020B0503020204020204" charset="-122"/>
              </a:defRPr>
            </a:pPr>
            <a:r>
              <a:rPr lang="en-US" sz="2800" b="0">
                <a:solidFill>
                  <a:schemeClr val="accent1"/>
                </a:solidFill>
                <a:latin typeface="微软雅黑" panose="020B0503020204020204" charset="-122"/>
                <a:ea typeface="微软雅黑" panose="020B0503020204020204" charset="-122"/>
                <a:cs typeface="微软雅黑" panose="020B0503020204020204" charset="-122"/>
              </a:rPr>
              <a:t>Songjie Qiu       </a:t>
            </a:r>
            <a:r>
              <a:rPr lang="en-US" altLang="zh-CN" sz="2800" b="0">
                <a:solidFill>
                  <a:schemeClr val="accent1"/>
                </a:solidFill>
                <a:latin typeface="微软雅黑" panose="020B0503020204020204" charset="-122"/>
                <a:ea typeface="微软雅黑" panose="020B0503020204020204" charset="-122"/>
                <a:cs typeface="微软雅黑" panose="020B0503020204020204" charset="-122"/>
              </a:rPr>
              <a:t>23084419</a:t>
            </a:r>
          </a:p>
          <a:p>
            <a:pPr algn="ctr">
              <a:defRPr sz="1500" b="0">
                <a:solidFill>
                  <a:srgbClr val="BCCBD7"/>
                </a:solidFill>
                <a:latin typeface="微软雅黑" panose="020B0503020204020204" charset="-122"/>
                <a:ea typeface="微软雅黑" panose="020B0503020204020204" charset="-122"/>
                <a:cs typeface="微软雅黑" panose="020B0503020204020204" charset="-122"/>
              </a:defRPr>
            </a:pPr>
            <a:r>
              <a:rPr lang="en-US" altLang="zh-CN" sz="2800" b="0">
                <a:solidFill>
                  <a:schemeClr val="accent1"/>
                </a:solidFill>
                <a:latin typeface="微软雅黑" panose="020B0503020204020204" charset="-122"/>
                <a:ea typeface="微软雅黑" panose="020B0503020204020204" charset="-122"/>
                <a:cs typeface="微软雅黑" panose="020B0503020204020204" charset="-122"/>
              </a:rPr>
              <a:t>Cathleen Liu      23084383</a:t>
            </a:r>
          </a:p>
          <a:p>
            <a:pPr algn="ctr">
              <a:defRPr sz="1500" b="0">
                <a:solidFill>
                  <a:srgbClr val="BCCBD7"/>
                </a:solidFill>
                <a:latin typeface="微软雅黑" panose="020B0503020204020204" charset="-122"/>
                <a:ea typeface="微软雅黑" panose="020B0503020204020204" charset="-122"/>
                <a:cs typeface="微软雅黑" panose="020B0503020204020204" charset="-122"/>
              </a:defRPr>
            </a:pPr>
            <a:r>
              <a:rPr lang="en-US" altLang="zh-CN" sz="2800" b="0">
                <a:solidFill>
                  <a:schemeClr val="accent1"/>
                </a:solidFill>
                <a:latin typeface="微软雅黑" panose="020B0503020204020204" charset="-122"/>
                <a:ea typeface="微软雅黑" panose="020B0503020204020204" charset="-122"/>
                <a:cs typeface="微软雅黑" panose="020B0503020204020204" charset="-122"/>
              </a:rPr>
              <a:t>Chenyu Yang     23084439</a:t>
            </a:r>
            <a:r>
              <a:rPr lang="en-US" sz="2800" b="0">
                <a:solidFill>
                  <a:schemeClr val="accent1"/>
                </a:solidFill>
                <a:latin typeface="微软雅黑" panose="020B0503020204020204" charset="-122"/>
                <a:ea typeface="微软雅黑" panose="020B0503020204020204" charset="-122"/>
                <a:cs typeface="微软雅黑" panose="020B0503020204020204" charset="-122"/>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矩形 3"/>
          <p:cNvSpPr>
            <a:spLocks noGrp="1"/>
          </p:cNvSpPr>
          <p:nvPr/>
        </p:nvSpPr>
        <p:spPr>
          <a:xfrm>
            <a:off x="476250" y="621030"/>
            <a:ext cx="5715000" cy="285750"/>
          </a:xfrm>
          <a:prstGeom prst="rect">
            <a:avLst/>
          </a:prstGeom>
          <a:noFill/>
          <a:ln w="0">
            <a:noFill/>
          </a:ln>
        </p:spPr>
        <p:txBody>
          <a:bodyPr/>
          <a:lstStyle/>
          <a:p>
            <a:pPr algn="l">
              <a:defRPr sz="1350" b="1">
                <a:solidFill>
                  <a:srgbClr val="306FA4"/>
                </a:solidFill>
                <a:latin typeface="微软雅黑" panose="020B0503020204020204" charset="-122"/>
                <a:ea typeface="微软雅黑" panose="020B0503020204020204" charset="-122"/>
                <a:cs typeface="微软雅黑" panose="020B0503020204020204" charset="-122"/>
              </a:defRPr>
            </a:pPr>
            <a:r>
              <a:rPr sz="3600" b="1">
                <a:solidFill>
                  <a:srgbClr val="306FA4"/>
                </a:solidFill>
                <a:latin typeface="微软雅黑" panose="020B0503020204020204" charset="-122"/>
                <a:ea typeface="微软雅黑" panose="020B0503020204020204" charset="-122"/>
                <a:cs typeface="微软雅黑" panose="020B0503020204020204" charset="-122"/>
              </a:rPr>
              <a:t>CORE CLINICAL PATH</a:t>
            </a:r>
          </a:p>
        </p:txBody>
      </p:sp>
      <p:sp>
        <p:nvSpPr>
          <p:cNvPr id="5" name="BPMN stage 1"/>
          <p:cNvSpPr>
            <a:spLocks noGrp="1"/>
          </p:cNvSpPr>
          <p:nvPr/>
        </p:nvSpPr>
        <p:spPr>
          <a:xfrm>
            <a:off x="642620" y="1619885"/>
            <a:ext cx="1257300" cy="914400"/>
          </a:xfrm>
          <a:prstGeom prst="roundRect">
            <a:avLst>
              <a:gd name="adj" fmla="val 6250"/>
            </a:avLst>
          </a:prstGeom>
          <a:solidFill>
            <a:srgbClr val="EAF1F7"/>
          </a:solidFill>
          <a:ln w="14288">
            <a:solidFill>
              <a:srgbClr val="CBD6DF"/>
            </a:solidFill>
            <a:prstDash val="solid"/>
          </a:ln>
        </p:spPr>
        <p:txBody>
          <a:bodyPr>
            <a:normAutofit/>
          </a:bodyPr>
          <a:lstStyle/>
          <a:p>
            <a:pPr algn="ctr">
              <a:defRPr sz="1200" b="1">
                <a:solidFill>
                  <a:srgbClr val="182F46"/>
                </a:solidFill>
                <a:latin typeface="微软雅黑" panose="020B0503020204020204" charset="-122"/>
                <a:ea typeface="微软雅黑" panose="020B0503020204020204" charset="-122"/>
                <a:cs typeface="微软雅黑" panose="020B0503020204020204" charset="-122"/>
              </a:defRPr>
            </a:pPr>
            <a:r>
              <a:rPr sz="1200" b="1">
                <a:solidFill>
                  <a:srgbClr val="182F46"/>
                </a:solidFill>
                <a:latin typeface="微软雅黑" panose="020B0503020204020204" charset="-122"/>
                <a:ea typeface="微软雅黑" panose="020B0503020204020204" charset="-122"/>
                <a:cs typeface="微软雅黑" panose="020B0503020204020204" charset="-122"/>
              </a:rPr>
              <a:t>01</a:t>
            </a:r>
          </a:p>
          <a:p>
            <a:pPr algn="ctr">
              <a:defRPr sz="1200" b="1">
                <a:solidFill>
                  <a:srgbClr val="182F46"/>
                </a:solidFill>
                <a:latin typeface="微软雅黑" panose="020B0503020204020204" charset="-122"/>
                <a:ea typeface="微软雅黑" panose="020B0503020204020204" charset="-122"/>
                <a:cs typeface="微软雅黑" panose="020B0503020204020204" charset="-122"/>
              </a:defRPr>
            </a:pPr>
            <a:r>
              <a:rPr sz="1200" b="1">
                <a:solidFill>
                  <a:srgbClr val="182F46"/>
                </a:solidFill>
                <a:latin typeface="微软雅黑" panose="020B0503020204020204" charset="-122"/>
                <a:ea typeface="微软雅黑" panose="020B0503020204020204" charset="-122"/>
                <a:cs typeface="微软雅黑" panose="020B0503020204020204" charset="-122"/>
              </a:rPr>
              <a:t>Referral</a:t>
            </a:r>
          </a:p>
          <a:p>
            <a:pPr algn="ctr">
              <a:defRPr sz="1200" b="1">
                <a:solidFill>
                  <a:srgbClr val="182F46"/>
                </a:solidFill>
                <a:latin typeface="微软雅黑" panose="020B0503020204020204" charset="-122"/>
                <a:ea typeface="微软雅黑" panose="020B0503020204020204" charset="-122"/>
                <a:cs typeface="微软雅黑" panose="020B0503020204020204" charset="-122"/>
              </a:defRPr>
            </a:pPr>
            <a:r>
              <a:rPr sz="1200" b="1">
                <a:solidFill>
                  <a:srgbClr val="182F46"/>
                </a:solidFill>
                <a:latin typeface="微软雅黑" panose="020B0503020204020204" charset="-122"/>
                <a:ea typeface="微软雅黑" panose="020B0503020204020204" charset="-122"/>
                <a:cs typeface="微软雅黑" panose="020B0503020204020204" charset="-122"/>
              </a:rPr>
              <a:t>receipt</a:t>
            </a:r>
          </a:p>
        </p:txBody>
      </p:sp>
      <p:sp>
        <p:nvSpPr>
          <p:cNvPr id="6" name="BPMN stage 2"/>
          <p:cNvSpPr>
            <a:spLocks noGrp="1"/>
          </p:cNvSpPr>
          <p:nvPr/>
        </p:nvSpPr>
        <p:spPr>
          <a:xfrm>
            <a:off x="2052320" y="1619885"/>
            <a:ext cx="1257300" cy="914400"/>
          </a:xfrm>
          <a:prstGeom prst="roundRect">
            <a:avLst>
              <a:gd name="adj" fmla="val 6250"/>
            </a:avLst>
          </a:prstGeom>
          <a:solidFill>
            <a:srgbClr val="EAF1F7"/>
          </a:solidFill>
          <a:ln w="14288">
            <a:solidFill>
              <a:srgbClr val="CBD6DF"/>
            </a:solidFill>
            <a:prstDash val="solid"/>
          </a:ln>
        </p:spPr>
        <p:txBody>
          <a:bodyPr>
            <a:normAutofit/>
          </a:bodyPr>
          <a:lstStyle/>
          <a:p>
            <a:pPr algn="ctr">
              <a:defRPr sz="1200" b="1">
                <a:solidFill>
                  <a:srgbClr val="182F46"/>
                </a:solidFill>
                <a:latin typeface="微软雅黑" panose="020B0503020204020204" charset="-122"/>
                <a:ea typeface="微软雅黑" panose="020B0503020204020204" charset="-122"/>
                <a:cs typeface="微软雅黑" panose="020B0503020204020204" charset="-122"/>
              </a:defRPr>
            </a:pPr>
            <a:r>
              <a:rPr sz="1200" b="1">
                <a:solidFill>
                  <a:srgbClr val="182F46"/>
                </a:solidFill>
                <a:latin typeface="微软雅黑" panose="020B0503020204020204" charset="-122"/>
                <a:ea typeface="微软雅黑" panose="020B0503020204020204" charset="-122"/>
                <a:cs typeface="微软雅黑" panose="020B0503020204020204" charset="-122"/>
              </a:rPr>
              <a:t>02</a:t>
            </a:r>
          </a:p>
          <a:p>
            <a:pPr algn="ctr">
              <a:defRPr sz="1200" b="1">
                <a:solidFill>
                  <a:srgbClr val="182F46"/>
                </a:solidFill>
                <a:latin typeface="微软雅黑" panose="020B0503020204020204" charset="-122"/>
                <a:ea typeface="微软雅黑" panose="020B0503020204020204" charset="-122"/>
                <a:cs typeface="微软雅黑" panose="020B0503020204020204" charset="-122"/>
              </a:defRPr>
            </a:pPr>
            <a:r>
              <a:rPr sz="1200" b="1">
                <a:solidFill>
                  <a:srgbClr val="182F46"/>
                </a:solidFill>
                <a:latin typeface="微软雅黑" panose="020B0503020204020204" charset="-122"/>
                <a:ea typeface="微软雅黑" panose="020B0503020204020204" charset="-122"/>
                <a:cs typeface="微软雅黑" panose="020B0503020204020204" charset="-122"/>
              </a:rPr>
              <a:t>Referral</a:t>
            </a:r>
          </a:p>
          <a:p>
            <a:pPr algn="ctr">
              <a:defRPr sz="1200" b="1">
                <a:solidFill>
                  <a:srgbClr val="182F46"/>
                </a:solidFill>
                <a:latin typeface="微软雅黑" panose="020B0503020204020204" charset="-122"/>
                <a:ea typeface="微软雅黑" panose="020B0503020204020204" charset="-122"/>
                <a:cs typeface="微软雅黑" panose="020B0503020204020204" charset="-122"/>
              </a:defRPr>
            </a:pPr>
            <a:r>
              <a:rPr sz="1200" b="1">
                <a:solidFill>
                  <a:srgbClr val="182F46"/>
                </a:solidFill>
                <a:latin typeface="微软雅黑" panose="020B0503020204020204" charset="-122"/>
                <a:ea typeface="微软雅黑" panose="020B0503020204020204" charset="-122"/>
                <a:cs typeface="微软雅黑" panose="020B0503020204020204" charset="-122"/>
              </a:rPr>
              <a:t>review</a:t>
            </a:r>
          </a:p>
        </p:txBody>
      </p:sp>
      <p:sp>
        <p:nvSpPr>
          <p:cNvPr id="7" name="BPMN stage 3"/>
          <p:cNvSpPr>
            <a:spLocks noGrp="1"/>
          </p:cNvSpPr>
          <p:nvPr/>
        </p:nvSpPr>
        <p:spPr>
          <a:xfrm>
            <a:off x="3462020" y="1619885"/>
            <a:ext cx="1257300" cy="914400"/>
          </a:xfrm>
          <a:prstGeom prst="roundRect">
            <a:avLst>
              <a:gd name="adj" fmla="val 6250"/>
            </a:avLst>
          </a:prstGeom>
          <a:solidFill>
            <a:srgbClr val="EAF1F7"/>
          </a:solidFill>
          <a:ln w="14288">
            <a:solidFill>
              <a:srgbClr val="CBD6DF"/>
            </a:solidFill>
            <a:prstDash val="solid"/>
          </a:ln>
        </p:spPr>
        <p:txBody>
          <a:bodyPr>
            <a:normAutofit/>
          </a:bodyPr>
          <a:lstStyle/>
          <a:p>
            <a:pPr algn="ctr">
              <a:defRPr sz="1200" b="1">
                <a:solidFill>
                  <a:srgbClr val="182F46"/>
                </a:solidFill>
                <a:latin typeface="微软雅黑" panose="020B0503020204020204" charset="-122"/>
                <a:ea typeface="微软雅黑" panose="020B0503020204020204" charset="-122"/>
                <a:cs typeface="微软雅黑" panose="020B0503020204020204" charset="-122"/>
              </a:defRPr>
            </a:pPr>
            <a:r>
              <a:rPr sz="1200" b="1">
                <a:solidFill>
                  <a:srgbClr val="182F46"/>
                </a:solidFill>
                <a:latin typeface="微软雅黑" panose="020B0503020204020204" charset="-122"/>
                <a:ea typeface="微软雅黑" panose="020B0503020204020204" charset="-122"/>
                <a:cs typeface="微软雅黑" panose="020B0503020204020204" charset="-122"/>
              </a:rPr>
              <a:t>03</a:t>
            </a:r>
          </a:p>
          <a:p>
            <a:pPr algn="ctr">
              <a:defRPr sz="1200" b="1">
                <a:solidFill>
                  <a:srgbClr val="182F46"/>
                </a:solidFill>
                <a:latin typeface="微软雅黑" panose="020B0503020204020204" charset="-122"/>
                <a:ea typeface="微软雅黑" panose="020B0503020204020204" charset="-122"/>
                <a:cs typeface="微软雅黑" panose="020B0503020204020204" charset="-122"/>
              </a:defRPr>
            </a:pPr>
            <a:r>
              <a:rPr sz="1200" b="1">
                <a:solidFill>
                  <a:srgbClr val="182F46"/>
                </a:solidFill>
                <a:latin typeface="微软雅黑" panose="020B0503020204020204" charset="-122"/>
                <a:ea typeface="微软雅黑" panose="020B0503020204020204" charset="-122"/>
                <a:cs typeface="微软雅黑" panose="020B0503020204020204" charset="-122"/>
              </a:rPr>
              <a:t>Initial</a:t>
            </a:r>
          </a:p>
          <a:p>
            <a:pPr algn="ctr">
              <a:defRPr sz="1200" b="1">
                <a:solidFill>
                  <a:srgbClr val="182F46"/>
                </a:solidFill>
                <a:latin typeface="微软雅黑" panose="020B0503020204020204" charset="-122"/>
                <a:ea typeface="微软雅黑" panose="020B0503020204020204" charset="-122"/>
                <a:cs typeface="微软雅黑" panose="020B0503020204020204" charset="-122"/>
              </a:defRPr>
            </a:pPr>
            <a:r>
              <a:rPr sz="1200" b="1">
                <a:solidFill>
                  <a:srgbClr val="182F46"/>
                </a:solidFill>
                <a:latin typeface="微软雅黑" panose="020B0503020204020204" charset="-122"/>
                <a:ea typeface="微软雅黑" panose="020B0503020204020204" charset="-122"/>
                <a:cs typeface="微软雅黑" panose="020B0503020204020204" charset="-122"/>
              </a:rPr>
              <a:t>consultation</a:t>
            </a:r>
          </a:p>
        </p:txBody>
      </p:sp>
      <p:sp>
        <p:nvSpPr>
          <p:cNvPr id="8" name="BPMN stage 4"/>
          <p:cNvSpPr>
            <a:spLocks noGrp="1"/>
          </p:cNvSpPr>
          <p:nvPr/>
        </p:nvSpPr>
        <p:spPr>
          <a:xfrm>
            <a:off x="4871720" y="1619885"/>
            <a:ext cx="1257300" cy="914400"/>
          </a:xfrm>
          <a:prstGeom prst="roundRect">
            <a:avLst>
              <a:gd name="adj" fmla="val 6250"/>
            </a:avLst>
          </a:prstGeom>
          <a:solidFill>
            <a:srgbClr val="EAF1F7"/>
          </a:solidFill>
          <a:ln w="14288">
            <a:solidFill>
              <a:srgbClr val="CBD6DF"/>
            </a:solidFill>
            <a:prstDash val="solid"/>
          </a:ln>
        </p:spPr>
        <p:txBody>
          <a:bodyPr>
            <a:normAutofit/>
          </a:bodyPr>
          <a:lstStyle/>
          <a:p>
            <a:pPr algn="ctr">
              <a:defRPr sz="1200" b="1">
                <a:solidFill>
                  <a:srgbClr val="182F46"/>
                </a:solidFill>
                <a:latin typeface="微软雅黑" panose="020B0503020204020204" charset="-122"/>
                <a:ea typeface="微软雅黑" panose="020B0503020204020204" charset="-122"/>
                <a:cs typeface="微软雅黑" panose="020B0503020204020204" charset="-122"/>
              </a:defRPr>
            </a:pPr>
            <a:r>
              <a:rPr sz="1200" b="1">
                <a:solidFill>
                  <a:srgbClr val="182F46"/>
                </a:solidFill>
                <a:latin typeface="微软雅黑" panose="020B0503020204020204" charset="-122"/>
                <a:ea typeface="微软雅黑" panose="020B0503020204020204" charset="-122"/>
                <a:cs typeface="微软雅黑" panose="020B0503020204020204" charset="-122"/>
              </a:rPr>
              <a:t>04</a:t>
            </a:r>
          </a:p>
          <a:p>
            <a:pPr algn="ctr">
              <a:defRPr sz="1200" b="1">
                <a:solidFill>
                  <a:srgbClr val="182F46"/>
                </a:solidFill>
                <a:latin typeface="微软雅黑" panose="020B0503020204020204" charset="-122"/>
                <a:ea typeface="微软雅黑" panose="020B0503020204020204" charset="-122"/>
                <a:cs typeface="微软雅黑" panose="020B0503020204020204" charset="-122"/>
              </a:defRPr>
            </a:pPr>
            <a:r>
              <a:rPr sz="1200" b="1">
                <a:solidFill>
                  <a:srgbClr val="182F46"/>
                </a:solidFill>
                <a:latin typeface="微软雅黑" panose="020B0503020204020204" charset="-122"/>
                <a:ea typeface="微软雅黑" panose="020B0503020204020204" charset="-122"/>
                <a:cs typeface="微软雅黑" panose="020B0503020204020204" charset="-122"/>
              </a:rPr>
              <a:t>Diagnosis &amp;</a:t>
            </a:r>
          </a:p>
          <a:p>
            <a:pPr algn="ctr">
              <a:defRPr sz="1200" b="1">
                <a:solidFill>
                  <a:srgbClr val="182F46"/>
                </a:solidFill>
                <a:latin typeface="微软雅黑" panose="020B0503020204020204" charset="-122"/>
                <a:ea typeface="微软雅黑" panose="020B0503020204020204" charset="-122"/>
                <a:cs typeface="微软雅黑" panose="020B0503020204020204" charset="-122"/>
              </a:defRPr>
            </a:pPr>
            <a:r>
              <a:rPr sz="1200" b="1">
                <a:solidFill>
                  <a:srgbClr val="182F46"/>
                </a:solidFill>
                <a:latin typeface="微软雅黑" panose="020B0503020204020204" charset="-122"/>
                <a:ea typeface="微软雅黑" panose="020B0503020204020204" charset="-122"/>
                <a:cs typeface="微软雅黑" panose="020B0503020204020204" charset="-122"/>
              </a:rPr>
              <a:t>consent</a:t>
            </a:r>
          </a:p>
        </p:txBody>
      </p:sp>
      <p:sp>
        <p:nvSpPr>
          <p:cNvPr id="9" name="BPMN stage 5"/>
          <p:cNvSpPr>
            <a:spLocks noGrp="1"/>
          </p:cNvSpPr>
          <p:nvPr/>
        </p:nvSpPr>
        <p:spPr>
          <a:xfrm>
            <a:off x="6281420" y="1619885"/>
            <a:ext cx="1257300" cy="914400"/>
          </a:xfrm>
          <a:prstGeom prst="roundRect">
            <a:avLst>
              <a:gd name="adj" fmla="val 6250"/>
            </a:avLst>
          </a:prstGeom>
          <a:solidFill>
            <a:srgbClr val="E7F4F1"/>
          </a:solidFill>
          <a:ln w="14288">
            <a:solidFill>
              <a:srgbClr val="CBD6DF"/>
            </a:solidFill>
            <a:prstDash val="solid"/>
          </a:ln>
        </p:spPr>
        <p:txBody>
          <a:bodyPr>
            <a:normAutofit/>
          </a:bodyPr>
          <a:lstStyle/>
          <a:p>
            <a:pPr algn="ctr">
              <a:defRPr sz="1200" b="1">
                <a:solidFill>
                  <a:srgbClr val="182F46"/>
                </a:solidFill>
                <a:latin typeface="微软雅黑" panose="020B0503020204020204" charset="-122"/>
                <a:ea typeface="微软雅黑" panose="020B0503020204020204" charset="-122"/>
                <a:cs typeface="微软雅黑" panose="020B0503020204020204" charset="-122"/>
              </a:defRPr>
            </a:pPr>
            <a:r>
              <a:rPr sz="1200" b="1">
                <a:solidFill>
                  <a:srgbClr val="182F46"/>
                </a:solidFill>
                <a:latin typeface="微软雅黑" panose="020B0503020204020204" charset="-122"/>
                <a:ea typeface="微软雅黑" panose="020B0503020204020204" charset="-122"/>
                <a:cs typeface="微软雅黑" panose="020B0503020204020204" charset="-122"/>
              </a:rPr>
              <a:t>05</a:t>
            </a:r>
          </a:p>
          <a:p>
            <a:pPr algn="ctr">
              <a:defRPr sz="1200" b="1">
                <a:solidFill>
                  <a:srgbClr val="182F46"/>
                </a:solidFill>
                <a:latin typeface="微软雅黑" panose="020B0503020204020204" charset="-122"/>
                <a:ea typeface="微软雅黑" panose="020B0503020204020204" charset="-122"/>
                <a:cs typeface="微软雅黑" panose="020B0503020204020204" charset="-122"/>
              </a:defRPr>
            </a:pPr>
            <a:r>
              <a:rPr sz="1200" b="1">
                <a:solidFill>
                  <a:srgbClr val="182F46"/>
                </a:solidFill>
                <a:latin typeface="微软雅黑" panose="020B0503020204020204" charset="-122"/>
                <a:ea typeface="微软雅黑" panose="020B0503020204020204" charset="-122"/>
                <a:cs typeface="微软雅黑" panose="020B0503020204020204" charset="-122"/>
              </a:rPr>
              <a:t>Treatment &amp;</a:t>
            </a:r>
          </a:p>
          <a:p>
            <a:pPr algn="ctr">
              <a:defRPr sz="1200" b="1">
                <a:solidFill>
                  <a:srgbClr val="182F46"/>
                </a:solidFill>
                <a:latin typeface="微软雅黑" panose="020B0503020204020204" charset="-122"/>
                <a:ea typeface="微软雅黑" panose="020B0503020204020204" charset="-122"/>
                <a:cs typeface="微软雅黑" panose="020B0503020204020204" charset="-122"/>
              </a:defRPr>
            </a:pPr>
            <a:r>
              <a:rPr sz="1200" b="1">
                <a:solidFill>
                  <a:srgbClr val="182F46"/>
                </a:solidFill>
                <a:latin typeface="微软雅黑" panose="020B0503020204020204" charset="-122"/>
                <a:ea typeface="微软雅黑" panose="020B0503020204020204" charset="-122"/>
                <a:cs typeface="微软雅黑" panose="020B0503020204020204" charset="-122"/>
              </a:rPr>
              <a:t>services</a:t>
            </a:r>
          </a:p>
        </p:txBody>
      </p:sp>
      <p:sp>
        <p:nvSpPr>
          <p:cNvPr id="10" name="BPMN stage 6"/>
          <p:cNvSpPr>
            <a:spLocks noGrp="1"/>
          </p:cNvSpPr>
          <p:nvPr/>
        </p:nvSpPr>
        <p:spPr>
          <a:xfrm>
            <a:off x="7691120" y="1619885"/>
            <a:ext cx="1257300" cy="914400"/>
          </a:xfrm>
          <a:prstGeom prst="roundRect">
            <a:avLst>
              <a:gd name="adj" fmla="val 6250"/>
            </a:avLst>
          </a:prstGeom>
          <a:solidFill>
            <a:srgbClr val="E7F4F1"/>
          </a:solidFill>
          <a:ln w="14288">
            <a:solidFill>
              <a:srgbClr val="CBD6DF"/>
            </a:solidFill>
            <a:prstDash val="solid"/>
          </a:ln>
        </p:spPr>
        <p:txBody>
          <a:bodyPr>
            <a:normAutofit/>
          </a:bodyPr>
          <a:lstStyle/>
          <a:p>
            <a:pPr algn="ctr">
              <a:defRPr sz="1200" b="1">
                <a:solidFill>
                  <a:srgbClr val="182F46"/>
                </a:solidFill>
                <a:latin typeface="微软雅黑" panose="020B0503020204020204" charset="-122"/>
                <a:ea typeface="微软雅黑" panose="020B0503020204020204" charset="-122"/>
                <a:cs typeface="微软雅黑" panose="020B0503020204020204" charset="-122"/>
              </a:defRPr>
            </a:pPr>
            <a:r>
              <a:rPr sz="1200" b="1">
                <a:solidFill>
                  <a:srgbClr val="182F46"/>
                </a:solidFill>
                <a:latin typeface="微软雅黑" panose="020B0503020204020204" charset="-122"/>
                <a:ea typeface="微软雅黑" panose="020B0503020204020204" charset="-122"/>
                <a:cs typeface="微软雅黑" panose="020B0503020204020204" charset="-122"/>
              </a:rPr>
              <a:t>06</a:t>
            </a:r>
          </a:p>
          <a:p>
            <a:pPr algn="ctr">
              <a:defRPr sz="1200" b="1">
                <a:solidFill>
                  <a:srgbClr val="182F46"/>
                </a:solidFill>
                <a:latin typeface="微软雅黑" panose="020B0503020204020204" charset="-122"/>
                <a:ea typeface="微软雅黑" panose="020B0503020204020204" charset="-122"/>
                <a:cs typeface="微软雅黑" panose="020B0503020204020204" charset="-122"/>
              </a:defRPr>
            </a:pPr>
            <a:r>
              <a:rPr sz="1200" b="1">
                <a:solidFill>
                  <a:srgbClr val="182F46"/>
                </a:solidFill>
                <a:latin typeface="微软雅黑" panose="020B0503020204020204" charset="-122"/>
                <a:ea typeface="微软雅黑" panose="020B0503020204020204" charset="-122"/>
                <a:cs typeface="微软雅黑" panose="020B0503020204020204" charset="-122"/>
              </a:rPr>
              <a:t>Funding</a:t>
            </a:r>
          </a:p>
          <a:p>
            <a:pPr algn="ctr">
              <a:defRPr sz="1200" b="1">
                <a:solidFill>
                  <a:srgbClr val="182F46"/>
                </a:solidFill>
                <a:latin typeface="微软雅黑" panose="020B0503020204020204" charset="-122"/>
                <a:ea typeface="微软雅黑" panose="020B0503020204020204" charset="-122"/>
                <a:cs typeface="微软雅黑" panose="020B0503020204020204" charset="-122"/>
              </a:defRPr>
            </a:pPr>
            <a:r>
              <a:rPr sz="1200" b="1">
                <a:solidFill>
                  <a:srgbClr val="182F46"/>
                </a:solidFill>
                <a:latin typeface="微软雅黑" panose="020B0503020204020204" charset="-122"/>
                <a:ea typeface="微软雅黑" panose="020B0503020204020204" charset="-122"/>
                <a:cs typeface="微软雅黑" panose="020B0503020204020204" charset="-122"/>
              </a:rPr>
              <a:t>verification</a:t>
            </a:r>
          </a:p>
        </p:txBody>
      </p:sp>
      <p:sp>
        <p:nvSpPr>
          <p:cNvPr id="11" name="BPMN stage 7"/>
          <p:cNvSpPr>
            <a:spLocks noGrp="1"/>
          </p:cNvSpPr>
          <p:nvPr/>
        </p:nvSpPr>
        <p:spPr>
          <a:xfrm>
            <a:off x="9100820" y="1619885"/>
            <a:ext cx="1257300" cy="914400"/>
          </a:xfrm>
          <a:prstGeom prst="roundRect">
            <a:avLst>
              <a:gd name="adj" fmla="val 6250"/>
            </a:avLst>
          </a:prstGeom>
          <a:solidFill>
            <a:srgbClr val="E7F4F1"/>
          </a:solidFill>
          <a:ln w="14288">
            <a:solidFill>
              <a:srgbClr val="CBD6DF"/>
            </a:solidFill>
            <a:prstDash val="solid"/>
          </a:ln>
        </p:spPr>
        <p:txBody>
          <a:bodyPr>
            <a:normAutofit/>
          </a:bodyPr>
          <a:lstStyle/>
          <a:p>
            <a:pPr algn="ctr">
              <a:defRPr sz="1200" b="1">
                <a:solidFill>
                  <a:srgbClr val="182F46"/>
                </a:solidFill>
                <a:latin typeface="微软雅黑" panose="020B0503020204020204" charset="-122"/>
                <a:ea typeface="微软雅黑" panose="020B0503020204020204" charset="-122"/>
                <a:cs typeface="微软雅黑" panose="020B0503020204020204" charset="-122"/>
              </a:defRPr>
            </a:pPr>
            <a:r>
              <a:rPr sz="1200" b="1">
                <a:solidFill>
                  <a:srgbClr val="182F46"/>
                </a:solidFill>
                <a:latin typeface="微软雅黑" panose="020B0503020204020204" charset="-122"/>
                <a:ea typeface="微软雅黑" panose="020B0503020204020204" charset="-122"/>
                <a:cs typeface="微软雅黑" panose="020B0503020204020204" charset="-122"/>
              </a:rPr>
              <a:t>07</a:t>
            </a:r>
          </a:p>
          <a:p>
            <a:pPr algn="ctr">
              <a:defRPr sz="1200" b="1">
                <a:solidFill>
                  <a:srgbClr val="182F46"/>
                </a:solidFill>
                <a:latin typeface="微软雅黑" panose="020B0503020204020204" charset="-122"/>
                <a:ea typeface="微软雅黑" panose="020B0503020204020204" charset="-122"/>
                <a:cs typeface="微软雅黑" panose="020B0503020204020204" charset="-122"/>
              </a:defRPr>
            </a:pPr>
            <a:r>
              <a:rPr sz="1200" b="1">
                <a:solidFill>
                  <a:srgbClr val="182F46"/>
                </a:solidFill>
                <a:latin typeface="微软雅黑" panose="020B0503020204020204" charset="-122"/>
                <a:ea typeface="微软雅黑" panose="020B0503020204020204" charset="-122"/>
                <a:cs typeface="微软雅黑" panose="020B0503020204020204" charset="-122"/>
              </a:rPr>
              <a:t>Payment</a:t>
            </a:r>
          </a:p>
          <a:p>
            <a:pPr algn="ctr">
              <a:defRPr sz="1200" b="1">
                <a:solidFill>
                  <a:srgbClr val="182F46"/>
                </a:solidFill>
                <a:latin typeface="微软雅黑" panose="020B0503020204020204" charset="-122"/>
                <a:ea typeface="微软雅黑" panose="020B0503020204020204" charset="-122"/>
                <a:cs typeface="微软雅黑" panose="020B0503020204020204" charset="-122"/>
              </a:defRPr>
            </a:pPr>
            <a:r>
              <a:rPr sz="1200" b="1">
                <a:solidFill>
                  <a:srgbClr val="182F46"/>
                </a:solidFill>
                <a:latin typeface="微软雅黑" panose="020B0503020204020204" charset="-122"/>
                <a:ea typeface="微软雅黑" panose="020B0503020204020204" charset="-122"/>
                <a:cs typeface="微软雅黑" panose="020B0503020204020204" charset="-122"/>
              </a:rPr>
              <a:t>result</a:t>
            </a:r>
          </a:p>
        </p:txBody>
      </p:sp>
      <p:sp>
        <p:nvSpPr>
          <p:cNvPr id="12" name="BPMN stage 8"/>
          <p:cNvSpPr>
            <a:spLocks noGrp="1"/>
          </p:cNvSpPr>
          <p:nvPr/>
        </p:nvSpPr>
        <p:spPr>
          <a:xfrm>
            <a:off x="10510520" y="1619885"/>
            <a:ext cx="1257300" cy="914400"/>
          </a:xfrm>
          <a:prstGeom prst="roundRect">
            <a:avLst>
              <a:gd name="adj" fmla="val 6250"/>
            </a:avLst>
          </a:prstGeom>
          <a:solidFill>
            <a:srgbClr val="E7F4F1"/>
          </a:solidFill>
          <a:ln w="14288">
            <a:solidFill>
              <a:srgbClr val="CBD6DF"/>
            </a:solidFill>
            <a:prstDash val="solid"/>
          </a:ln>
        </p:spPr>
        <p:txBody>
          <a:bodyPr>
            <a:normAutofit/>
          </a:bodyPr>
          <a:lstStyle/>
          <a:p>
            <a:pPr algn="ctr">
              <a:defRPr sz="1200" b="1">
                <a:solidFill>
                  <a:srgbClr val="182F46"/>
                </a:solidFill>
                <a:latin typeface="微软雅黑" panose="020B0503020204020204" charset="-122"/>
                <a:ea typeface="微软雅黑" panose="020B0503020204020204" charset="-122"/>
                <a:cs typeface="微软雅黑" panose="020B0503020204020204" charset="-122"/>
              </a:defRPr>
            </a:pPr>
            <a:r>
              <a:rPr sz="1200" b="1">
                <a:solidFill>
                  <a:srgbClr val="182F46"/>
                </a:solidFill>
                <a:latin typeface="微软雅黑" panose="020B0503020204020204" charset="-122"/>
                <a:ea typeface="微软雅黑" panose="020B0503020204020204" charset="-122"/>
                <a:cs typeface="微软雅黑" panose="020B0503020204020204" charset="-122"/>
              </a:rPr>
              <a:t>08</a:t>
            </a:r>
          </a:p>
          <a:p>
            <a:pPr algn="ctr">
              <a:defRPr sz="1200" b="1">
                <a:solidFill>
                  <a:srgbClr val="182F46"/>
                </a:solidFill>
                <a:latin typeface="微软雅黑" panose="020B0503020204020204" charset="-122"/>
                <a:ea typeface="微软雅黑" panose="020B0503020204020204" charset="-122"/>
                <a:cs typeface="微软雅黑" panose="020B0503020204020204" charset="-122"/>
              </a:defRPr>
            </a:pPr>
            <a:r>
              <a:rPr sz="1200" b="1">
                <a:solidFill>
                  <a:srgbClr val="182F46"/>
                </a:solidFill>
                <a:latin typeface="微软雅黑" panose="020B0503020204020204" charset="-122"/>
                <a:ea typeface="微软雅黑" panose="020B0503020204020204" charset="-122"/>
                <a:cs typeface="微软雅黑" panose="020B0503020204020204" charset="-122"/>
              </a:rPr>
              <a:t>Continuation</a:t>
            </a:r>
          </a:p>
          <a:p>
            <a:pPr algn="ctr">
              <a:defRPr sz="1200" b="1">
                <a:solidFill>
                  <a:srgbClr val="182F46"/>
                </a:solidFill>
                <a:latin typeface="微软雅黑" panose="020B0503020204020204" charset="-122"/>
                <a:ea typeface="微软雅黑" panose="020B0503020204020204" charset="-122"/>
                <a:cs typeface="微软雅黑" panose="020B0503020204020204" charset="-122"/>
              </a:defRPr>
            </a:pPr>
            <a:r>
              <a:rPr sz="1200" b="1">
                <a:solidFill>
                  <a:srgbClr val="182F46"/>
                </a:solidFill>
                <a:latin typeface="微软雅黑" panose="020B0503020204020204" charset="-122"/>
                <a:ea typeface="微软雅黑" panose="020B0503020204020204" charset="-122"/>
                <a:cs typeface="微软雅黑" panose="020B0503020204020204" charset="-122"/>
              </a:rPr>
              <a:t>review</a:t>
            </a:r>
          </a:p>
        </p:txBody>
      </p:sp>
      <p:cxnSp>
        <p:nvCxnSpPr>
          <p:cNvPr id="41" name="直接箭头连接符 40"/>
          <p:cNvCxnSpPr>
            <a:stCxn id="5" idx="3"/>
            <a:endCxn id="6" idx="1"/>
          </p:cNvCxnSpPr>
          <p:nvPr/>
        </p:nvCxnSpPr>
        <p:spPr>
          <a:xfrm>
            <a:off x="1899920" y="2077085"/>
            <a:ext cx="152400" cy="0"/>
          </a:xfrm>
          <a:prstGeom prst="straightConnector1">
            <a:avLst/>
          </a:prstGeom>
          <a:ln w="20955">
            <a:solidFill>
              <a:srgbClr val="168C83"/>
            </a:solidFill>
            <a:prstDash val="solid"/>
            <a:tailEnd type="arrow" w="med" len="med"/>
          </a:ln>
        </p:spPr>
      </p:cxnSp>
      <p:cxnSp>
        <p:nvCxnSpPr>
          <p:cNvPr id="42" name="直接箭头连接符 41"/>
          <p:cNvCxnSpPr>
            <a:stCxn id="6" idx="3"/>
            <a:endCxn id="7" idx="1"/>
          </p:cNvCxnSpPr>
          <p:nvPr/>
        </p:nvCxnSpPr>
        <p:spPr>
          <a:xfrm>
            <a:off x="3309620" y="2077085"/>
            <a:ext cx="152400" cy="0"/>
          </a:xfrm>
          <a:prstGeom prst="straightConnector1">
            <a:avLst/>
          </a:prstGeom>
          <a:ln w="20955">
            <a:solidFill>
              <a:srgbClr val="168C83"/>
            </a:solidFill>
            <a:prstDash val="solid"/>
            <a:tailEnd type="arrow" w="med" len="med"/>
          </a:ln>
        </p:spPr>
      </p:cxnSp>
      <p:cxnSp>
        <p:nvCxnSpPr>
          <p:cNvPr id="43" name="直接箭头连接符 42"/>
          <p:cNvCxnSpPr>
            <a:stCxn id="7" idx="3"/>
            <a:endCxn id="8" idx="1"/>
          </p:cNvCxnSpPr>
          <p:nvPr/>
        </p:nvCxnSpPr>
        <p:spPr>
          <a:xfrm>
            <a:off x="4719320" y="2077085"/>
            <a:ext cx="152400" cy="0"/>
          </a:xfrm>
          <a:prstGeom prst="straightConnector1">
            <a:avLst/>
          </a:prstGeom>
          <a:ln w="20955">
            <a:solidFill>
              <a:srgbClr val="168C83"/>
            </a:solidFill>
            <a:prstDash val="solid"/>
            <a:tailEnd type="arrow" w="med" len="med"/>
          </a:ln>
        </p:spPr>
      </p:cxnSp>
      <p:cxnSp>
        <p:nvCxnSpPr>
          <p:cNvPr id="44" name="直接箭头连接符 43"/>
          <p:cNvCxnSpPr>
            <a:stCxn id="8" idx="3"/>
            <a:endCxn id="9" idx="1"/>
          </p:cNvCxnSpPr>
          <p:nvPr/>
        </p:nvCxnSpPr>
        <p:spPr>
          <a:xfrm>
            <a:off x="6129020" y="2077085"/>
            <a:ext cx="152400" cy="0"/>
          </a:xfrm>
          <a:prstGeom prst="straightConnector1">
            <a:avLst/>
          </a:prstGeom>
          <a:ln w="20955">
            <a:solidFill>
              <a:srgbClr val="168C83"/>
            </a:solidFill>
            <a:prstDash val="solid"/>
            <a:tailEnd type="arrow" w="med" len="med"/>
          </a:ln>
        </p:spPr>
      </p:cxnSp>
      <p:cxnSp>
        <p:nvCxnSpPr>
          <p:cNvPr id="45" name="直接箭头连接符 44"/>
          <p:cNvCxnSpPr>
            <a:stCxn id="9" idx="3"/>
            <a:endCxn id="10" idx="1"/>
          </p:cNvCxnSpPr>
          <p:nvPr/>
        </p:nvCxnSpPr>
        <p:spPr>
          <a:xfrm>
            <a:off x="7538720" y="2077085"/>
            <a:ext cx="152400" cy="0"/>
          </a:xfrm>
          <a:prstGeom prst="straightConnector1">
            <a:avLst/>
          </a:prstGeom>
          <a:ln w="20955">
            <a:solidFill>
              <a:srgbClr val="168C83"/>
            </a:solidFill>
            <a:prstDash val="solid"/>
            <a:tailEnd type="arrow" w="med" len="med"/>
          </a:ln>
        </p:spPr>
      </p:cxnSp>
      <p:cxnSp>
        <p:nvCxnSpPr>
          <p:cNvPr id="46" name="直接箭头连接符 45"/>
          <p:cNvCxnSpPr>
            <a:stCxn id="10" idx="3"/>
            <a:endCxn id="11" idx="1"/>
          </p:cNvCxnSpPr>
          <p:nvPr/>
        </p:nvCxnSpPr>
        <p:spPr>
          <a:xfrm>
            <a:off x="8948420" y="2077085"/>
            <a:ext cx="152400" cy="0"/>
          </a:xfrm>
          <a:prstGeom prst="straightConnector1">
            <a:avLst/>
          </a:prstGeom>
          <a:ln w="20955">
            <a:solidFill>
              <a:srgbClr val="168C83"/>
            </a:solidFill>
            <a:prstDash val="solid"/>
            <a:tailEnd type="arrow" w="med" len="med"/>
          </a:ln>
        </p:spPr>
      </p:cxnSp>
      <p:cxnSp>
        <p:nvCxnSpPr>
          <p:cNvPr id="47" name="直接箭头连接符 46"/>
          <p:cNvCxnSpPr>
            <a:stCxn id="11" idx="3"/>
            <a:endCxn id="12" idx="1"/>
          </p:cNvCxnSpPr>
          <p:nvPr/>
        </p:nvCxnSpPr>
        <p:spPr>
          <a:xfrm>
            <a:off x="10358120" y="2077085"/>
            <a:ext cx="152400" cy="0"/>
          </a:xfrm>
          <a:prstGeom prst="straightConnector1">
            <a:avLst/>
          </a:prstGeom>
          <a:ln w="20955">
            <a:solidFill>
              <a:srgbClr val="168C83"/>
            </a:solidFill>
            <a:prstDash val="solid"/>
            <a:tailEnd type="arrow" w="med" len="med"/>
          </a:ln>
        </p:spPr>
      </p:cxnSp>
      <p:sp>
        <p:nvSpPr>
          <p:cNvPr id="20" name="矩形 19"/>
          <p:cNvSpPr>
            <a:spLocks noGrp="1"/>
          </p:cNvSpPr>
          <p:nvPr/>
        </p:nvSpPr>
        <p:spPr>
          <a:xfrm>
            <a:off x="642620" y="2781300"/>
            <a:ext cx="10477500" cy="323850"/>
          </a:xfrm>
          <a:prstGeom prst="rect">
            <a:avLst/>
          </a:prstGeom>
          <a:noFill/>
          <a:ln w="0">
            <a:noFill/>
          </a:ln>
        </p:spPr>
        <p:txBody>
          <a:bodyPr/>
          <a:lstStyle/>
          <a:p>
            <a:pPr algn="l">
              <a:defRPr sz="1425" b="1">
                <a:solidFill>
                  <a:srgbClr val="132B42"/>
                </a:solidFill>
                <a:latin typeface="微软雅黑" panose="020B0503020204020204" charset="-122"/>
                <a:ea typeface="微软雅黑" panose="020B0503020204020204" charset="-122"/>
                <a:cs typeface="微软雅黑" panose="020B0503020204020204" charset="-122"/>
              </a:defRPr>
            </a:pPr>
            <a:r>
              <a:rPr sz="1800" b="1" dirty="0">
                <a:solidFill>
                  <a:srgbClr val="132B42"/>
                </a:solidFill>
                <a:latin typeface="微软雅黑" panose="020B0503020204020204" charset="-122"/>
                <a:ea typeface="微软雅黑" panose="020B0503020204020204" charset="-122"/>
                <a:cs typeface="微软雅黑" panose="020B0503020204020204" charset="-122"/>
              </a:rPr>
              <a:t>P08 may repeat the treatment cycle, schedule a later review, or route a stopped case to refund handling.</a:t>
            </a:r>
          </a:p>
        </p:txBody>
      </p:sp>
      <p:sp>
        <p:nvSpPr>
          <p:cNvPr id="22" name="矩形 21"/>
          <p:cNvSpPr>
            <a:spLocks noGrp="1"/>
          </p:cNvSpPr>
          <p:nvPr/>
        </p:nvSpPr>
        <p:spPr>
          <a:xfrm>
            <a:off x="762000" y="3895724"/>
            <a:ext cx="1137920" cy="414005"/>
          </a:xfrm>
          <a:prstGeom prst="rect">
            <a:avLst/>
          </a:prstGeom>
          <a:noFill/>
          <a:ln w="0">
            <a:noFill/>
          </a:ln>
        </p:spPr>
        <p:txBody>
          <a:bodyPr>
            <a:normAutofit fontScale="99615"/>
          </a:bodyPr>
          <a:lstStyle/>
          <a:p>
            <a:pPr algn="l">
              <a:defRPr sz="1950" b="1">
                <a:solidFill>
                  <a:srgbClr val="168C83"/>
                </a:solidFill>
                <a:latin typeface="微软雅黑" panose="020B0503020204020204" charset="-122"/>
                <a:ea typeface="微软雅黑" panose="020B0503020204020204" charset="-122"/>
                <a:cs typeface="微软雅黑" panose="020B0503020204020204" charset="-122"/>
              </a:defRPr>
            </a:pPr>
            <a:r>
              <a:rPr sz="2000" b="1" dirty="0">
                <a:solidFill>
                  <a:srgbClr val="168C83"/>
                </a:solidFill>
                <a:latin typeface="微软雅黑" panose="020B0503020204020204" charset="-122"/>
                <a:ea typeface="微软雅黑" panose="020B0503020204020204" charset="-122"/>
                <a:cs typeface="微软雅黑" panose="020B0503020204020204" charset="-122"/>
              </a:rPr>
              <a:t>09–11</a:t>
            </a:r>
          </a:p>
        </p:txBody>
      </p:sp>
      <p:sp>
        <p:nvSpPr>
          <p:cNvPr id="23" name="矩形 22"/>
          <p:cNvSpPr>
            <a:spLocks noGrp="1"/>
          </p:cNvSpPr>
          <p:nvPr/>
        </p:nvSpPr>
        <p:spPr>
          <a:xfrm>
            <a:off x="762000" y="4365625"/>
            <a:ext cx="3238500" cy="619125"/>
          </a:xfrm>
          <a:prstGeom prst="rect">
            <a:avLst/>
          </a:prstGeom>
          <a:noFill/>
          <a:ln w="0">
            <a:noFill/>
          </a:ln>
        </p:spPr>
        <p:txBody>
          <a:bodyPr/>
          <a:lstStyle/>
          <a:p>
            <a:pPr algn="l">
              <a:defRPr sz="1425" b="0">
                <a:solidFill>
                  <a:srgbClr val="182F46"/>
                </a:solidFill>
                <a:latin typeface="微软雅黑" panose="020B0503020204020204" charset="-122"/>
                <a:ea typeface="微软雅黑" panose="020B0503020204020204" charset="-122"/>
                <a:cs typeface="微软雅黑" panose="020B0503020204020204" charset="-122"/>
              </a:defRPr>
            </a:pPr>
            <a:r>
              <a:rPr sz="1800" b="0" dirty="0">
                <a:solidFill>
                  <a:srgbClr val="182F46"/>
                </a:solidFill>
                <a:latin typeface="微软雅黑" panose="020B0503020204020204" charset="-122"/>
                <a:ea typeface="微软雅黑" panose="020B0503020204020204" charset="-122"/>
                <a:cs typeface="微软雅黑" panose="020B0503020204020204" charset="-122"/>
              </a:rPr>
              <a:t>Treatment changes, attendance exceptions, refunds</a:t>
            </a:r>
          </a:p>
        </p:txBody>
      </p:sp>
      <p:sp>
        <p:nvSpPr>
          <p:cNvPr id="24" name="矩形 23"/>
          <p:cNvSpPr>
            <a:spLocks noGrp="1"/>
          </p:cNvSpPr>
          <p:nvPr/>
        </p:nvSpPr>
        <p:spPr>
          <a:xfrm>
            <a:off x="4271645" y="3861435"/>
            <a:ext cx="1137920" cy="448294"/>
          </a:xfrm>
          <a:prstGeom prst="rect">
            <a:avLst/>
          </a:prstGeom>
          <a:noFill/>
          <a:ln w="0">
            <a:noFill/>
          </a:ln>
        </p:spPr>
        <p:txBody>
          <a:bodyPr>
            <a:normAutofit fontScale="99615"/>
          </a:bodyPr>
          <a:lstStyle/>
          <a:p>
            <a:pPr algn="l">
              <a:defRPr sz="1950" b="1">
                <a:solidFill>
                  <a:srgbClr val="168C83"/>
                </a:solidFill>
                <a:latin typeface="微软雅黑" panose="020B0503020204020204" charset="-122"/>
                <a:ea typeface="微软雅黑" panose="020B0503020204020204" charset="-122"/>
                <a:cs typeface="微软雅黑" panose="020B0503020204020204" charset="-122"/>
              </a:defRPr>
            </a:pPr>
            <a:r>
              <a:rPr sz="2000" b="1" dirty="0">
                <a:solidFill>
                  <a:srgbClr val="168C83"/>
                </a:solidFill>
                <a:latin typeface="微软雅黑" panose="020B0503020204020204" charset="-122"/>
                <a:ea typeface="微软雅黑" panose="020B0503020204020204" charset="-122"/>
                <a:cs typeface="微软雅黑" panose="020B0503020204020204" charset="-122"/>
              </a:rPr>
              <a:t>12–14</a:t>
            </a:r>
          </a:p>
        </p:txBody>
      </p:sp>
      <p:sp>
        <p:nvSpPr>
          <p:cNvPr id="25" name="矩形 24"/>
          <p:cNvSpPr>
            <a:spLocks noGrp="1"/>
          </p:cNvSpPr>
          <p:nvPr/>
        </p:nvSpPr>
        <p:spPr>
          <a:xfrm>
            <a:off x="4343400" y="4365625"/>
            <a:ext cx="3027680" cy="619125"/>
          </a:xfrm>
          <a:prstGeom prst="rect">
            <a:avLst/>
          </a:prstGeom>
          <a:noFill/>
          <a:ln w="0">
            <a:noFill/>
          </a:ln>
        </p:spPr>
        <p:txBody>
          <a:bodyPr/>
          <a:lstStyle/>
          <a:p>
            <a:pPr algn="l">
              <a:defRPr sz="1425" b="0">
                <a:solidFill>
                  <a:srgbClr val="182F46"/>
                </a:solidFill>
                <a:latin typeface="微软雅黑" panose="020B0503020204020204" charset="-122"/>
                <a:ea typeface="微软雅黑" panose="020B0503020204020204" charset="-122"/>
                <a:cs typeface="微软雅黑" panose="020B0503020204020204" charset="-122"/>
              </a:defRPr>
            </a:pPr>
            <a:r>
              <a:rPr sz="1800" b="0">
                <a:solidFill>
                  <a:srgbClr val="182F46"/>
                </a:solidFill>
                <a:latin typeface="微软雅黑" panose="020B0503020204020204" charset="-122"/>
                <a:ea typeface="微软雅黑" panose="020B0503020204020204" charset="-122"/>
                <a:cs typeface="微软雅黑" panose="020B0503020204020204" charset="-122"/>
              </a:rPr>
              <a:t>Patient inquiries, medical letters, follow-up booking</a:t>
            </a:r>
          </a:p>
        </p:txBody>
      </p:sp>
      <p:sp>
        <p:nvSpPr>
          <p:cNvPr id="26" name="矩形 25"/>
          <p:cNvSpPr>
            <a:spLocks noGrp="1"/>
          </p:cNvSpPr>
          <p:nvPr/>
        </p:nvSpPr>
        <p:spPr>
          <a:xfrm>
            <a:off x="7823834" y="3861435"/>
            <a:ext cx="1276986" cy="504190"/>
          </a:xfrm>
          <a:prstGeom prst="rect">
            <a:avLst/>
          </a:prstGeom>
          <a:noFill/>
          <a:ln w="0">
            <a:noFill/>
          </a:ln>
        </p:spPr>
        <p:txBody>
          <a:bodyPr>
            <a:normAutofit fontScale="99615"/>
          </a:bodyPr>
          <a:lstStyle/>
          <a:p>
            <a:pPr algn="l">
              <a:defRPr sz="1950" b="1">
                <a:solidFill>
                  <a:srgbClr val="168C83"/>
                </a:solidFill>
                <a:latin typeface="微软雅黑" panose="020B0503020204020204" charset="-122"/>
                <a:ea typeface="微软雅黑" panose="020B0503020204020204" charset="-122"/>
                <a:cs typeface="微软雅黑" panose="020B0503020204020204" charset="-122"/>
              </a:defRPr>
            </a:pPr>
            <a:r>
              <a:rPr sz="2000" b="1" dirty="0">
                <a:solidFill>
                  <a:srgbClr val="168C83"/>
                </a:solidFill>
                <a:latin typeface="微软雅黑" panose="020B0503020204020204" charset="-122"/>
                <a:ea typeface="微软雅黑" panose="020B0503020204020204" charset="-122"/>
                <a:cs typeface="微软雅黑" panose="020B0503020204020204" charset="-122"/>
              </a:rPr>
              <a:t>15–17</a:t>
            </a:r>
          </a:p>
        </p:txBody>
      </p:sp>
      <p:sp>
        <p:nvSpPr>
          <p:cNvPr id="27" name="矩形 26"/>
          <p:cNvSpPr>
            <a:spLocks noGrp="1"/>
          </p:cNvSpPr>
          <p:nvPr/>
        </p:nvSpPr>
        <p:spPr>
          <a:xfrm>
            <a:off x="7896225" y="4365625"/>
            <a:ext cx="3238500" cy="619125"/>
          </a:xfrm>
          <a:prstGeom prst="rect">
            <a:avLst/>
          </a:prstGeom>
          <a:noFill/>
          <a:ln w="0">
            <a:noFill/>
          </a:ln>
        </p:spPr>
        <p:txBody>
          <a:bodyPr/>
          <a:lstStyle/>
          <a:p>
            <a:pPr algn="l">
              <a:defRPr sz="1425" b="0">
                <a:solidFill>
                  <a:srgbClr val="182F46"/>
                </a:solidFill>
                <a:latin typeface="微软雅黑" panose="020B0503020204020204" charset="-122"/>
                <a:ea typeface="微软雅黑" panose="020B0503020204020204" charset="-122"/>
                <a:cs typeface="微软雅黑" panose="020B0503020204020204" charset="-122"/>
              </a:defRPr>
            </a:pPr>
            <a:r>
              <a:rPr sz="1800" b="0">
                <a:solidFill>
                  <a:srgbClr val="182F46"/>
                </a:solidFill>
                <a:latin typeface="微软雅黑" panose="020B0503020204020204" charset="-122"/>
                <a:ea typeface="微软雅黑" panose="020B0503020204020204" charset="-122"/>
                <a:cs typeface="微软雅黑" panose="020B0503020204020204" charset="-122"/>
              </a:rPr>
              <a:t>Monitoring, access and downtime, scheduling escalation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矩形 4"/>
          <p:cNvSpPr>
            <a:spLocks noGrp="1"/>
          </p:cNvSpPr>
          <p:nvPr/>
        </p:nvSpPr>
        <p:spPr>
          <a:xfrm>
            <a:off x="685800" y="400050"/>
            <a:ext cx="10668000" cy="590550"/>
          </a:xfrm>
          <a:prstGeom prst="rect">
            <a:avLst/>
          </a:prstGeom>
          <a:noFill/>
          <a:ln w="0">
            <a:noFill/>
          </a:ln>
        </p:spPr>
        <p:txBody>
          <a:bodyPr>
            <a:normAutofit fontScale="99242" lnSpcReduction="10000"/>
          </a:bodyPr>
          <a:lstStyle/>
          <a:p>
            <a:pPr algn="l">
              <a:defRPr sz="3300" b="1">
                <a:solidFill>
                  <a:srgbClr val="132B42"/>
                </a:solidFill>
                <a:latin typeface="微软雅黑" panose="020B0503020204020204" charset="-122"/>
                <a:ea typeface="微软雅黑" panose="020B0503020204020204" charset="-122"/>
                <a:cs typeface="微软雅黑" panose="020B0503020204020204" charset="-122"/>
              </a:defRPr>
            </a:pPr>
            <a:r>
              <a:rPr sz="3300" b="1">
                <a:solidFill>
                  <a:srgbClr val="132B42"/>
                </a:solidFill>
                <a:latin typeface="微软雅黑" panose="020B0503020204020204" charset="-122"/>
                <a:ea typeface="微软雅黑" panose="020B0503020204020204" charset="-122"/>
                <a:cs typeface="微软雅黑" panose="020B0503020204020204" charset="-122"/>
              </a:rPr>
              <a:t>01  Referral Receipt &amp; Handoffs</a:t>
            </a:r>
          </a:p>
        </p:txBody>
      </p:sp>
      <p:pic>
        <p:nvPicPr>
          <p:cNvPr id="8" name="图片 7"/>
          <p:cNvPicPr>
            <a:picLocks noChangeAspect="1"/>
          </p:cNvPicPr>
          <p:nvPr/>
        </p:nvPicPr>
        <p:blipFill>
          <a:blip r:embed="rId3"/>
          <a:srcRect l="23186" t="16141" r="15744" b="3897"/>
          <a:stretch>
            <a:fillRect/>
          </a:stretch>
        </p:blipFill>
        <p:spPr>
          <a:xfrm>
            <a:off x="1975485" y="1018540"/>
            <a:ext cx="8240395" cy="552831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矩形 4"/>
          <p:cNvSpPr>
            <a:spLocks noGrp="1"/>
          </p:cNvSpPr>
          <p:nvPr/>
        </p:nvSpPr>
        <p:spPr>
          <a:xfrm>
            <a:off x="685800" y="400050"/>
            <a:ext cx="10668000" cy="590550"/>
          </a:xfrm>
          <a:prstGeom prst="rect">
            <a:avLst/>
          </a:prstGeom>
          <a:noFill/>
          <a:ln w="0">
            <a:noFill/>
          </a:ln>
        </p:spPr>
        <p:txBody>
          <a:bodyPr>
            <a:normAutofit fontScale="99242" lnSpcReduction="10000"/>
          </a:bodyPr>
          <a:lstStyle/>
          <a:p>
            <a:pPr algn="l">
              <a:defRPr sz="3300" b="1">
                <a:solidFill>
                  <a:srgbClr val="132B42"/>
                </a:solidFill>
                <a:latin typeface="微软雅黑" panose="020B0503020204020204" charset="-122"/>
                <a:ea typeface="微软雅黑" panose="020B0503020204020204" charset="-122"/>
                <a:cs typeface="微软雅黑" panose="020B0503020204020204" charset="-122"/>
              </a:defRPr>
            </a:pPr>
            <a:r>
              <a:rPr sz="3300" b="1">
                <a:solidFill>
                  <a:srgbClr val="132B42"/>
                </a:solidFill>
                <a:latin typeface="微软雅黑" panose="020B0503020204020204" charset="-122"/>
                <a:ea typeface="微软雅黑" panose="020B0503020204020204" charset="-122"/>
                <a:cs typeface="微软雅黑" panose="020B0503020204020204" charset="-122"/>
              </a:rPr>
              <a:t>02  Referral Review</a:t>
            </a:r>
          </a:p>
        </p:txBody>
      </p:sp>
      <p:pic>
        <p:nvPicPr>
          <p:cNvPr id="8" name="图片 7"/>
          <p:cNvPicPr>
            <a:picLocks noChangeAspect="1"/>
          </p:cNvPicPr>
          <p:nvPr/>
        </p:nvPicPr>
        <p:blipFill>
          <a:blip r:embed="rId3"/>
          <a:srcRect l="16482" t="17603" r="25425" b="16987"/>
          <a:stretch>
            <a:fillRect/>
          </a:stretch>
        </p:blipFill>
        <p:spPr>
          <a:xfrm>
            <a:off x="1395095" y="981075"/>
            <a:ext cx="9249410" cy="533527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矩形 4"/>
          <p:cNvSpPr>
            <a:spLocks noGrp="1"/>
          </p:cNvSpPr>
          <p:nvPr/>
        </p:nvSpPr>
        <p:spPr>
          <a:xfrm>
            <a:off x="685800" y="400050"/>
            <a:ext cx="10668000" cy="590550"/>
          </a:xfrm>
          <a:prstGeom prst="rect">
            <a:avLst/>
          </a:prstGeom>
          <a:noFill/>
          <a:ln w="0">
            <a:noFill/>
          </a:ln>
        </p:spPr>
        <p:txBody>
          <a:bodyPr>
            <a:normAutofit fontScale="99242" lnSpcReduction="10000"/>
          </a:bodyPr>
          <a:lstStyle/>
          <a:p>
            <a:pPr algn="l">
              <a:defRPr sz="3300" b="1">
                <a:solidFill>
                  <a:srgbClr val="132B42"/>
                </a:solidFill>
                <a:latin typeface="微软雅黑" panose="020B0503020204020204" charset="-122"/>
                <a:ea typeface="微软雅黑" panose="020B0503020204020204" charset="-122"/>
                <a:cs typeface="微软雅黑" panose="020B0503020204020204" charset="-122"/>
              </a:defRPr>
            </a:pPr>
            <a:r>
              <a:rPr sz="3300" b="1">
                <a:solidFill>
                  <a:srgbClr val="132B42"/>
                </a:solidFill>
                <a:latin typeface="微软雅黑" panose="020B0503020204020204" charset="-122"/>
                <a:ea typeface="微软雅黑" panose="020B0503020204020204" charset="-122"/>
                <a:cs typeface="微软雅黑" panose="020B0503020204020204" charset="-122"/>
              </a:rPr>
              <a:t>03  Initial Consultation &amp; Patient Contact</a:t>
            </a:r>
          </a:p>
        </p:txBody>
      </p:sp>
      <p:pic>
        <p:nvPicPr>
          <p:cNvPr id="8" name="图片 7"/>
          <p:cNvPicPr>
            <a:picLocks noChangeAspect="1"/>
          </p:cNvPicPr>
          <p:nvPr/>
        </p:nvPicPr>
        <p:blipFill>
          <a:blip r:embed="rId3"/>
          <a:srcRect l="32869" t="13231" r="11271" b="8256"/>
          <a:stretch>
            <a:fillRect/>
          </a:stretch>
        </p:blipFill>
        <p:spPr>
          <a:xfrm>
            <a:off x="2212975" y="908685"/>
            <a:ext cx="7766050" cy="55930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矩形 4"/>
          <p:cNvSpPr>
            <a:spLocks noGrp="1"/>
          </p:cNvSpPr>
          <p:nvPr/>
        </p:nvSpPr>
        <p:spPr>
          <a:xfrm>
            <a:off x="685800" y="400050"/>
            <a:ext cx="10668000" cy="590550"/>
          </a:xfrm>
          <a:prstGeom prst="rect">
            <a:avLst/>
          </a:prstGeom>
          <a:noFill/>
          <a:ln w="0">
            <a:noFill/>
          </a:ln>
        </p:spPr>
        <p:txBody>
          <a:bodyPr>
            <a:normAutofit fontScale="99242" lnSpcReduction="10000"/>
          </a:bodyPr>
          <a:lstStyle/>
          <a:p>
            <a:pPr algn="l">
              <a:defRPr sz="3300" b="1">
                <a:solidFill>
                  <a:srgbClr val="132B42"/>
                </a:solidFill>
                <a:latin typeface="微软雅黑" panose="020B0503020204020204" charset="-122"/>
                <a:ea typeface="微软雅黑" panose="020B0503020204020204" charset="-122"/>
                <a:cs typeface="微软雅黑" panose="020B0503020204020204" charset="-122"/>
              </a:defRPr>
            </a:pPr>
            <a:r>
              <a:rPr sz="3300" b="1">
                <a:solidFill>
                  <a:srgbClr val="132B42"/>
                </a:solidFill>
                <a:latin typeface="微软雅黑" panose="020B0503020204020204" charset="-122"/>
                <a:ea typeface="微软雅黑" panose="020B0503020204020204" charset="-122"/>
                <a:cs typeface="微软雅黑" panose="020B0503020204020204" charset="-122"/>
              </a:rPr>
              <a:t>04  Diagnosis, Assessment &amp; Informed Consent</a:t>
            </a:r>
          </a:p>
        </p:txBody>
      </p:sp>
      <p:pic>
        <p:nvPicPr>
          <p:cNvPr id="8" name="图片 7"/>
          <p:cNvPicPr>
            <a:picLocks noChangeAspect="1"/>
          </p:cNvPicPr>
          <p:nvPr/>
        </p:nvPicPr>
        <p:blipFill>
          <a:blip r:embed="rId3"/>
          <a:srcRect l="16479" t="23410" r="5314" b="31513"/>
          <a:stretch>
            <a:fillRect/>
          </a:stretch>
        </p:blipFill>
        <p:spPr>
          <a:xfrm>
            <a:off x="767080" y="1847850"/>
            <a:ext cx="10708640" cy="31623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矩形 4"/>
          <p:cNvSpPr>
            <a:spLocks noGrp="1"/>
          </p:cNvSpPr>
          <p:nvPr/>
        </p:nvSpPr>
        <p:spPr>
          <a:xfrm>
            <a:off x="685800" y="400050"/>
            <a:ext cx="10668000" cy="590550"/>
          </a:xfrm>
          <a:prstGeom prst="rect">
            <a:avLst/>
          </a:prstGeom>
          <a:noFill/>
          <a:ln w="0">
            <a:noFill/>
          </a:ln>
        </p:spPr>
        <p:txBody>
          <a:bodyPr>
            <a:normAutofit fontScale="99242" lnSpcReduction="10000"/>
          </a:bodyPr>
          <a:lstStyle/>
          <a:p>
            <a:pPr algn="l">
              <a:defRPr sz="3300" b="1">
                <a:solidFill>
                  <a:srgbClr val="132B42"/>
                </a:solidFill>
                <a:latin typeface="微软雅黑" panose="020B0503020204020204" charset="-122"/>
                <a:ea typeface="微软雅黑" panose="020B0503020204020204" charset="-122"/>
                <a:cs typeface="微软雅黑" panose="020B0503020204020204" charset="-122"/>
              </a:defRPr>
            </a:pPr>
            <a:r>
              <a:rPr sz="3300" b="1">
                <a:solidFill>
                  <a:srgbClr val="132B42"/>
                </a:solidFill>
                <a:latin typeface="微软雅黑" panose="020B0503020204020204" charset="-122"/>
                <a:ea typeface="微软雅黑" panose="020B0503020204020204" charset="-122"/>
                <a:cs typeface="微软雅黑" panose="020B0503020204020204" charset="-122"/>
              </a:rPr>
              <a:t>05  Treatment &amp; External Services</a:t>
            </a:r>
          </a:p>
        </p:txBody>
      </p:sp>
      <p:pic>
        <p:nvPicPr>
          <p:cNvPr id="8" name="图片 7"/>
          <p:cNvPicPr>
            <a:picLocks noChangeAspect="1"/>
          </p:cNvPicPr>
          <p:nvPr/>
        </p:nvPicPr>
        <p:blipFill>
          <a:blip r:embed="rId3"/>
          <a:srcRect l="24677" t="19051" r="13504" b="11167"/>
          <a:stretch>
            <a:fillRect/>
          </a:stretch>
        </p:blipFill>
        <p:spPr>
          <a:xfrm>
            <a:off x="1301115" y="990600"/>
            <a:ext cx="9589770" cy="554609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矩形 4"/>
          <p:cNvSpPr>
            <a:spLocks noGrp="1"/>
          </p:cNvSpPr>
          <p:nvPr/>
        </p:nvSpPr>
        <p:spPr>
          <a:xfrm>
            <a:off x="685800" y="400050"/>
            <a:ext cx="10668000" cy="590550"/>
          </a:xfrm>
          <a:prstGeom prst="rect">
            <a:avLst/>
          </a:prstGeom>
          <a:noFill/>
          <a:ln w="0">
            <a:noFill/>
          </a:ln>
        </p:spPr>
        <p:txBody>
          <a:bodyPr>
            <a:normAutofit fontScale="99242" lnSpcReduction="10000"/>
          </a:bodyPr>
          <a:lstStyle/>
          <a:p>
            <a:pPr algn="l">
              <a:defRPr sz="3300" b="1">
                <a:solidFill>
                  <a:srgbClr val="132B42"/>
                </a:solidFill>
                <a:latin typeface="微软雅黑" panose="020B0503020204020204" charset="-122"/>
                <a:ea typeface="微软雅黑" panose="020B0503020204020204" charset="-122"/>
                <a:cs typeface="微软雅黑" panose="020B0503020204020204" charset="-122"/>
              </a:defRPr>
            </a:pPr>
            <a:r>
              <a:rPr sz="3300" b="1">
                <a:solidFill>
                  <a:srgbClr val="132B42"/>
                </a:solidFill>
                <a:latin typeface="微软雅黑" panose="020B0503020204020204" charset="-122"/>
                <a:ea typeface="微软雅黑" panose="020B0503020204020204" charset="-122"/>
                <a:cs typeface="微软雅黑" panose="020B0503020204020204" charset="-122"/>
              </a:rPr>
              <a:t>06  Funding Method Verification</a:t>
            </a:r>
          </a:p>
        </p:txBody>
      </p:sp>
      <p:pic>
        <p:nvPicPr>
          <p:cNvPr id="8" name="图片 7"/>
          <p:cNvPicPr>
            <a:picLocks noChangeAspect="1"/>
          </p:cNvPicPr>
          <p:nvPr/>
        </p:nvPicPr>
        <p:blipFill>
          <a:blip r:embed="rId3"/>
          <a:srcRect l="22138" t="18874" r="5348" b="22307"/>
          <a:stretch>
            <a:fillRect/>
          </a:stretch>
        </p:blipFill>
        <p:spPr>
          <a:xfrm>
            <a:off x="550545" y="1388745"/>
            <a:ext cx="11090910" cy="460946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矩形 4"/>
          <p:cNvSpPr>
            <a:spLocks noGrp="1"/>
          </p:cNvSpPr>
          <p:nvPr/>
        </p:nvSpPr>
        <p:spPr>
          <a:xfrm>
            <a:off x="685800" y="400050"/>
            <a:ext cx="10668000" cy="590550"/>
          </a:xfrm>
          <a:prstGeom prst="rect">
            <a:avLst/>
          </a:prstGeom>
          <a:noFill/>
          <a:ln w="0">
            <a:noFill/>
          </a:ln>
        </p:spPr>
        <p:txBody>
          <a:bodyPr>
            <a:normAutofit fontScale="99242" lnSpcReduction="10000"/>
          </a:bodyPr>
          <a:lstStyle/>
          <a:p>
            <a:pPr algn="l">
              <a:defRPr sz="3300" b="1">
                <a:solidFill>
                  <a:srgbClr val="132B42"/>
                </a:solidFill>
                <a:latin typeface="微软雅黑" panose="020B0503020204020204" charset="-122"/>
                <a:ea typeface="微软雅黑" panose="020B0503020204020204" charset="-122"/>
                <a:cs typeface="微软雅黑" panose="020B0503020204020204" charset="-122"/>
              </a:defRPr>
            </a:pPr>
            <a:r>
              <a:rPr sz="3300" b="1">
                <a:solidFill>
                  <a:srgbClr val="132B42"/>
                </a:solidFill>
                <a:latin typeface="微软雅黑" panose="020B0503020204020204" charset="-122"/>
                <a:ea typeface="微软雅黑" panose="020B0503020204020204" charset="-122"/>
                <a:cs typeface="微软雅黑" panose="020B0503020204020204" charset="-122"/>
              </a:rPr>
              <a:t>07  Payment Result Handling</a:t>
            </a:r>
          </a:p>
        </p:txBody>
      </p:sp>
      <p:pic>
        <p:nvPicPr>
          <p:cNvPr id="8" name="图片 7"/>
          <p:cNvPicPr>
            <a:picLocks noChangeAspect="1"/>
          </p:cNvPicPr>
          <p:nvPr/>
        </p:nvPicPr>
        <p:blipFill>
          <a:blip r:embed="rId3"/>
          <a:srcRect l="8135" t="37782" r="627" b="26115"/>
          <a:stretch>
            <a:fillRect/>
          </a:stretch>
        </p:blipFill>
        <p:spPr>
          <a:xfrm>
            <a:off x="583565" y="2311400"/>
            <a:ext cx="11025505" cy="2235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矩形 4"/>
          <p:cNvSpPr>
            <a:spLocks noGrp="1"/>
          </p:cNvSpPr>
          <p:nvPr/>
        </p:nvSpPr>
        <p:spPr>
          <a:xfrm>
            <a:off x="685800" y="400050"/>
            <a:ext cx="10668000" cy="590550"/>
          </a:xfrm>
          <a:prstGeom prst="rect">
            <a:avLst/>
          </a:prstGeom>
          <a:noFill/>
          <a:ln w="0">
            <a:noFill/>
          </a:ln>
        </p:spPr>
        <p:txBody>
          <a:bodyPr>
            <a:normAutofit fontScale="99242" lnSpcReduction="10000"/>
          </a:bodyPr>
          <a:lstStyle/>
          <a:p>
            <a:pPr algn="l">
              <a:defRPr sz="3300" b="1">
                <a:solidFill>
                  <a:srgbClr val="132B42"/>
                </a:solidFill>
                <a:latin typeface="微软雅黑" panose="020B0503020204020204" charset="-122"/>
                <a:ea typeface="微软雅黑" panose="020B0503020204020204" charset="-122"/>
                <a:cs typeface="微软雅黑" panose="020B0503020204020204" charset="-122"/>
              </a:defRPr>
            </a:pPr>
            <a:r>
              <a:rPr sz="3300" b="1">
                <a:solidFill>
                  <a:srgbClr val="132B42"/>
                </a:solidFill>
                <a:latin typeface="微软雅黑" panose="020B0503020204020204" charset="-122"/>
                <a:ea typeface="微软雅黑" panose="020B0503020204020204" charset="-122"/>
                <a:cs typeface="微软雅黑" panose="020B0503020204020204" charset="-122"/>
              </a:rPr>
              <a:t>08  Treatment Continuation Review</a:t>
            </a:r>
          </a:p>
        </p:txBody>
      </p:sp>
      <p:pic>
        <p:nvPicPr>
          <p:cNvPr id="8" name="图片 7"/>
          <p:cNvPicPr>
            <a:picLocks noChangeAspect="1"/>
          </p:cNvPicPr>
          <p:nvPr/>
        </p:nvPicPr>
        <p:blipFill>
          <a:blip r:embed="rId3"/>
          <a:srcRect l="19415" t="23705" r="12230" b="12962"/>
          <a:stretch>
            <a:fillRect/>
          </a:stretch>
        </p:blipFill>
        <p:spPr>
          <a:xfrm>
            <a:off x="598170" y="990600"/>
            <a:ext cx="10995660" cy="52197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矩形 4"/>
          <p:cNvSpPr>
            <a:spLocks noGrp="1"/>
          </p:cNvSpPr>
          <p:nvPr/>
        </p:nvSpPr>
        <p:spPr>
          <a:xfrm>
            <a:off x="685800" y="400050"/>
            <a:ext cx="10668000" cy="590550"/>
          </a:xfrm>
          <a:prstGeom prst="rect">
            <a:avLst/>
          </a:prstGeom>
          <a:noFill/>
          <a:ln w="0">
            <a:noFill/>
          </a:ln>
        </p:spPr>
        <p:txBody>
          <a:bodyPr>
            <a:normAutofit fontScale="99242" lnSpcReduction="10000"/>
          </a:bodyPr>
          <a:lstStyle/>
          <a:p>
            <a:pPr algn="l">
              <a:defRPr sz="3300" b="1">
                <a:solidFill>
                  <a:srgbClr val="132B42"/>
                </a:solidFill>
                <a:latin typeface="微软雅黑" panose="020B0503020204020204" charset="-122"/>
                <a:ea typeface="微软雅黑" panose="020B0503020204020204" charset="-122"/>
                <a:cs typeface="微软雅黑" panose="020B0503020204020204" charset="-122"/>
              </a:defRPr>
            </a:pPr>
            <a:r>
              <a:rPr sz="3300" b="1">
                <a:solidFill>
                  <a:srgbClr val="132B42"/>
                </a:solidFill>
                <a:latin typeface="微软雅黑" panose="020B0503020204020204" charset="-122"/>
                <a:ea typeface="微软雅黑" panose="020B0503020204020204" charset="-122"/>
                <a:cs typeface="微软雅黑" panose="020B0503020204020204" charset="-122"/>
              </a:rPr>
              <a:t>09  Treatment Plan Changes</a:t>
            </a:r>
          </a:p>
        </p:txBody>
      </p:sp>
      <p:pic>
        <p:nvPicPr>
          <p:cNvPr id="8" name="图片 7"/>
          <p:cNvPicPr>
            <a:picLocks noChangeAspect="1"/>
          </p:cNvPicPr>
          <p:nvPr/>
        </p:nvPicPr>
        <p:blipFill>
          <a:blip r:embed="rId3"/>
          <a:srcRect l="33760" t="16051" r="26187" b="5154"/>
          <a:stretch>
            <a:fillRect/>
          </a:stretch>
        </p:blipFill>
        <p:spPr>
          <a:xfrm>
            <a:off x="3042967" y="1034070"/>
            <a:ext cx="5548630" cy="559244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矩形 4"/>
          <p:cNvSpPr>
            <a:spLocks noGrp="1"/>
          </p:cNvSpPr>
          <p:nvPr/>
        </p:nvSpPr>
        <p:spPr>
          <a:xfrm>
            <a:off x="685800" y="400050"/>
            <a:ext cx="10668000" cy="590550"/>
          </a:xfrm>
          <a:prstGeom prst="rect">
            <a:avLst/>
          </a:prstGeom>
          <a:noFill/>
          <a:ln w="0">
            <a:noFill/>
          </a:ln>
        </p:spPr>
        <p:txBody>
          <a:bodyPr>
            <a:normAutofit fontScale="99242" lnSpcReduction="10000"/>
          </a:bodyPr>
          <a:lstStyle/>
          <a:p>
            <a:pPr algn="l">
              <a:defRPr sz="3300" b="1">
                <a:solidFill>
                  <a:srgbClr val="132B42"/>
                </a:solidFill>
                <a:latin typeface="微软雅黑" panose="020B0503020204020204" charset="-122"/>
                <a:ea typeface="微软雅黑" panose="020B0503020204020204" charset="-122"/>
                <a:cs typeface="微软雅黑" panose="020B0503020204020204" charset="-122"/>
              </a:defRPr>
            </a:pPr>
            <a:r>
              <a:rPr sz="3300" b="1">
                <a:solidFill>
                  <a:srgbClr val="132B42"/>
                </a:solidFill>
                <a:latin typeface="微软雅黑" panose="020B0503020204020204" charset="-122"/>
                <a:ea typeface="微软雅黑" panose="020B0503020204020204" charset="-122"/>
                <a:cs typeface="微软雅黑" panose="020B0503020204020204" charset="-122"/>
              </a:rPr>
              <a:t>10  Cancellations, Rejections &amp; No-Shows</a:t>
            </a:r>
          </a:p>
        </p:txBody>
      </p:sp>
      <p:pic>
        <p:nvPicPr>
          <p:cNvPr id="8" name="图片 7"/>
          <p:cNvPicPr>
            <a:picLocks noChangeAspect="1"/>
          </p:cNvPicPr>
          <p:nvPr/>
        </p:nvPicPr>
        <p:blipFill>
          <a:blip r:embed="rId3"/>
          <a:srcRect l="38076" t="16359" r="30732" b="4692"/>
          <a:stretch>
            <a:fillRect/>
          </a:stretch>
        </p:blipFill>
        <p:spPr>
          <a:xfrm>
            <a:off x="3907790" y="990600"/>
            <a:ext cx="4377055" cy="56769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矩形 4"/>
          <p:cNvSpPr>
            <a:spLocks noGrp="1"/>
          </p:cNvSpPr>
          <p:nvPr/>
        </p:nvSpPr>
        <p:spPr>
          <a:xfrm>
            <a:off x="685800" y="400050"/>
            <a:ext cx="10668000" cy="590550"/>
          </a:xfrm>
          <a:prstGeom prst="rect">
            <a:avLst/>
          </a:prstGeom>
          <a:noFill/>
          <a:ln w="0">
            <a:noFill/>
          </a:ln>
        </p:spPr>
        <p:txBody>
          <a:bodyPr>
            <a:normAutofit fontScale="99242" lnSpcReduction="10000"/>
          </a:bodyPr>
          <a:lstStyle/>
          <a:p>
            <a:pPr algn="l">
              <a:defRPr sz="3300" b="1">
                <a:solidFill>
                  <a:srgbClr val="132B42"/>
                </a:solidFill>
                <a:latin typeface="微软雅黑" panose="020B0503020204020204" charset="-122"/>
                <a:ea typeface="微软雅黑" panose="020B0503020204020204" charset="-122"/>
                <a:cs typeface="微软雅黑" panose="020B0503020204020204" charset="-122"/>
              </a:defRPr>
            </a:pPr>
            <a:r>
              <a:rPr sz="3300" b="1">
                <a:solidFill>
                  <a:srgbClr val="132B42"/>
                </a:solidFill>
                <a:latin typeface="微软雅黑" panose="020B0503020204020204" charset="-122"/>
                <a:ea typeface="微软雅黑" panose="020B0503020204020204" charset="-122"/>
                <a:cs typeface="微软雅黑" panose="020B0503020204020204" charset="-122"/>
              </a:rPr>
              <a:t>11  Refunds &amp; Fund Transfers</a:t>
            </a:r>
          </a:p>
        </p:txBody>
      </p:sp>
      <p:pic>
        <p:nvPicPr>
          <p:cNvPr id="8" name="图片 7"/>
          <p:cNvPicPr>
            <a:picLocks noChangeAspect="1"/>
          </p:cNvPicPr>
          <p:nvPr/>
        </p:nvPicPr>
        <p:blipFill>
          <a:blip r:embed="rId3"/>
          <a:srcRect l="8131" t="20487" r="552" b="9282"/>
          <a:stretch>
            <a:fillRect/>
          </a:stretch>
        </p:blipFill>
        <p:spPr>
          <a:xfrm>
            <a:off x="2465705" y="1916430"/>
            <a:ext cx="10924540" cy="430466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矩形 4"/>
          <p:cNvSpPr>
            <a:spLocks noGrp="1"/>
          </p:cNvSpPr>
          <p:nvPr/>
        </p:nvSpPr>
        <p:spPr>
          <a:xfrm>
            <a:off x="685800" y="400050"/>
            <a:ext cx="10668000" cy="590550"/>
          </a:xfrm>
          <a:prstGeom prst="rect">
            <a:avLst/>
          </a:prstGeom>
          <a:noFill/>
          <a:ln w="0">
            <a:noFill/>
          </a:ln>
        </p:spPr>
        <p:txBody>
          <a:bodyPr>
            <a:normAutofit fontScale="99242" lnSpcReduction="10000"/>
          </a:bodyPr>
          <a:lstStyle/>
          <a:p>
            <a:pPr algn="l">
              <a:defRPr sz="3300" b="1">
                <a:solidFill>
                  <a:srgbClr val="132B42"/>
                </a:solidFill>
                <a:latin typeface="微软雅黑" panose="020B0503020204020204" charset="-122"/>
                <a:ea typeface="微软雅黑" panose="020B0503020204020204" charset="-122"/>
                <a:cs typeface="微软雅黑" panose="020B0503020204020204" charset="-122"/>
              </a:defRPr>
            </a:pPr>
            <a:r>
              <a:rPr sz="3300" b="1">
                <a:solidFill>
                  <a:srgbClr val="132B42"/>
                </a:solidFill>
                <a:latin typeface="微软雅黑" panose="020B0503020204020204" charset="-122"/>
                <a:ea typeface="微软雅黑" panose="020B0503020204020204" charset="-122"/>
                <a:cs typeface="微软雅黑" panose="020B0503020204020204" charset="-122"/>
              </a:rPr>
              <a:t>12  Patient Inquiries</a:t>
            </a:r>
          </a:p>
        </p:txBody>
      </p:sp>
      <p:pic>
        <p:nvPicPr>
          <p:cNvPr id="8" name="图片 7"/>
          <p:cNvPicPr>
            <a:picLocks noChangeAspect="1"/>
          </p:cNvPicPr>
          <p:nvPr/>
        </p:nvPicPr>
        <p:blipFill>
          <a:blip r:embed="rId3"/>
          <a:srcRect l="14483" t="16064" r="7140" b="4846"/>
          <a:stretch>
            <a:fillRect/>
          </a:stretch>
        </p:blipFill>
        <p:spPr>
          <a:xfrm>
            <a:off x="772160" y="990600"/>
            <a:ext cx="10495280" cy="54260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矩形 4"/>
          <p:cNvSpPr>
            <a:spLocks noGrp="1"/>
          </p:cNvSpPr>
          <p:nvPr/>
        </p:nvSpPr>
        <p:spPr>
          <a:xfrm>
            <a:off x="685800" y="400050"/>
            <a:ext cx="10668000" cy="590550"/>
          </a:xfrm>
          <a:prstGeom prst="rect">
            <a:avLst/>
          </a:prstGeom>
          <a:noFill/>
          <a:ln w="0">
            <a:noFill/>
          </a:ln>
        </p:spPr>
        <p:txBody>
          <a:bodyPr>
            <a:normAutofit fontScale="99242" lnSpcReduction="10000"/>
          </a:bodyPr>
          <a:lstStyle/>
          <a:p>
            <a:pPr algn="l">
              <a:defRPr sz="3300" b="1">
                <a:solidFill>
                  <a:srgbClr val="132B42"/>
                </a:solidFill>
                <a:latin typeface="微软雅黑" panose="020B0503020204020204" charset="-122"/>
                <a:ea typeface="微软雅黑" panose="020B0503020204020204" charset="-122"/>
                <a:cs typeface="微软雅黑" panose="020B0503020204020204" charset="-122"/>
              </a:defRPr>
            </a:pPr>
            <a:r>
              <a:rPr sz="3300" b="1">
                <a:solidFill>
                  <a:srgbClr val="132B42"/>
                </a:solidFill>
                <a:latin typeface="微软雅黑" panose="020B0503020204020204" charset="-122"/>
                <a:ea typeface="微软雅黑" panose="020B0503020204020204" charset="-122"/>
                <a:cs typeface="微软雅黑" panose="020B0503020204020204" charset="-122"/>
              </a:rPr>
              <a:t>13  Medical Correspondence</a:t>
            </a:r>
          </a:p>
        </p:txBody>
      </p:sp>
      <p:pic>
        <p:nvPicPr>
          <p:cNvPr id="8" name="图片 7"/>
          <p:cNvPicPr>
            <a:picLocks noChangeAspect="1"/>
          </p:cNvPicPr>
          <p:nvPr/>
        </p:nvPicPr>
        <p:blipFill>
          <a:blip r:embed="rId3"/>
          <a:srcRect l="19343" t="16359" r="11757" b="4692"/>
          <a:stretch>
            <a:fillRect/>
          </a:stretch>
        </p:blipFill>
        <p:spPr>
          <a:xfrm>
            <a:off x="1469390" y="942975"/>
            <a:ext cx="9253220" cy="54324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矩形 4"/>
          <p:cNvSpPr>
            <a:spLocks noGrp="1"/>
          </p:cNvSpPr>
          <p:nvPr/>
        </p:nvSpPr>
        <p:spPr>
          <a:xfrm>
            <a:off x="685800" y="400050"/>
            <a:ext cx="10668000" cy="590550"/>
          </a:xfrm>
          <a:prstGeom prst="rect">
            <a:avLst/>
          </a:prstGeom>
          <a:noFill/>
          <a:ln w="0">
            <a:noFill/>
          </a:ln>
        </p:spPr>
        <p:txBody>
          <a:bodyPr>
            <a:normAutofit fontScale="99242" lnSpcReduction="10000"/>
          </a:bodyPr>
          <a:lstStyle/>
          <a:p>
            <a:pPr algn="l">
              <a:defRPr sz="3300" b="1">
                <a:solidFill>
                  <a:srgbClr val="132B42"/>
                </a:solidFill>
                <a:latin typeface="微软雅黑" panose="020B0503020204020204" charset="-122"/>
                <a:ea typeface="微软雅黑" panose="020B0503020204020204" charset="-122"/>
                <a:cs typeface="微软雅黑" panose="020B0503020204020204" charset="-122"/>
              </a:defRPr>
            </a:pPr>
            <a:r>
              <a:rPr sz="3300" b="1">
                <a:solidFill>
                  <a:srgbClr val="132B42"/>
                </a:solidFill>
                <a:latin typeface="微软雅黑" panose="020B0503020204020204" charset="-122"/>
                <a:ea typeface="微软雅黑" panose="020B0503020204020204" charset="-122"/>
                <a:cs typeface="微软雅黑" panose="020B0503020204020204" charset="-122"/>
              </a:rPr>
              <a:t>14  Follow-up Booking</a:t>
            </a:r>
          </a:p>
        </p:txBody>
      </p:sp>
      <p:pic>
        <p:nvPicPr>
          <p:cNvPr id="8" name="图片 7"/>
          <p:cNvPicPr>
            <a:picLocks noChangeAspect="1"/>
          </p:cNvPicPr>
          <p:nvPr/>
        </p:nvPicPr>
        <p:blipFill>
          <a:blip r:embed="rId3"/>
          <a:srcRect l="17379" t="16205" r="9957" b="4692"/>
          <a:stretch>
            <a:fillRect/>
          </a:stretch>
        </p:blipFill>
        <p:spPr>
          <a:xfrm>
            <a:off x="685800" y="1080135"/>
            <a:ext cx="9687560" cy="540321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矩形 4"/>
          <p:cNvSpPr>
            <a:spLocks noGrp="1"/>
          </p:cNvSpPr>
          <p:nvPr/>
        </p:nvSpPr>
        <p:spPr>
          <a:xfrm>
            <a:off x="685800" y="400050"/>
            <a:ext cx="10668000" cy="590550"/>
          </a:xfrm>
          <a:prstGeom prst="rect">
            <a:avLst/>
          </a:prstGeom>
          <a:noFill/>
          <a:ln w="0">
            <a:noFill/>
          </a:ln>
        </p:spPr>
        <p:txBody>
          <a:bodyPr>
            <a:normAutofit fontScale="99242" lnSpcReduction="10000"/>
          </a:bodyPr>
          <a:lstStyle/>
          <a:p>
            <a:pPr algn="l">
              <a:defRPr sz="3300" b="1">
                <a:solidFill>
                  <a:srgbClr val="132B42"/>
                </a:solidFill>
                <a:latin typeface="微软雅黑" panose="020B0503020204020204" charset="-122"/>
                <a:ea typeface="微软雅黑" panose="020B0503020204020204" charset="-122"/>
                <a:cs typeface="微软雅黑" panose="020B0503020204020204" charset="-122"/>
              </a:defRPr>
            </a:pPr>
            <a:r>
              <a:rPr sz="3300" b="1">
                <a:solidFill>
                  <a:srgbClr val="132B42"/>
                </a:solidFill>
                <a:latin typeface="微软雅黑" panose="020B0503020204020204" charset="-122"/>
                <a:ea typeface="微软雅黑" panose="020B0503020204020204" charset="-122"/>
                <a:cs typeface="微软雅黑" panose="020B0503020204020204" charset="-122"/>
              </a:rPr>
              <a:t>15  Process Monitoring &amp; Reports</a:t>
            </a:r>
          </a:p>
        </p:txBody>
      </p:sp>
      <p:pic>
        <p:nvPicPr>
          <p:cNvPr id="8" name="图片 7"/>
          <p:cNvPicPr>
            <a:picLocks noChangeAspect="1"/>
          </p:cNvPicPr>
          <p:nvPr/>
        </p:nvPicPr>
        <p:blipFill>
          <a:blip r:embed="rId3"/>
          <a:srcRect l="20828" t="17885" r="17090" b="22590"/>
          <a:stretch>
            <a:fillRect/>
          </a:stretch>
        </p:blipFill>
        <p:spPr>
          <a:xfrm>
            <a:off x="1104265" y="1173480"/>
            <a:ext cx="9982835" cy="490410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矩形 4"/>
          <p:cNvSpPr>
            <a:spLocks noGrp="1"/>
          </p:cNvSpPr>
          <p:nvPr/>
        </p:nvSpPr>
        <p:spPr>
          <a:xfrm>
            <a:off x="685800" y="400050"/>
            <a:ext cx="10668000" cy="590550"/>
          </a:xfrm>
          <a:prstGeom prst="rect">
            <a:avLst/>
          </a:prstGeom>
          <a:noFill/>
          <a:ln w="0">
            <a:noFill/>
          </a:ln>
        </p:spPr>
        <p:txBody>
          <a:bodyPr>
            <a:normAutofit fontScale="99242" lnSpcReduction="10000"/>
          </a:bodyPr>
          <a:lstStyle/>
          <a:p>
            <a:pPr algn="l">
              <a:defRPr sz="3300" b="1">
                <a:solidFill>
                  <a:srgbClr val="132B42"/>
                </a:solidFill>
                <a:latin typeface="微软雅黑" panose="020B0503020204020204" charset="-122"/>
                <a:ea typeface="微软雅黑" panose="020B0503020204020204" charset="-122"/>
                <a:cs typeface="微软雅黑" panose="020B0503020204020204" charset="-122"/>
              </a:defRPr>
            </a:pPr>
            <a:r>
              <a:rPr sz="3300" b="1">
                <a:solidFill>
                  <a:srgbClr val="132B42"/>
                </a:solidFill>
                <a:latin typeface="微软雅黑" panose="020B0503020204020204" charset="-122"/>
                <a:ea typeface="微软雅黑" panose="020B0503020204020204" charset="-122"/>
                <a:cs typeface="微软雅黑" panose="020B0503020204020204" charset="-122"/>
              </a:rPr>
              <a:t>16  Identity, Access &amp; System Downtime</a:t>
            </a:r>
          </a:p>
        </p:txBody>
      </p:sp>
      <p:pic>
        <p:nvPicPr>
          <p:cNvPr id="8" name="图片 7"/>
          <p:cNvPicPr>
            <a:picLocks noChangeAspect="1"/>
          </p:cNvPicPr>
          <p:nvPr/>
        </p:nvPicPr>
        <p:blipFill>
          <a:blip r:embed="rId3"/>
          <a:srcRect l="13458" t="14833" r="6122" b="5910"/>
          <a:stretch>
            <a:fillRect/>
          </a:stretch>
        </p:blipFill>
        <p:spPr>
          <a:xfrm>
            <a:off x="970915" y="1148080"/>
            <a:ext cx="10250170" cy="517588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矩形 4"/>
          <p:cNvSpPr>
            <a:spLocks noGrp="1"/>
          </p:cNvSpPr>
          <p:nvPr/>
        </p:nvSpPr>
        <p:spPr>
          <a:xfrm>
            <a:off x="685800" y="400050"/>
            <a:ext cx="10668000" cy="590550"/>
          </a:xfrm>
          <a:prstGeom prst="rect">
            <a:avLst/>
          </a:prstGeom>
          <a:noFill/>
          <a:ln w="0">
            <a:noFill/>
          </a:ln>
        </p:spPr>
        <p:txBody>
          <a:bodyPr>
            <a:normAutofit fontScale="99242" lnSpcReduction="10000"/>
          </a:bodyPr>
          <a:lstStyle/>
          <a:p>
            <a:pPr algn="l">
              <a:defRPr sz="3300" b="1">
                <a:solidFill>
                  <a:srgbClr val="132B42"/>
                </a:solidFill>
                <a:latin typeface="微软雅黑" panose="020B0503020204020204" charset="-122"/>
                <a:ea typeface="微软雅黑" panose="020B0503020204020204" charset="-122"/>
                <a:cs typeface="微软雅黑" panose="020B0503020204020204" charset="-122"/>
              </a:defRPr>
            </a:pPr>
            <a:r>
              <a:rPr sz="3300" b="1">
                <a:solidFill>
                  <a:srgbClr val="132B42"/>
                </a:solidFill>
                <a:latin typeface="微软雅黑" panose="020B0503020204020204" charset="-122"/>
                <a:ea typeface="微软雅黑" panose="020B0503020204020204" charset="-122"/>
                <a:cs typeface="微软雅黑" panose="020B0503020204020204" charset="-122"/>
              </a:rPr>
              <a:t>17  Appointment Changes &amp; Conflicts</a:t>
            </a:r>
          </a:p>
        </p:txBody>
      </p:sp>
      <p:pic>
        <p:nvPicPr>
          <p:cNvPr id="8" name="图片 7"/>
          <p:cNvPicPr>
            <a:picLocks noChangeAspect="1"/>
          </p:cNvPicPr>
          <p:nvPr/>
        </p:nvPicPr>
        <p:blipFill>
          <a:blip r:embed="rId3"/>
          <a:srcRect l="11658" t="16205" r="4158" b="4846"/>
          <a:stretch>
            <a:fillRect/>
          </a:stretch>
        </p:blipFill>
        <p:spPr>
          <a:xfrm>
            <a:off x="813435" y="1264920"/>
            <a:ext cx="10565130" cy="507619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矩形 6"/>
          <p:cNvSpPr>
            <a:spLocks noGrp="1"/>
          </p:cNvSpPr>
          <p:nvPr/>
        </p:nvSpPr>
        <p:spPr>
          <a:xfrm>
            <a:off x="742950" y="990600"/>
            <a:ext cx="10668000" cy="590550"/>
          </a:xfrm>
          <a:prstGeom prst="rect">
            <a:avLst/>
          </a:prstGeom>
          <a:noFill/>
          <a:ln w="0">
            <a:noFill/>
          </a:ln>
        </p:spPr>
        <p:txBody>
          <a:bodyPr>
            <a:normAutofit fontScale="99242" lnSpcReduction="10000"/>
          </a:bodyPr>
          <a:lstStyle/>
          <a:p>
            <a:pPr algn="l">
              <a:defRPr sz="3300" b="1">
                <a:solidFill>
                  <a:srgbClr val="132B42"/>
                </a:solidFill>
                <a:latin typeface="微软雅黑" panose="020B0503020204020204" charset="-122"/>
                <a:ea typeface="微软雅黑" panose="020B0503020204020204" charset="-122"/>
                <a:cs typeface="微软雅黑" panose="020B0503020204020204" charset="-122"/>
              </a:defRPr>
            </a:pPr>
            <a:r>
              <a:rPr sz="3300" b="1">
                <a:solidFill>
                  <a:srgbClr val="132B42"/>
                </a:solidFill>
                <a:latin typeface="微软雅黑" panose="020B0503020204020204" charset="-122"/>
                <a:ea typeface="微软雅黑" panose="020B0503020204020204" charset="-122"/>
                <a:cs typeface="微软雅黑" panose="020B0503020204020204" charset="-122"/>
              </a:rPr>
              <a:t>Automated Test Evidence</a:t>
            </a:r>
          </a:p>
        </p:txBody>
      </p:sp>
      <p:graphicFrame>
        <p:nvGraphicFramePr>
          <p:cNvPr id="10" name="表格 9"/>
          <p:cNvGraphicFramePr/>
          <p:nvPr/>
        </p:nvGraphicFramePr>
        <p:xfrm>
          <a:off x="742950" y="2169795"/>
          <a:ext cx="10706100" cy="3485515"/>
        </p:xfrm>
        <a:graphic>
          <a:graphicData uri="http://schemas.openxmlformats.org/drawingml/2006/table">
            <a:tbl>
              <a:tblPr/>
              <a:tblGrid>
                <a:gridCol w="3095625">
                  <a:extLst>
                    <a:ext uri="{9D8B030D-6E8A-4147-A177-3AD203B41FA5}">
                      <a16:colId xmlns:a16="http://schemas.microsoft.com/office/drawing/2014/main" val="20000"/>
                    </a:ext>
                  </a:extLst>
                </a:gridCol>
                <a:gridCol w="5857875">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tblGrid>
              <a:tr h="445135">
                <a:tc>
                  <a:txBody>
                    <a:bodyPr/>
                    <a:lstStyle/>
                    <a:p>
                      <a:pPr algn="ctr"/>
                      <a:r>
                        <a:rPr sz="1800" b="1">
                          <a:solidFill>
                            <a:srgbClr val="FFFFFF"/>
                          </a:solidFill>
                          <a:latin typeface="微软雅黑" panose="020B0503020204020204" charset="-122"/>
                          <a:ea typeface="微软雅黑" panose="020B0503020204020204" charset="-122"/>
                          <a:cs typeface="微软雅黑" panose="020B0503020204020204" charset="-122"/>
                        </a:rPr>
                        <a:t>Test suite</a:t>
                      </a:r>
                    </a:p>
                  </a:txBody>
                  <a:tcPr>
                    <a:solidFill>
                      <a:srgbClr val="132B42"/>
                    </a:solidFill>
                  </a:tcPr>
                </a:tc>
                <a:tc>
                  <a:txBody>
                    <a:bodyPr/>
                    <a:lstStyle/>
                    <a:p>
                      <a:pPr algn="ctr"/>
                      <a:r>
                        <a:rPr sz="1800" b="1">
                          <a:solidFill>
                            <a:srgbClr val="FFFFFF"/>
                          </a:solidFill>
                          <a:latin typeface="微软雅黑" panose="020B0503020204020204" charset="-122"/>
                          <a:ea typeface="微软雅黑" panose="020B0503020204020204" charset="-122"/>
                          <a:cs typeface="微软雅黑" panose="020B0503020204020204" charset="-122"/>
                        </a:rPr>
                        <a:t>Coverage shown in the run</a:t>
                      </a:r>
                    </a:p>
                  </a:txBody>
                  <a:tcPr>
                    <a:solidFill>
                      <a:srgbClr val="132B42"/>
                    </a:solidFill>
                  </a:tcPr>
                </a:tc>
                <a:tc>
                  <a:txBody>
                    <a:bodyPr/>
                    <a:lstStyle/>
                    <a:p>
                      <a:pPr algn="ctr"/>
                      <a:r>
                        <a:rPr sz="1800" b="1">
                          <a:solidFill>
                            <a:srgbClr val="FFFFFF"/>
                          </a:solidFill>
                          <a:latin typeface="微软雅黑" panose="020B0503020204020204" charset="-122"/>
                          <a:ea typeface="微软雅黑" panose="020B0503020204020204" charset="-122"/>
                          <a:cs typeface="微软雅黑" panose="020B0503020204020204" charset="-122"/>
                        </a:rPr>
                        <a:t>Passed</a:t>
                      </a:r>
                    </a:p>
                  </a:txBody>
                  <a:tcPr>
                    <a:solidFill>
                      <a:srgbClr val="132B42"/>
                    </a:solidFill>
                  </a:tcPr>
                </a:tc>
                <a:extLst>
                  <a:ext uri="{0D108BD9-81ED-4DB2-BD59-A6C34878D82A}">
                    <a16:rowId xmlns:a16="http://schemas.microsoft.com/office/drawing/2014/main" val="10000"/>
                  </a:ext>
                </a:extLst>
              </a:tr>
              <a:tr h="600075">
                <a:tc>
                  <a:txBody>
                    <a:bodyPr/>
                    <a:lstStyle/>
                    <a:p>
                      <a:pPr algn="l"/>
                      <a:r>
                        <a:rPr sz="1800" b="0">
                          <a:solidFill>
                            <a:srgbClr val="182F46"/>
                          </a:solidFill>
                          <a:latin typeface="微软雅黑" panose="020B0503020204020204" charset="-122"/>
                          <a:ea typeface="微软雅黑" panose="020B0503020204020204" charset="-122"/>
                          <a:cs typeface="微软雅黑" panose="020B0503020204020204" charset="-122"/>
                        </a:rPr>
                        <a:t>BPMN model coverage</a:t>
                      </a:r>
                    </a:p>
                  </a:txBody>
                  <a:tcPr>
                    <a:solidFill>
                      <a:srgbClr val="FFFFFF"/>
                    </a:solidFill>
                  </a:tcPr>
                </a:tc>
                <a:tc>
                  <a:txBody>
                    <a:bodyPr/>
                    <a:lstStyle/>
                    <a:p>
                      <a:pPr algn="l"/>
                      <a:r>
                        <a:rPr sz="1800" b="0">
                          <a:solidFill>
                            <a:srgbClr val="182F46"/>
                          </a:solidFill>
                          <a:latin typeface="微软雅黑" panose="020B0503020204020204" charset="-122"/>
                          <a:ea typeface="微软雅黑" panose="020B0503020204020204" charset="-122"/>
                          <a:cs typeface="微软雅黑" panose="020B0503020204020204" charset="-122"/>
                        </a:rPr>
                        <a:t>Tasks, workers, messages, correlation keys, forms</a:t>
                      </a:r>
                    </a:p>
                  </a:txBody>
                  <a:tcPr>
                    <a:solidFill>
                      <a:srgbClr val="FFFFFF"/>
                    </a:solidFill>
                  </a:tcPr>
                </a:tc>
                <a:tc>
                  <a:txBody>
                    <a:bodyPr/>
                    <a:lstStyle/>
                    <a:p>
                      <a:pPr algn="ctr"/>
                      <a:r>
                        <a:rPr sz="1800" b="1">
                          <a:solidFill>
                            <a:srgbClr val="2D8A68"/>
                          </a:solidFill>
                          <a:latin typeface="微软雅黑" panose="020B0503020204020204" charset="-122"/>
                          <a:ea typeface="微软雅黑" panose="020B0503020204020204" charset="-122"/>
                          <a:cs typeface="微软雅黑" panose="020B0503020204020204" charset="-122"/>
                        </a:rPr>
                        <a:t>7 / 7</a:t>
                      </a:r>
                    </a:p>
                  </a:txBody>
                  <a:tcPr>
                    <a:solidFill>
                      <a:srgbClr val="FFFFFF"/>
                    </a:solidFill>
                  </a:tcPr>
                </a:tc>
                <a:extLst>
                  <a:ext uri="{0D108BD9-81ED-4DB2-BD59-A6C34878D82A}">
                    <a16:rowId xmlns:a16="http://schemas.microsoft.com/office/drawing/2014/main" val="10001"/>
                  </a:ext>
                </a:extLst>
              </a:tr>
              <a:tr h="600075">
                <a:tc>
                  <a:txBody>
                    <a:bodyPr/>
                    <a:lstStyle/>
                    <a:p>
                      <a:pPr algn="l"/>
                      <a:r>
                        <a:rPr sz="1800" b="0">
                          <a:solidFill>
                            <a:srgbClr val="182F46"/>
                          </a:solidFill>
                          <a:latin typeface="微软雅黑" panose="020B0503020204020204" charset="-122"/>
                          <a:ea typeface="微软雅黑" panose="020B0503020204020204" charset="-122"/>
                          <a:cs typeface="微软雅黑" panose="020B0503020204020204" charset="-122"/>
                        </a:rPr>
                        <a:t>Hospital database</a:t>
                      </a:r>
                    </a:p>
                  </a:txBody>
                  <a:tcPr>
                    <a:solidFill>
                      <a:srgbClr val="F4F7F9"/>
                    </a:solidFill>
                  </a:tcPr>
                </a:tc>
                <a:tc>
                  <a:txBody>
                    <a:bodyPr/>
                    <a:lstStyle/>
                    <a:p>
                      <a:pPr algn="l"/>
                      <a:r>
                        <a:rPr sz="1800" b="0">
                          <a:solidFill>
                            <a:srgbClr val="182F46"/>
                          </a:solidFill>
                          <a:latin typeface="微软雅黑" panose="020B0503020204020204" charset="-122"/>
                          <a:ea typeface="微软雅黑" panose="020B0503020204020204" charset="-122"/>
                          <a:cs typeface="微软雅黑" panose="020B0503020204020204" charset="-122"/>
                        </a:rPr>
                        <a:t>H2 database and repository persistence</a:t>
                      </a:r>
                    </a:p>
                  </a:txBody>
                  <a:tcPr>
                    <a:solidFill>
                      <a:srgbClr val="F4F7F9"/>
                    </a:solidFill>
                  </a:tcPr>
                </a:tc>
                <a:tc>
                  <a:txBody>
                    <a:bodyPr/>
                    <a:lstStyle/>
                    <a:p>
                      <a:pPr algn="ctr"/>
                      <a:r>
                        <a:rPr sz="1800" b="1">
                          <a:solidFill>
                            <a:srgbClr val="2D8A68"/>
                          </a:solidFill>
                          <a:latin typeface="微软雅黑" panose="020B0503020204020204" charset="-122"/>
                          <a:ea typeface="微软雅黑" panose="020B0503020204020204" charset="-122"/>
                          <a:cs typeface="微软雅黑" panose="020B0503020204020204" charset="-122"/>
                        </a:rPr>
                        <a:t>7 / 7</a:t>
                      </a:r>
                    </a:p>
                  </a:txBody>
                  <a:tcPr>
                    <a:solidFill>
                      <a:srgbClr val="F4F7F9"/>
                    </a:solidFill>
                  </a:tcPr>
                </a:tc>
                <a:extLst>
                  <a:ext uri="{0D108BD9-81ED-4DB2-BD59-A6C34878D82A}">
                    <a16:rowId xmlns:a16="http://schemas.microsoft.com/office/drawing/2014/main" val="10002"/>
                  </a:ext>
                </a:extLst>
              </a:tr>
              <a:tr h="600075">
                <a:tc>
                  <a:txBody>
                    <a:bodyPr/>
                    <a:lstStyle/>
                    <a:p>
                      <a:pPr algn="l"/>
                      <a:r>
                        <a:rPr sz="1800" b="0">
                          <a:solidFill>
                            <a:srgbClr val="182F46"/>
                          </a:solidFill>
                          <a:latin typeface="微软雅黑" panose="020B0503020204020204" charset="-122"/>
                          <a:ea typeface="微软雅黑" panose="020B0503020204020204" charset="-122"/>
                          <a:cs typeface="微软雅黑" panose="020B0503020204020204" charset="-122"/>
                        </a:rPr>
                        <a:t>Worker persistence</a:t>
                      </a:r>
                    </a:p>
                  </a:txBody>
                  <a:tcPr>
                    <a:solidFill>
                      <a:srgbClr val="FFFFFF"/>
                    </a:solidFill>
                  </a:tcPr>
                </a:tc>
                <a:tc>
                  <a:txBody>
                    <a:bodyPr/>
                    <a:lstStyle/>
                    <a:p>
                      <a:pPr algn="l"/>
                      <a:r>
                        <a:rPr sz="1800" b="0">
                          <a:solidFill>
                            <a:srgbClr val="182F46"/>
                          </a:solidFill>
                          <a:latin typeface="微软雅黑" panose="020B0503020204020204" charset="-122"/>
                          <a:ea typeface="微软雅黑" panose="020B0503020204020204" charset="-122"/>
                          <a:cs typeface="微软雅黑" panose="020B0503020204020204" charset="-122"/>
                        </a:rPr>
                        <a:t>Worker writes and persisted state</a:t>
                      </a:r>
                    </a:p>
                  </a:txBody>
                  <a:tcPr>
                    <a:solidFill>
                      <a:srgbClr val="FFFFFF"/>
                    </a:solidFill>
                  </a:tcPr>
                </a:tc>
                <a:tc>
                  <a:txBody>
                    <a:bodyPr/>
                    <a:lstStyle/>
                    <a:p>
                      <a:pPr algn="ctr"/>
                      <a:r>
                        <a:rPr sz="1800" b="1">
                          <a:solidFill>
                            <a:srgbClr val="2D8A68"/>
                          </a:solidFill>
                          <a:latin typeface="微软雅黑" panose="020B0503020204020204" charset="-122"/>
                          <a:ea typeface="微软雅黑" panose="020B0503020204020204" charset="-122"/>
                          <a:cs typeface="微软雅黑" panose="020B0503020204020204" charset="-122"/>
                        </a:rPr>
                        <a:t>6 / 6</a:t>
                      </a:r>
                    </a:p>
                  </a:txBody>
                  <a:tcPr>
                    <a:solidFill>
                      <a:srgbClr val="FFFFFF"/>
                    </a:solidFill>
                  </a:tcPr>
                </a:tc>
                <a:extLst>
                  <a:ext uri="{0D108BD9-81ED-4DB2-BD59-A6C34878D82A}">
                    <a16:rowId xmlns:a16="http://schemas.microsoft.com/office/drawing/2014/main" val="10003"/>
                  </a:ext>
                </a:extLst>
              </a:tr>
              <a:tr h="600075">
                <a:tc>
                  <a:txBody>
                    <a:bodyPr/>
                    <a:lstStyle/>
                    <a:p>
                      <a:pPr algn="l"/>
                      <a:r>
                        <a:rPr sz="1800" b="0">
                          <a:solidFill>
                            <a:srgbClr val="182F46"/>
                          </a:solidFill>
                          <a:latin typeface="微软雅黑" panose="020B0503020204020204" charset="-122"/>
                          <a:ea typeface="微软雅黑" panose="020B0503020204020204" charset="-122"/>
                          <a:cs typeface="微软雅黑" panose="020B0503020204020204" charset="-122"/>
                        </a:rPr>
                        <a:t>Corridor message audit</a:t>
                      </a:r>
                    </a:p>
                  </a:txBody>
                  <a:tcPr>
                    <a:solidFill>
                      <a:srgbClr val="F4F7F9"/>
                    </a:solidFill>
                  </a:tcPr>
                </a:tc>
                <a:tc>
                  <a:txBody>
                    <a:bodyPr/>
                    <a:lstStyle/>
                    <a:p>
                      <a:pPr algn="l"/>
                      <a:r>
                        <a:rPr sz="1800" b="0">
                          <a:solidFill>
                            <a:srgbClr val="182F46"/>
                          </a:solidFill>
                          <a:latin typeface="微软雅黑" panose="020B0503020204020204" charset="-122"/>
                          <a:ea typeface="微软雅黑" panose="020B0503020204020204" charset="-122"/>
                          <a:cs typeface="微软雅黑" panose="020B0503020204020204" charset="-122"/>
                        </a:rPr>
                        <a:t>Message publication and audit records</a:t>
                      </a:r>
                    </a:p>
                  </a:txBody>
                  <a:tcPr>
                    <a:solidFill>
                      <a:srgbClr val="F4F7F9"/>
                    </a:solidFill>
                  </a:tcPr>
                </a:tc>
                <a:tc>
                  <a:txBody>
                    <a:bodyPr/>
                    <a:lstStyle/>
                    <a:p>
                      <a:pPr algn="ctr"/>
                      <a:r>
                        <a:rPr sz="1800" b="1">
                          <a:solidFill>
                            <a:srgbClr val="2D8A68"/>
                          </a:solidFill>
                          <a:latin typeface="微软雅黑" panose="020B0503020204020204" charset="-122"/>
                          <a:ea typeface="微软雅黑" panose="020B0503020204020204" charset="-122"/>
                          <a:cs typeface="微软雅黑" panose="020B0503020204020204" charset="-122"/>
                        </a:rPr>
                        <a:t>2 / 2</a:t>
                      </a:r>
                    </a:p>
                  </a:txBody>
                  <a:tcPr>
                    <a:solidFill>
                      <a:srgbClr val="F4F7F9"/>
                    </a:solidFill>
                  </a:tcPr>
                </a:tc>
                <a:extLst>
                  <a:ext uri="{0D108BD9-81ED-4DB2-BD59-A6C34878D82A}">
                    <a16:rowId xmlns:a16="http://schemas.microsoft.com/office/drawing/2014/main" val="10004"/>
                  </a:ext>
                </a:extLst>
              </a:tr>
              <a:tr h="600075">
                <a:tc>
                  <a:txBody>
                    <a:bodyPr/>
                    <a:lstStyle/>
                    <a:p>
                      <a:pPr algn="l"/>
                      <a:r>
                        <a:rPr sz="1400" b="0">
                          <a:solidFill>
                            <a:srgbClr val="182F46"/>
                          </a:solidFill>
                          <a:latin typeface="微软雅黑" panose="020B0503020204020204" charset="-122"/>
                          <a:ea typeface="微软雅黑" panose="020B0503020204020204" charset="-122"/>
                          <a:cs typeface="微软雅黑" panose="020B0503020204020204" charset="-122"/>
                        </a:rPr>
                        <a:t>Hospital pathway integration</a:t>
                      </a:r>
                    </a:p>
                  </a:txBody>
                  <a:tcPr>
                    <a:solidFill>
                      <a:srgbClr val="FFFFFF"/>
                    </a:solidFill>
                  </a:tcPr>
                </a:tc>
                <a:tc>
                  <a:txBody>
                    <a:bodyPr/>
                    <a:lstStyle/>
                    <a:p>
                      <a:r>
                        <a:rPr sz="1400"/>
                        <a:t>Referral, documents, access, monitoring, denied access, unverified change</a:t>
                      </a:r>
                    </a:p>
                  </a:txBody>
                  <a:tcPr>
                    <a:solidFill>
                      <a:srgbClr val="FFFFFF"/>
                    </a:solidFill>
                  </a:tcPr>
                </a:tc>
                <a:tc>
                  <a:txBody>
                    <a:bodyPr/>
                    <a:lstStyle/>
                    <a:p>
                      <a:r>
                        <a:rPr sz="1400"/>
                        <a:t>6 / 6</a:t>
                      </a:r>
                    </a:p>
                  </a:txBody>
                  <a:tcPr>
                    <a:solidFill>
                      <a:srgbClr val="FFFFFF"/>
                    </a:solidFill>
                  </a:tcPr>
                </a:tc>
                <a:extLst>
                  <a:ext uri="{0D108BD9-81ED-4DB2-BD59-A6C34878D82A}">
                    <a16:rowId xmlns:a16="http://schemas.microsoft.com/office/drawing/2014/main" val="10005"/>
                  </a:ext>
                </a:extLst>
              </a:tr>
            </a:tbl>
          </a:graphicData>
        </a:graphic>
      </p:graphicFrame>
      <p:sp>
        <p:nvSpPr>
          <p:cNvPr id="11" name="TextBox 10"/>
          <p:cNvSpPr txBox="1"/>
          <p:nvPr/>
        </p:nvSpPr>
        <p:spPr>
          <a:xfrm>
            <a:off x="742950" y="5779008"/>
            <a:ext cx="10698480" cy="411480"/>
          </a:xfrm>
          <a:prstGeom prst="rect">
            <a:avLst/>
          </a:prstGeom>
          <a:noFill/>
        </p:spPr>
        <p:txBody>
          <a:bodyPr wrap="square">
            <a:spAutoFit/>
          </a:bodyPr>
          <a:lstStyle/>
          <a:p>
            <a:pPr>
              <a:spcAft>
                <a:spcPts val="0"/>
              </a:spcAft>
            </a:pPr>
            <a:r>
              <a:rPr sz="1600" b="1">
                <a:solidFill>
                  <a:srgbClr val="168C83"/>
                </a:solidFill>
                <a:latin typeface="微软雅黑"/>
              </a:rPr>
              <a:t>Total: 28 / 28 tests pass on the current source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矩形 2"/>
          <p:cNvSpPr>
            <a:spLocks noGrp="1"/>
          </p:cNvSpPr>
          <p:nvPr>
            <p:custDataLst>
              <p:tags r:id="rId1"/>
            </p:custDataLst>
          </p:nvPr>
        </p:nvSpPr>
        <p:spPr>
          <a:xfrm>
            <a:off x="685800" y="269875"/>
            <a:ext cx="5219065" cy="1187450"/>
          </a:xfrm>
          <a:prstGeom prst="rect">
            <a:avLst/>
          </a:prstGeom>
          <a:noFill/>
          <a:ln w="0">
            <a:noFill/>
          </a:ln>
        </p:spPr>
        <p:txBody>
          <a:bodyPr/>
          <a:lstStyle/>
          <a:p>
            <a:pPr algn="l">
              <a:defRPr sz="1350" b="1">
                <a:solidFill>
                  <a:srgbClr val="132B42"/>
                </a:solidFill>
                <a:latin typeface="微软雅黑" panose="020B0503020204020204" charset="-122"/>
                <a:ea typeface="微软雅黑" panose="020B0503020204020204" charset="-122"/>
                <a:cs typeface="微软雅黑" panose="020B0503020204020204" charset="-122"/>
              </a:defRPr>
            </a:pPr>
            <a:r>
              <a:rPr sz="2000" b="1">
                <a:solidFill>
                  <a:srgbClr val="132B42"/>
                </a:solidFill>
                <a:latin typeface="微软雅黑" panose="020B0503020204020204" charset="-122"/>
                <a:ea typeface="微软雅黑" panose="020B0503020204020204" charset="-122"/>
                <a:cs typeface="微软雅黑" panose="020B0503020204020204" charset="-122"/>
              </a:rPr>
              <a:t>Hospital database  7 / 7</a:t>
            </a:r>
          </a:p>
        </p:txBody>
      </p:sp>
      <p:pic>
        <p:nvPicPr>
          <p:cNvPr id="14" name="图片 13"/>
          <p:cNvPicPr>
            <a:picLocks noChangeAspect="1"/>
          </p:cNvPicPr>
          <p:nvPr>
            <p:custDataLst>
              <p:tags r:id="rId2"/>
            </p:custDataLst>
          </p:nvPr>
        </p:nvPicPr>
        <p:blipFill>
          <a:blip r:embed="rId11"/>
          <a:stretch>
            <a:fillRect/>
          </a:stretch>
        </p:blipFill>
        <p:spPr>
          <a:xfrm>
            <a:off x="685800" y="833755"/>
            <a:ext cx="5027295" cy="2437765"/>
          </a:xfrm>
          <a:prstGeom prst="rect">
            <a:avLst/>
          </a:prstGeom>
        </p:spPr>
      </p:pic>
      <p:sp>
        <p:nvSpPr>
          <p:cNvPr id="5" name="矩形 4"/>
          <p:cNvSpPr>
            <a:spLocks noGrp="1"/>
          </p:cNvSpPr>
          <p:nvPr>
            <p:custDataLst>
              <p:tags r:id="rId3"/>
            </p:custDataLst>
          </p:nvPr>
        </p:nvSpPr>
        <p:spPr>
          <a:xfrm>
            <a:off x="6248400" y="269875"/>
            <a:ext cx="5038090" cy="1254760"/>
          </a:xfrm>
          <a:prstGeom prst="rect">
            <a:avLst/>
          </a:prstGeom>
          <a:noFill/>
          <a:ln w="0">
            <a:noFill/>
          </a:ln>
        </p:spPr>
        <p:txBody>
          <a:bodyPr/>
          <a:lstStyle/>
          <a:p>
            <a:pPr algn="l">
              <a:defRPr sz="1350" b="1">
                <a:solidFill>
                  <a:srgbClr val="132B42"/>
                </a:solidFill>
                <a:latin typeface="微软雅黑" panose="020B0503020204020204" charset="-122"/>
                <a:ea typeface="微软雅黑" panose="020B0503020204020204" charset="-122"/>
                <a:cs typeface="微软雅黑" panose="020B0503020204020204" charset="-122"/>
              </a:defRPr>
            </a:pPr>
            <a:r>
              <a:rPr sz="2000" b="1">
                <a:solidFill>
                  <a:srgbClr val="132B42"/>
                </a:solidFill>
                <a:latin typeface="微软雅黑" panose="020B0503020204020204" charset="-122"/>
                <a:ea typeface="微软雅黑" panose="020B0503020204020204" charset="-122"/>
                <a:cs typeface="微软雅黑" panose="020B0503020204020204" charset="-122"/>
              </a:rPr>
              <a:t>Corridor message audit  2 / 2</a:t>
            </a:r>
          </a:p>
        </p:txBody>
      </p:sp>
      <p:pic>
        <p:nvPicPr>
          <p:cNvPr id="16" name="图片 15"/>
          <p:cNvPicPr>
            <a:picLocks noChangeAspect="1"/>
          </p:cNvPicPr>
          <p:nvPr>
            <p:custDataLst>
              <p:tags r:id="rId4"/>
            </p:custDataLst>
          </p:nvPr>
        </p:nvPicPr>
        <p:blipFill>
          <a:blip r:embed="rId12"/>
          <a:stretch>
            <a:fillRect/>
          </a:stretch>
        </p:blipFill>
        <p:spPr>
          <a:xfrm>
            <a:off x="6248400" y="833755"/>
            <a:ext cx="5106035" cy="2437765"/>
          </a:xfrm>
          <a:prstGeom prst="rect">
            <a:avLst/>
          </a:prstGeom>
        </p:spPr>
      </p:pic>
      <p:sp>
        <p:nvSpPr>
          <p:cNvPr id="7" name="矩形 6"/>
          <p:cNvSpPr>
            <a:spLocks noGrp="1"/>
          </p:cNvSpPr>
          <p:nvPr>
            <p:custDataLst>
              <p:tags r:id="rId5"/>
            </p:custDataLst>
          </p:nvPr>
        </p:nvSpPr>
        <p:spPr>
          <a:xfrm>
            <a:off x="675005" y="3491865"/>
            <a:ext cx="5038090" cy="1170940"/>
          </a:xfrm>
          <a:prstGeom prst="rect">
            <a:avLst/>
          </a:prstGeom>
          <a:noFill/>
          <a:ln w="0">
            <a:noFill/>
          </a:ln>
        </p:spPr>
        <p:txBody>
          <a:bodyPr/>
          <a:lstStyle/>
          <a:p>
            <a:pPr algn="l">
              <a:defRPr sz="1350" b="1">
                <a:solidFill>
                  <a:srgbClr val="132B42"/>
                </a:solidFill>
                <a:latin typeface="微软雅黑" panose="020B0503020204020204" charset="-122"/>
                <a:ea typeface="微软雅黑" panose="020B0503020204020204" charset="-122"/>
                <a:cs typeface="微软雅黑" panose="020B0503020204020204" charset="-122"/>
              </a:defRPr>
            </a:pPr>
            <a:r>
              <a:rPr sz="2000" b="1">
                <a:solidFill>
                  <a:srgbClr val="132B42"/>
                </a:solidFill>
                <a:latin typeface="微软雅黑" panose="020B0503020204020204" charset="-122"/>
                <a:ea typeface="微软雅黑" panose="020B0503020204020204" charset="-122"/>
                <a:cs typeface="微软雅黑" panose="020B0503020204020204" charset="-122"/>
              </a:rPr>
              <a:t>Worker persistence  6 / 6</a:t>
            </a:r>
          </a:p>
        </p:txBody>
      </p:sp>
      <p:pic>
        <p:nvPicPr>
          <p:cNvPr id="18" name="图片 17"/>
          <p:cNvPicPr>
            <a:picLocks noChangeAspect="1"/>
          </p:cNvPicPr>
          <p:nvPr>
            <p:custDataLst>
              <p:tags r:id="rId6"/>
            </p:custDataLst>
          </p:nvPr>
        </p:nvPicPr>
        <p:blipFill>
          <a:blip r:embed="rId13"/>
          <a:stretch>
            <a:fillRect/>
          </a:stretch>
        </p:blipFill>
        <p:spPr>
          <a:xfrm>
            <a:off x="685800" y="3967480"/>
            <a:ext cx="5165725" cy="2493010"/>
          </a:xfrm>
          <a:prstGeom prst="rect">
            <a:avLst/>
          </a:prstGeom>
        </p:spPr>
      </p:pic>
      <p:sp>
        <p:nvSpPr>
          <p:cNvPr id="9" name="矩形 8"/>
          <p:cNvSpPr>
            <a:spLocks noGrp="1"/>
          </p:cNvSpPr>
          <p:nvPr>
            <p:custDataLst>
              <p:tags r:id="rId7"/>
            </p:custDataLst>
          </p:nvPr>
        </p:nvSpPr>
        <p:spPr>
          <a:xfrm>
            <a:off x="6248400" y="3491865"/>
            <a:ext cx="5106035" cy="913130"/>
          </a:xfrm>
          <a:prstGeom prst="rect">
            <a:avLst/>
          </a:prstGeom>
          <a:noFill/>
          <a:ln w="0">
            <a:noFill/>
          </a:ln>
        </p:spPr>
        <p:txBody>
          <a:bodyPr/>
          <a:lstStyle/>
          <a:p>
            <a:pPr algn="l">
              <a:defRPr sz="1350" b="1">
                <a:solidFill>
                  <a:srgbClr val="132B42"/>
                </a:solidFill>
                <a:latin typeface="微软雅黑" panose="020B0503020204020204" charset="-122"/>
                <a:ea typeface="微软雅黑" panose="020B0503020204020204" charset="-122"/>
                <a:cs typeface="微软雅黑" panose="020B0503020204020204" charset="-122"/>
              </a:defRPr>
            </a:pPr>
            <a:r>
              <a:rPr sz="2000" b="1">
                <a:solidFill>
                  <a:srgbClr val="132B42"/>
                </a:solidFill>
                <a:latin typeface="微软雅黑" panose="020B0503020204020204" charset="-122"/>
                <a:ea typeface="微软雅黑" panose="020B0503020204020204" charset="-122"/>
                <a:cs typeface="微软雅黑" panose="020B0503020204020204" charset="-122"/>
              </a:rPr>
              <a:t>BPMN model coverage  7 / 7</a:t>
            </a:r>
          </a:p>
        </p:txBody>
      </p:sp>
      <p:pic>
        <p:nvPicPr>
          <p:cNvPr id="20" name="图片 19"/>
          <p:cNvPicPr>
            <a:picLocks noChangeAspect="1"/>
          </p:cNvPicPr>
          <p:nvPr>
            <p:custDataLst>
              <p:tags r:id="rId8"/>
            </p:custDataLst>
          </p:nvPr>
        </p:nvPicPr>
        <p:blipFill>
          <a:blip r:embed="rId14"/>
          <a:stretch>
            <a:fillRect/>
          </a:stretch>
        </p:blipFill>
        <p:spPr>
          <a:xfrm>
            <a:off x="6248400" y="3967480"/>
            <a:ext cx="5061585" cy="249301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矩形 10"/>
          <p:cNvSpPr>
            <a:spLocks noGrp="1"/>
          </p:cNvSpPr>
          <p:nvPr/>
        </p:nvSpPr>
        <p:spPr>
          <a:xfrm>
            <a:off x="664535" y="532192"/>
            <a:ext cx="10668000" cy="590550"/>
          </a:xfrm>
          <a:prstGeom prst="rect">
            <a:avLst/>
          </a:prstGeom>
          <a:noFill/>
          <a:ln w="0">
            <a:noFill/>
          </a:ln>
        </p:spPr>
        <p:txBody>
          <a:bodyPr>
            <a:normAutofit fontScale="99242" lnSpcReduction="10000"/>
          </a:bodyPr>
          <a:lstStyle/>
          <a:p>
            <a:pPr algn="l">
              <a:defRPr sz="3300" b="1">
                <a:solidFill>
                  <a:srgbClr val="132B42"/>
                </a:solidFill>
                <a:latin typeface="微软雅黑" panose="020B0503020204020204" charset="-122"/>
                <a:ea typeface="微软雅黑" panose="020B0503020204020204" charset="-122"/>
                <a:cs typeface="微软雅黑" panose="020B0503020204020204" charset="-122"/>
              </a:defRPr>
            </a:pPr>
            <a:r>
              <a:rPr sz="3300" b="1" dirty="0">
                <a:solidFill>
                  <a:srgbClr val="132B42"/>
                </a:solidFill>
                <a:latin typeface="微软雅黑" panose="020B0503020204020204" charset="-122"/>
                <a:ea typeface="微软雅黑" panose="020B0503020204020204" charset="-122"/>
                <a:cs typeface="微软雅黑" panose="020B0503020204020204" charset="-122"/>
              </a:rPr>
              <a:t>Hospital Pathway Integration Test</a:t>
            </a:r>
          </a:p>
        </p:txBody>
      </p:sp>
      <p:sp>
        <p:nvSpPr>
          <p:cNvPr id="3" name="矩形 2"/>
          <p:cNvSpPr>
            <a:spLocks noGrp="1"/>
          </p:cNvSpPr>
          <p:nvPr/>
        </p:nvSpPr>
        <p:spPr>
          <a:xfrm>
            <a:off x="8102334" y="417892"/>
            <a:ext cx="2667000" cy="704850"/>
          </a:xfrm>
          <a:prstGeom prst="rect">
            <a:avLst/>
          </a:prstGeom>
          <a:noFill/>
          <a:ln w="0">
            <a:noFill/>
          </a:ln>
        </p:spPr>
        <p:txBody>
          <a:bodyPr>
            <a:normAutofit fontScale="95833"/>
          </a:bodyPr>
          <a:lstStyle/>
          <a:p>
            <a:pPr algn="l">
              <a:defRPr sz="4200" b="1">
                <a:solidFill>
                  <a:srgbClr val="2D8A68"/>
                </a:solidFill>
                <a:latin typeface="微软雅黑" panose="020B0503020204020204" charset="-122"/>
                <a:ea typeface="微软雅黑" panose="020B0503020204020204" charset="-122"/>
                <a:cs typeface="微软雅黑" panose="020B0503020204020204" charset="-122"/>
              </a:defRPr>
            </a:pPr>
            <a:r>
              <a:rPr sz="3600" b="1" dirty="0">
                <a:solidFill>
                  <a:srgbClr val="168C83"/>
                </a:solidFill>
                <a:latin typeface="微软雅黑" panose="020B0503020204020204" charset="-122"/>
                <a:ea typeface="微软雅黑" panose="020B0503020204020204" charset="-122"/>
                <a:cs typeface="微软雅黑" panose="020B0503020204020204" charset="-122"/>
              </a:rPr>
              <a:t>6 / 6</a:t>
            </a:r>
          </a:p>
        </p:txBody>
      </p:sp>
      <p:sp>
        <p:nvSpPr>
          <p:cNvPr id="5" name="矩形 4"/>
          <p:cNvSpPr>
            <a:spLocks noGrp="1"/>
          </p:cNvSpPr>
          <p:nvPr/>
        </p:nvSpPr>
        <p:spPr>
          <a:xfrm>
            <a:off x="3470275" y="4345940"/>
            <a:ext cx="5251450" cy="2694305"/>
          </a:xfrm>
          <a:prstGeom prst="rect">
            <a:avLst/>
          </a:prstGeom>
          <a:noFill/>
          <a:ln w="0">
            <a:noFill/>
          </a:ln>
        </p:spPr>
        <p:txBody>
          <a:bodyPr>
            <a:normAutofit lnSpcReduction="10000"/>
          </a:bodyPr>
          <a:lstStyle/>
          <a:p>
            <a:pPr algn="l">
              <a:defRPr sz="1350" b="0">
                <a:solidFill>
                  <a:srgbClr val="182F46"/>
                </a:solidFill>
                <a:latin typeface="微软雅黑" panose="020B0503020204020204" charset="-122"/>
                <a:ea typeface="微软雅黑" panose="020B0503020204020204" charset="-122"/>
                <a:cs typeface="微软雅黑" panose="020B0503020204020204" charset="-122"/>
              </a:defRPr>
            </a:pPr>
            <a:r>
              <a:rPr sz="1600" b="1" dirty="0">
                <a:solidFill>
                  <a:srgbClr val="132B42"/>
                </a:solidFill>
                <a:sym typeface="+mn-ea"/>
              </a:rPr>
              <a:t>Scenarios marked passed in the IDE summary</a:t>
            </a:r>
            <a:endParaRPr sz="1600" b="1" dirty="0">
              <a:solidFill>
                <a:srgbClr val="132B42"/>
              </a:solidFill>
              <a:latin typeface="微软雅黑" panose="020B0503020204020204" charset="-122"/>
              <a:ea typeface="微软雅黑" panose="020B0503020204020204" charset="-122"/>
              <a:cs typeface="微软雅黑" panose="020B0503020204020204" charset="-122"/>
            </a:endParaRPr>
          </a:p>
          <a:p>
            <a:pPr algn="l">
              <a:defRPr sz="1350" b="0">
                <a:solidFill>
                  <a:srgbClr val="182F46"/>
                </a:solidFill>
                <a:latin typeface="微软雅黑" panose="020B0503020204020204" charset="-122"/>
                <a:ea typeface="微软雅黑" panose="020B0503020204020204" charset="-122"/>
                <a:cs typeface="微软雅黑" panose="020B0503020204020204" charset="-122"/>
              </a:defRPr>
            </a:pPr>
            <a:endParaRPr sz="1600" b="0" dirty="0">
              <a:solidFill>
                <a:srgbClr val="182F46"/>
              </a:solidFill>
              <a:latin typeface="微软雅黑" panose="020B0503020204020204" charset="-122"/>
              <a:ea typeface="微软雅黑" panose="020B0503020204020204" charset="-122"/>
              <a:cs typeface="微软雅黑" panose="020B0503020204020204" charset="-122"/>
            </a:endParaRPr>
          </a:p>
          <a:p>
            <a:pPr algn="l">
              <a:defRPr sz="1350" b="0">
                <a:solidFill>
                  <a:srgbClr val="182F46"/>
                </a:solidFill>
                <a:latin typeface="微软雅黑" panose="020B0503020204020204" charset="-122"/>
                <a:ea typeface="微软雅黑" panose="020B0503020204020204" charset="-122"/>
                <a:cs typeface="微软雅黑" panose="020B0503020204020204" charset="-122"/>
              </a:defRPr>
            </a:pPr>
            <a:r>
              <a:rPr sz="1600" b="0" dirty="0">
                <a:solidFill>
                  <a:srgbClr val="182F46"/>
                </a:solidFill>
                <a:latin typeface="微软雅黑" panose="020B0503020204020204" charset="-122"/>
                <a:ea typeface="微软雅黑" panose="020B0503020204020204" charset="-122"/>
                <a:cs typeface="微软雅黑" panose="020B0503020204020204" charset="-122"/>
              </a:rPr>
              <a:t>1</a:t>
            </a:r>
            <a:r>
              <a:rPr lang="en-US" sz="1600" b="0" dirty="0">
                <a:solidFill>
                  <a:srgbClr val="182F46"/>
                </a:solidFill>
                <a:latin typeface="微软雅黑" panose="020B0503020204020204" charset="-122"/>
                <a:ea typeface="微软雅黑" panose="020B0503020204020204" charset="-122"/>
                <a:cs typeface="微软雅黑" panose="020B0503020204020204" charset="-122"/>
              </a:rPr>
              <a:t>: </a:t>
            </a:r>
            <a:r>
              <a:rPr sz="1600" b="0" dirty="0">
                <a:solidFill>
                  <a:srgbClr val="182F46"/>
                </a:solidFill>
                <a:latin typeface="微软雅黑" panose="020B0503020204020204" charset="-122"/>
                <a:ea typeface="微软雅黑" panose="020B0503020204020204" charset="-122"/>
                <a:cs typeface="微软雅黑" panose="020B0503020204020204" charset="-122"/>
              </a:rPr>
              <a:t>Referral review outcome is sent</a:t>
            </a:r>
            <a:endParaRPr lang="en-US" sz="1600" b="0" dirty="0">
              <a:solidFill>
                <a:srgbClr val="182F46"/>
              </a:solidFill>
              <a:latin typeface="微软雅黑" panose="020B0503020204020204" charset="-122"/>
              <a:ea typeface="微软雅黑" panose="020B0503020204020204" charset="-122"/>
              <a:cs typeface="微软雅黑" panose="020B0503020204020204" charset="-122"/>
            </a:endParaRPr>
          </a:p>
          <a:p>
            <a:pPr algn="l">
              <a:defRPr sz="1350" b="0">
                <a:solidFill>
                  <a:srgbClr val="182F46"/>
                </a:solidFill>
                <a:latin typeface="微软雅黑" panose="020B0503020204020204" charset="-122"/>
                <a:ea typeface="微软雅黑" panose="020B0503020204020204" charset="-122"/>
                <a:cs typeface="微软雅黑" panose="020B0503020204020204" charset="-122"/>
              </a:defRPr>
            </a:pPr>
            <a:endParaRPr lang="en-US" sz="1600" b="0" dirty="0">
              <a:solidFill>
                <a:srgbClr val="182F46"/>
              </a:solidFill>
              <a:latin typeface="微软雅黑" panose="020B0503020204020204" charset="-122"/>
              <a:ea typeface="微软雅黑" panose="020B0503020204020204" charset="-122"/>
              <a:cs typeface="微软雅黑" panose="020B0503020204020204" charset="-122"/>
            </a:endParaRPr>
          </a:p>
          <a:p>
            <a:pPr>
              <a:defRPr sz="1350" b="0">
                <a:solidFill>
                  <a:srgbClr val="182F46"/>
                </a:solidFill>
                <a:latin typeface="微软雅黑" panose="020B0503020204020204" charset="-122"/>
                <a:ea typeface="微软雅黑" panose="020B0503020204020204" charset="-122"/>
                <a:cs typeface="微软雅黑" panose="020B0503020204020204" charset="-122"/>
              </a:defRPr>
            </a:pPr>
            <a:r>
              <a:rPr lang="en-US" altLang="zh-CN" sz="1600" dirty="0">
                <a:solidFill>
                  <a:srgbClr val="182F46"/>
                </a:solidFill>
                <a:latin typeface="微软雅黑" panose="020B0503020204020204" charset="-122"/>
                <a:ea typeface="微软雅黑" panose="020B0503020204020204" charset="-122"/>
                <a:cs typeface="微软雅黑" panose="020B0503020204020204" charset="-122"/>
              </a:rPr>
              <a:t>2: Missing documents return by </a:t>
            </a:r>
            <a:r>
              <a:rPr lang="en-US" altLang="zh-CN" sz="1600" dirty="0" err="1">
                <a:solidFill>
                  <a:srgbClr val="182F46"/>
                </a:solidFill>
                <a:latin typeface="微软雅黑" panose="020B0503020204020204" charset="-122"/>
                <a:ea typeface="微软雅黑" panose="020B0503020204020204" charset="-122"/>
                <a:cs typeface="微软雅黑" panose="020B0503020204020204" charset="-122"/>
              </a:rPr>
              <a:t>referralId</a:t>
            </a:r>
            <a:endParaRPr lang="en-US" altLang="zh-CN" sz="1600" dirty="0">
              <a:solidFill>
                <a:srgbClr val="182F46"/>
              </a:solidFill>
              <a:latin typeface="微软雅黑" panose="020B0503020204020204" charset="-122"/>
              <a:ea typeface="微软雅黑" panose="020B0503020204020204" charset="-122"/>
              <a:cs typeface="微软雅黑" panose="020B0503020204020204" charset="-122"/>
            </a:endParaRPr>
          </a:p>
          <a:p>
            <a:pPr>
              <a:defRPr sz="1350" b="0">
                <a:solidFill>
                  <a:srgbClr val="182F46"/>
                </a:solidFill>
                <a:latin typeface="微软雅黑" panose="020B0503020204020204" charset="-122"/>
                <a:ea typeface="微软雅黑" panose="020B0503020204020204" charset="-122"/>
                <a:cs typeface="微软雅黑" panose="020B0503020204020204" charset="-122"/>
              </a:defRPr>
            </a:pPr>
            <a:endParaRPr lang="en-US" altLang="zh-CN" sz="1600" dirty="0">
              <a:solidFill>
                <a:srgbClr val="182F46"/>
              </a:solidFill>
              <a:latin typeface="微软雅黑" panose="020B0503020204020204" charset="-122"/>
              <a:ea typeface="微软雅黑" panose="020B0503020204020204" charset="-122"/>
              <a:cs typeface="微软雅黑" panose="020B0503020204020204" charset="-122"/>
            </a:endParaRPr>
          </a:p>
          <a:p>
            <a:pPr>
              <a:defRPr sz="1350" b="0">
                <a:solidFill>
                  <a:srgbClr val="182F46"/>
                </a:solidFill>
                <a:latin typeface="微软雅黑" panose="020B0503020204020204" charset="-122"/>
                <a:ea typeface="微软雅黑" panose="020B0503020204020204" charset="-122"/>
                <a:cs typeface="微软雅黑" panose="020B0503020204020204" charset="-122"/>
              </a:defRPr>
            </a:pPr>
            <a:r>
              <a:rPr lang="en-US" altLang="zh-CN" sz="1600" dirty="0">
                <a:solidFill>
                  <a:srgbClr val="182F46"/>
                </a:solidFill>
                <a:latin typeface="微软雅黑" panose="020B0503020204020204" charset="-122"/>
                <a:ea typeface="微软雅黑" panose="020B0503020204020204" charset="-122"/>
                <a:cs typeface="微软雅黑" panose="020B0503020204020204" charset="-122"/>
              </a:rPr>
              <a:t>3: Access request follows human and audit steps</a:t>
            </a:r>
          </a:p>
          <a:p>
            <a:pPr>
              <a:defRPr sz="1350" b="0">
                <a:solidFill>
                  <a:srgbClr val="182F46"/>
                </a:solidFill>
                <a:latin typeface="微软雅黑" panose="020B0503020204020204" charset="-122"/>
                <a:ea typeface="微软雅黑" panose="020B0503020204020204" charset="-122"/>
                <a:cs typeface="微软雅黑" panose="020B0503020204020204" charset="-122"/>
              </a:defRPr>
            </a:pPr>
            <a:endParaRPr lang="en-US" altLang="zh-CN" sz="1600" dirty="0">
              <a:solidFill>
                <a:srgbClr val="182F46"/>
              </a:solidFill>
              <a:latin typeface="微软雅黑" panose="020B0503020204020204" charset="-122"/>
              <a:ea typeface="微软雅黑" panose="020B0503020204020204" charset="-122"/>
              <a:cs typeface="微软雅黑" panose="020B0503020204020204" charset="-122"/>
            </a:endParaRPr>
          </a:p>
          <a:p>
            <a:pPr>
              <a:defRPr sz="1350" b="0">
                <a:solidFill>
                  <a:srgbClr val="182F46"/>
                </a:solidFill>
                <a:latin typeface="微软雅黑" panose="020B0503020204020204" charset="-122"/>
                <a:ea typeface="微软雅黑" panose="020B0503020204020204" charset="-122"/>
                <a:cs typeface="微软雅黑" panose="020B0503020204020204" charset="-122"/>
              </a:defRPr>
            </a:pPr>
            <a:r>
              <a:rPr lang="en-US" altLang="zh-CN" sz="1600" dirty="0">
                <a:solidFill>
                  <a:srgbClr val="182F46"/>
                </a:solidFill>
                <a:latin typeface="微软雅黑" panose="020B0503020204020204" charset="-122"/>
                <a:ea typeface="微软雅黑" panose="020B0503020204020204" charset="-122"/>
                <a:cs typeface="微软雅黑" panose="020B0503020204020204" charset="-122"/>
              </a:rPr>
              <a:t>4: Monitoring request reaches reporting workers
5: Denied access is audited without granting access
6: Unverified appointment change cannot update the booking</a:t>
            </a:r>
          </a:p>
          <a:p>
            <a:pPr algn="l">
              <a:defRPr sz="1350" b="0">
                <a:solidFill>
                  <a:srgbClr val="182F46"/>
                </a:solidFill>
                <a:latin typeface="微软雅黑" panose="020B0503020204020204" charset="-122"/>
                <a:ea typeface="微软雅黑" panose="020B0503020204020204" charset="-122"/>
                <a:cs typeface="微软雅黑" panose="020B0503020204020204" charset="-122"/>
              </a:defRPr>
            </a:pPr>
            <a:endParaRPr sz="1600" b="0" dirty="0">
              <a:solidFill>
                <a:srgbClr val="182F46"/>
              </a:solidFill>
              <a:latin typeface="微软雅黑" panose="020B0503020204020204" charset="-122"/>
              <a:ea typeface="微软雅黑" panose="020B0503020204020204" charset="-122"/>
              <a:cs typeface="微软雅黑" panose="020B0503020204020204" charset="-122"/>
            </a:endParaRPr>
          </a:p>
        </p:txBody>
      </p:sp>
      <p:pic>
        <p:nvPicPr>
          <p:cNvPr id="19" name="图片 18"/>
          <p:cNvPicPr>
            <a:picLocks noChangeAspect="1"/>
          </p:cNvPicPr>
          <p:nvPr/>
        </p:nvPicPr>
        <p:blipFill>
          <a:blip r:embed="rId3"/>
          <a:stretch>
            <a:fillRect/>
          </a:stretch>
        </p:blipFill>
        <p:spPr>
          <a:xfrm>
            <a:off x="3065780" y="1266825"/>
            <a:ext cx="6060440" cy="293433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Grp="1"/>
          </p:cNvSpPr>
          <p:nvPr/>
        </p:nvSpPr>
        <p:spPr>
          <a:xfrm>
            <a:off x="2325370" y="2049780"/>
            <a:ext cx="7541895" cy="876300"/>
          </a:xfrm>
          <a:prstGeom prst="rect">
            <a:avLst/>
          </a:prstGeom>
          <a:noFill/>
          <a:ln w="0">
            <a:noFill/>
          </a:ln>
        </p:spPr>
        <p:txBody>
          <a:bodyPr>
            <a:noAutofit/>
          </a:bodyPr>
          <a:lstStyle/>
          <a:p>
            <a:pPr algn="ctr">
              <a:defRPr sz="4575" b="1">
                <a:solidFill>
                  <a:srgbClr val="FFFFFF"/>
                </a:solidFill>
                <a:latin typeface="微软雅黑" panose="020B0503020204020204" charset="-122"/>
                <a:ea typeface="微软雅黑" panose="020B0503020204020204" charset="-122"/>
                <a:cs typeface="微软雅黑" panose="020B0503020204020204" charset="-122"/>
              </a:defRPr>
            </a:pPr>
            <a:r>
              <a:rPr lang="en-US" sz="6600" b="1">
                <a:solidFill>
                  <a:schemeClr val="tx1"/>
                </a:solidFill>
                <a:latin typeface="微软雅黑" panose="020B0503020204020204" charset="-122"/>
                <a:ea typeface="微软雅黑" panose="020B0503020204020204" charset="-122"/>
                <a:cs typeface="微软雅黑" panose="020B0503020204020204" charset="-122"/>
              </a:rPr>
              <a:t>THANK YOU</a:t>
            </a:r>
          </a:p>
        </p:txBody>
      </p:sp>
      <p:sp>
        <p:nvSpPr>
          <p:cNvPr id="4" name="矩形 3"/>
          <p:cNvSpPr>
            <a:spLocks noGrp="1"/>
          </p:cNvSpPr>
          <p:nvPr/>
        </p:nvSpPr>
        <p:spPr>
          <a:xfrm>
            <a:off x="4958080" y="3176905"/>
            <a:ext cx="2275840" cy="514350"/>
          </a:xfrm>
          <a:prstGeom prst="rect">
            <a:avLst/>
          </a:prstGeom>
          <a:noFill/>
          <a:ln w="0">
            <a:noFill/>
          </a:ln>
        </p:spPr>
        <p:txBody>
          <a:bodyPr/>
          <a:lstStyle/>
          <a:p>
            <a:pPr algn="ctr">
              <a:defRPr sz="2475" b="1">
                <a:solidFill>
                  <a:srgbClr val="7FD5C4"/>
                </a:solidFill>
                <a:latin typeface="微软雅黑" panose="020B0503020204020204" charset="-122"/>
                <a:ea typeface="微软雅黑" panose="020B0503020204020204" charset="-122"/>
                <a:cs typeface="微软雅黑" panose="020B0503020204020204" charset="-122"/>
              </a:defRPr>
            </a:pPr>
            <a:r>
              <a:rPr lang="en-US" sz="3200" b="1">
                <a:solidFill>
                  <a:srgbClr val="7FD5C4"/>
                </a:solidFill>
                <a:latin typeface="微软雅黑" panose="020B0503020204020204" charset="-122"/>
                <a:ea typeface="微软雅黑" panose="020B0503020204020204" charset="-122"/>
                <a:cs typeface="微软雅黑" panose="020B0503020204020204" charset="-122"/>
              </a:rPr>
              <a:t>Group 19</a:t>
            </a:r>
          </a:p>
        </p:txBody>
      </p:sp>
      <p:sp>
        <p:nvSpPr>
          <p:cNvPr id="6" name="矩形 5"/>
          <p:cNvSpPr>
            <a:spLocks noGrp="1"/>
          </p:cNvSpPr>
          <p:nvPr/>
        </p:nvSpPr>
        <p:spPr>
          <a:xfrm>
            <a:off x="3789045" y="3895725"/>
            <a:ext cx="4613910" cy="1855470"/>
          </a:xfrm>
          <a:prstGeom prst="rect">
            <a:avLst/>
          </a:prstGeom>
          <a:noFill/>
          <a:ln w="0">
            <a:noFill/>
          </a:ln>
        </p:spPr>
        <p:txBody>
          <a:bodyPr/>
          <a:lstStyle/>
          <a:p>
            <a:pPr algn="ctr">
              <a:defRPr sz="1500" b="0">
                <a:solidFill>
                  <a:srgbClr val="BCCBD7"/>
                </a:solidFill>
                <a:latin typeface="微软雅黑" panose="020B0503020204020204" charset="-122"/>
                <a:ea typeface="微软雅黑" panose="020B0503020204020204" charset="-122"/>
                <a:cs typeface="微软雅黑" panose="020B0503020204020204" charset="-122"/>
              </a:defRPr>
            </a:pPr>
            <a:r>
              <a:rPr lang="en-US" sz="2800" b="0">
                <a:solidFill>
                  <a:schemeClr val="accent1"/>
                </a:solidFill>
                <a:latin typeface="微软雅黑" panose="020B0503020204020204" charset="-122"/>
                <a:ea typeface="微软雅黑" panose="020B0503020204020204" charset="-122"/>
                <a:cs typeface="微软雅黑" panose="020B0503020204020204" charset="-122"/>
              </a:rPr>
              <a:t>Xinran Zhang	23084415</a:t>
            </a:r>
          </a:p>
          <a:p>
            <a:pPr algn="ctr">
              <a:defRPr sz="1500" b="0">
                <a:solidFill>
                  <a:srgbClr val="BCCBD7"/>
                </a:solidFill>
                <a:latin typeface="微软雅黑" panose="020B0503020204020204" charset="-122"/>
                <a:ea typeface="微软雅黑" panose="020B0503020204020204" charset="-122"/>
                <a:cs typeface="微软雅黑" panose="020B0503020204020204" charset="-122"/>
              </a:defRPr>
            </a:pPr>
            <a:r>
              <a:rPr lang="en-US" sz="2800" b="0">
                <a:solidFill>
                  <a:schemeClr val="accent1"/>
                </a:solidFill>
                <a:latin typeface="微软雅黑" panose="020B0503020204020204" charset="-122"/>
                <a:ea typeface="微软雅黑" panose="020B0503020204020204" charset="-122"/>
                <a:cs typeface="微软雅黑" panose="020B0503020204020204" charset="-122"/>
              </a:rPr>
              <a:t>Songjie Qiu       </a:t>
            </a:r>
            <a:r>
              <a:rPr lang="en-US" altLang="zh-CN" sz="2800" b="0">
                <a:solidFill>
                  <a:schemeClr val="accent1"/>
                </a:solidFill>
                <a:latin typeface="微软雅黑" panose="020B0503020204020204" charset="-122"/>
                <a:ea typeface="微软雅黑" panose="020B0503020204020204" charset="-122"/>
                <a:cs typeface="微软雅黑" panose="020B0503020204020204" charset="-122"/>
              </a:rPr>
              <a:t>23084419</a:t>
            </a:r>
          </a:p>
          <a:p>
            <a:pPr algn="ctr">
              <a:defRPr sz="1500" b="0">
                <a:solidFill>
                  <a:srgbClr val="BCCBD7"/>
                </a:solidFill>
                <a:latin typeface="微软雅黑" panose="020B0503020204020204" charset="-122"/>
                <a:ea typeface="微软雅黑" panose="020B0503020204020204" charset="-122"/>
                <a:cs typeface="微软雅黑" panose="020B0503020204020204" charset="-122"/>
              </a:defRPr>
            </a:pPr>
            <a:r>
              <a:rPr lang="en-US" altLang="zh-CN" sz="2800" b="0">
                <a:solidFill>
                  <a:schemeClr val="accent1"/>
                </a:solidFill>
                <a:latin typeface="微软雅黑" panose="020B0503020204020204" charset="-122"/>
                <a:ea typeface="微软雅黑" panose="020B0503020204020204" charset="-122"/>
                <a:cs typeface="微软雅黑" panose="020B0503020204020204" charset="-122"/>
              </a:rPr>
              <a:t>Cathleen Liu      23084383</a:t>
            </a:r>
          </a:p>
          <a:p>
            <a:pPr algn="ctr">
              <a:defRPr sz="1500" b="0">
                <a:solidFill>
                  <a:srgbClr val="BCCBD7"/>
                </a:solidFill>
                <a:latin typeface="微软雅黑" panose="020B0503020204020204" charset="-122"/>
                <a:ea typeface="微软雅黑" panose="020B0503020204020204" charset="-122"/>
                <a:cs typeface="微软雅黑" panose="020B0503020204020204" charset="-122"/>
              </a:defRPr>
            </a:pPr>
            <a:r>
              <a:rPr lang="en-US" altLang="zh-CN" sz="2800" b="0">
                <a:solidFill>
                  <a:schemeClr val="accent1"/>
                </a:solidFill>
                <a:latin typeface="微软雅黑" panose="020B0503020204020204" charset="-122"/>
                <a:ea typeface="微软雅黑" panose="020B0503020204020204" charset="-122"/>
                <a:cs typeface="微软雅黑" panose="020B0503020204020204" charset="-122"/>
              </a:rPr>
              <a:t>Chenyu Yang     23084439</a:t>
            </a:r>
            <a:r>
              <a:rPr lang="en-US" sz="2800" b="0">
                <a:solidFill>
                  <a:schemeClr val="accent1"/>
                </a:solidFill>
                <a:latin typeface="微软雅黑" panose="020B0503020204020204" charset="-122"/>
                <a:ea typeface="微软雅黑" panose="020B0503020204020204" charset="-122"/>
                <a:cs typeface="微软雅黑" panose="020B0503020204020204" charset="-122"/>
              </a:rPr>
              <a:t>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42950" y="411480"/>
            <a:ext cx="10671048" cy="685800"/>
          </a:xfrm>
          <a:prstGeom prst="rect">
            <a:avLst/>
          </a:prstGeom>
          <a:noFill/>
        </p:spPr>
        <p:txBody>
          <a:bodyPr wrap="square">
            <a:spAutoFit/>
          </a:bodyPr>
          <a:lstStyle/>
          <a:p>
            <a:pPr>
              <a:spcAft>
                <a:spcPts val="200"/>
              </a:spcAft>
            </a:pPr>
            <a:r>
              <a:rPr sz="3200" b="1">
                <a:solidFill>
                  <a:srgbClr val="132B42"/>
                </a:solidFill>
                <a:latin typeface="微软雅黑"/>
              </a:rPr>
              <a:t>Project Background and Objectives</a:t>
            </a:r>
          </a:p>
        </p:txBody>
      </p:sp>
      <p:sp>
        <p:nvSpPr>
          <p:cNvPr id="3" name="TextBox 2"/>
          <p:cNvSpPr txBox="1"/>
          <p:nvPr/>
        </p:nvSpPr>
        <p:spPr>
          <a:xfrm>
            <a:off x="742950" y="1078992"/>
            <a:ext cx="10671048" cy="365760"/>
          </a:xfrm>
          <a:prstGeom prst="rect">
            <a:avLst/>
          </a:prstGeom>
          <a:noFill/>
        </p:spPr>
        <p:txBody>
          <a:bodyPr wrap="square">
            <a:spAutoFit/>
          </a:bodyPr>
          <a:lstStyle/>
          <a:p>
            <a:pPr>
              <a:spcAft>
                <a:spcPts val="0"/>
              </a:spcAft>
            </a:pPr>
            <a:r>
              <a:rPr sz="1400" b="1">
                <a:solidFill>
                  <a:srgbClr val="306FA4"/>
                </a:solidFill>
                <a:latin typeface="微软雅黑"/>
              </a:rPr>
              <a:t>Hospital patient referral, treatment and administration pathway - BPM &amp; EA / AISD</a:t>
            </a:r>
          </a:p>
        </p:txBody>
      </p:sp>
      <p:sp>
        <p:nvSpPr>
          <p:cNvPr id="4" name="TextBox 3"/>
          <p:cNvSpPr txBox="1"/>
          <p:nvPr/>
        </p:nvSpPr>
        <p:spPr>
          <a:xfrm>
            <a:off x="742950" y="1691640"/>
            <a:ext cx="5212080" cy="4206240"/>
          </a:xfrm>
          <a:prstGeom prst="rect">
            <a:avLst/>
          </a:prstGeom>
          <a:noFill/>
        </p:spPr>
        <p:txBody>
          <a:bodyPr wrap="square">
            <a:spAutoFit/>
          </a:bodyPr>
          <a:lstStyle/>
          <a:p>
            <a:pPr>
              <a:spcAft>
                <a:spcPts val="600"/>
              </a:spcAft>
            </a:pPr>
            <a:r>
              <a:rPr sz="1800" b="1">
                <a:solidFill>
                  <a:srgbClr val="168C83"/>
                </a:solidFill>
                <a:latin typeface="微软雅黑"/>
              </a:rPr>
              <a:t>Background</a:t>
            </a:r>
          </a:p>
          <a:p>
            <a:pPr>
              <a:spcAft>
                <a:spcPts val="400"/>
              </a:spcAft>
            </a:pPr>
            <a:r>
              <a:rPr sz="1300">
                <a:solidFill>
                  <a:srgbClr val="182F46"/>
                </a:solidFill>
                <a:latin typeface="微软雅黑"/>
              </a:rPr>
              <a:t>A teaching hospital receives referrals from external referring organisations and must carry a</a:t>
            </a:r>
          </a:p>
          <a:p>
            <a:pPr>
              <a:spcAft>
                <a:spcPts val="400"/>
              </a:spcAft>
            </a:pPr>
            <a:r>
              <a:rPr sz="1300">
                <a:solidFill>
                  <a:srgbClr val="182F46"/>
                </a:solidFill>
                <a:latin typeface="微软雅黑"/>
              </a:rPr>
              <a:t>patient from referral receipt through consultation, consent, treatment, funding, payment and</a:t>
            </a:r>
          </a:p>
          <a:p>
            <a:pPr>
              <a:spcAft>
                <a:spcPts val="400"/>
              </a:spcAft>
            </a:pPr>
            <a:r>
              <a:rPr sz="1300">
                <a:solidFill>
                  <a:srgbClr val="182F46"/>
                </a:solidFill>
                <a:latin typeface="微软雅黑"/>
              </a:rPr>
              <a:t>follow-up administration.</a:t>
            </a:r>
          </a:p>
          <a:p>
            <a:pPr>
              <a:spcAft>
                <a:spcPts val="400"/>
              </a:spcAft>
            </a:pPr>
          </a:p>
          <a:p>
            <a:pPr>
              <a:spcAft>
                <a:spcPts val="400"/>
              </a:spcAft>
            </a:pPr>
            <a:r>
              <a:rPr sz="1300">
                <a:solidFill>
                  <a:srgbClr val="182F46"/>
                </a:solidFill>
                <a:latin typeface="微软雅黑"/>
              </a:rPr>
              <a:t>The case study describes 17 interlocking business processes. Before this project they existed</a:t>
            </a:r>
          </a:p>
          <a:p>
            <a:pPr>
              <a:spcAft>
                <a:spcPts val="400"/>
              </a:spcAft>
            </a:pPr>
            <a:r>
              <a:rPr sz="1300">
                <a:solidFill>
                  <a:srgbClr val="182F46"/>
                </a:solidFill>
                <a:latin typeface="微软雅黑"/>
              </a:rPr>
              <a:t>only as prose: responsibilities were unclear, hand-offs to external parties were implicit, and</a:t>
            </a:r>
          </a:p>
          <a:p>
            <a:pPr>
              <a:spcAft>
                <a:spcPts val="400"/>
              </a:spcAft>
            </a:pPr>
            <a:r>
              <a:rPr sz="1300">
                <a:solidFill>
                  <a:srgbClr val="182F46"/>
                </a:solidFill>
                <a:latin typeface="微软雅黑"/>
              </a:rPr>
              <a:t>exception routes were undocumented.</a:t>
            </a:r>
          </a:p>
          <a:p>
            <a:pPr>
              <a:spcAft>
                <a:spcPts val="400"/>
              </a:spcAft>
            </a:pPr>
          </a:p>
          <a:p>
            <a:pPr>
              <a:spcAft>
                <a:spcPts val="400"/>
              </a:spcAft>
            </a:pPr>
            <a:r>
              <a:rPr sz="1300">
                <a:solidFill>
                  <a:srgbClr val="182F46"/>
                </a:solidFill>
                <a:latin typeface="微软雅黑"/>
              </a:rPr>
              <a:t>External parties (referrer, patient, scheduling service, treatment/laboratory service, funder,</a:t>
            </a:r>
          </a:p>
          <a:p>
            <a:pPr>
              <a:spcAft>
                <a:spcPts val="400"/>
              </a:spcAft>
            </a:pPr>
            <a:r>
              <a:rPr sz="1300">
                <a:solidFill>
                  <a:srgbClr val="182F46"/>
                </a:solidFill>
                <a:latin typeface="微软雅黑"/>
              </a:rPr>
              <a:t>payment provider, correspondence, delay tracking) sit outside the hospital boundary and can</a:t>
            </a:r>
          </a:p>
          <a:p>
            <a:pPr>
              <a:spcAft>
                <a:spcPts val="400"/>
              </a:spcAft>
            </a:pPr>
            <a:r>
              <a:rPr sz="1300">
                <a:solidFill>
                  <a:srgbClr val="182F46"/>
                </a:solidFill>
                <a:latin typeface="微软雅黑"/>
              </a:rPr>
              <a:t>only be reached by message exchange.</a:t>
            </a:r>
          </a:p>
        </p:txBody>
      </p:sp>
      <p:sp>
        <p:nvSpPr>
          <p:cNvPr id="5" name="TextBox 4"/>
          <p:cNvSpPr txBox="1"/>
          <p:nvPr/>
        </p:nvSpPr>
        <p:spPr>
          <a:xfrm>
            <a:off x="6309360" y="1691640"/>
            <a:ext cx="5120640" cy="4206240"/>
          </a:xfrm>
          <a:prstGeom prst="rect">
            <a:avLst/>
          </a:prstGeom>
          <a:noFill/>
        </p:spPr>
        <p:txBody>
          <a:bodyPr wrap="square">
            <a:spAutoFit/>
          </a:bodyPr>
          <a:lstStyle/>
          <a:p>
            <a:pPr>
              <a:spcAft>
                <a:spcPts val="600"/>
              </a:spcAft>
            </a:pPr>
            <a:r>
              <a:rPr sz="1800" b="1">
                <a:solidFill>
                  <a:srgbClr val="306FA4"/>
                </a:solidFill>
                <a:latin typeface="微软雅黑"/>
              </a:rPr>
              <a:t>Objectives</a:t>
            </a:r>
          </a:p>
          <a:p>
            <a:pPr>
              <a:spcAft>
                <a:spcPts val="400"/>
              </a:spcAft>
            </a:pPr>
            <a:r>
              <a:rPr sz="1300">
                <a:solidFill>
                  <a:srgbClr val="182F46"/>
                </a:solidFill>
                <a:latin typeface="微软雅黑"/>
              </a:rPr>
              <a:t>O1  Model all 17 processes as one executable Camunda 8 collaboration.</a:t>
            </a:r>
          </a:p>
          <a:p>
            <a:pPr>
              <a:spcAft>
                <a:spcPts val="400"/>
              </a:spcAft>
            </a:pPr>
            <a:r>
              <a:rPr sz="1300">
                <a:solidFill>
                  <a:srgbClr val="182F46"/>
                </a:solidFill>
                <a:latin typeface="微软雅黑"/>
              </a:rPr>
              <a:t>O2  Make participants, responsibilities and system boundaries explicit.</a:t>
            </a:r>
          </a:p>
          <a:p>
            <a:pPr>
              <a:spcAft>
                <a:spcPts val="400"/>
              </a:spcAft>
            </a:pPr>
            <a:r>
              <a:rPr sz="1300">
                <a:solidFill>
                  <a:srgbClr val="182F46"/>
                </a:solidFill>
                <a:latin typeface="微软雅黑"/>
              </a:rPr>
              <a:t>O3  Encode the business rules as measurable, testable conditions.</a:t>
            </a:r>
          </a:p>
          <a:p>
            <a:pPr>
              <a:spcAft>
                <a:spcPts val="400"/>
              </a:spcAft>
            </a:pPr>
            <a:r>
              <a:rPr sz="1300">
                <a:solidFill>
                  <a:srgbClr val="182F46"/>
                </a:solidFill>
                <a:latin typeface="微软雅黑"/>
              </a:rPr>
              <a:t>O4  Automate every automated step with external job workers.</a:t>
            </a:r>
          </a:p>
          <a:p>
            <a:pPr>
              <a:spcAft>
                <a:spcPts val="400"/>
              </a:spcAft>
            </a:pPr>
            <a:r>
              <a:rPr sz="1300">
                <a:solidFill>
                  <a:srgbClr val="182F46"/>
                </a:solidFill>
                <a:latin typeface="微软雅黑"/>
              </a:rPr>
              <a:t>O5  Give every human task a bound Camunda Form.</a:t>
            </a:r>
          </a:p>
          <a:p>
            <a:pPr>
              <a:spcAft>
                <a:spcPts val="400"/>
              </a:spcAft>
            </a:pPr>
            <a:r>
              <a:rPr sz="1300">
                <a:solidFill>
                  <a:srgbClr val="182F46"/>
                </a:solidFill>
                <a:latin typeface="微软雅黑"/>
              </a:rPr>
              <a:t>O6  Prove the result with a repeatable automated test suite and a</a:t>
            </a:r>
          </a:p>
          <a:p>
            <a:pPr>
              <a:spcAft>
                <a:spcPts val="400"/>
              </a:spcAft>
            </a:pPr>
            <a:r>
              <a:rPr sz="1300">
                <a:solidFill>
                  <a:srgbClr val="182F46"/>
                </a:solidFill>
                <a:latin typeface="微软雅黑"/>
              </a:rPr>
              <a:t>     traceable acceptance test plan.</a:t>
            </a:r>
          </a:p>
          <a:p>
            <a:pPr>
              <a:spcAft>
                <a:spcPts val="400"/>
              </a:spcAft>
            </a:pPr>
          </a:p>
          <a:p>
            <a:pPr>
              <a:spcAft>
                <a:spcPts val="400"/>
              </a:spcAft>
            </a:pPr>
            <a:r>
              <a:rPr sz="1300">
                <a:solidFill>
                  <a:srgbClr val="182F46"/>
                </a:solidFill>
                <a:latin typeface="微软雅黑"/>
              </a:rPr>
              <a:t>Non-goals: no real HIS/PAS integration, no real payment gateway, no</a:t>
            </a:r>
          </a:p>
          <a:p>
            <a:pPr>
              <a:spcAft>
                <a:spcPts val="400"/>
              </a:spcAft>
            </a:pPr>
            <a:r>
              <a:rPr sz="1300">
                <a:solidFill>
                  <a:srgbClr val="182F46"/>
                </a:solidFill>
                <a:latin typeface="微软雅黑"/>
              </a:rPr>
              <a:t>clinical urgency policy invented (left as a stakeholder decision).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42950" y="411480"/>
            <a:ext cx="10671048" cy="685800"/>
          </a:xfrm>
          <a:prstGeom prst="rect">
            <a:avLst/>
          </a:prstGeom>
          <a:noFill/>
        </p:spPr>
        <p:txBody>
          <a:bodyPr wrap="square">
            <a:spAutoFit/>
          </a:bodyPr>
          <a:lstStyle/>
          <a:p>
            <a:pPr>
              <a:spcAft>
                <a:spcPts val="200"/>
              </a:spcAft>
            </a:pPr>
            <a:r>
              <a:rPr sz="3200" b="1">
                <a:solidFill>
                  <a:srgbClr val="132B42"/>
                </a:solidFill>
                <a:latin typeface="微软雅黑"/>
              </a:rPr>
              <a:t>Technical Solution and Architecture</a:t>
            </a:r>
          </a:p>
        </p:txBody>
      </p:sp>
      <p:sp>
        <p:nvSpPr>
          <p:cNvPr id="3" name="TextBox 2"/>
          <p:cNvSpPr txBox="1"/>
          <p:nvPr/>
        </p:nvSpPr>
        <p:spPr>
          <a:xfrm>
            <a:off x="742950" y="1078992"/>
            <a:ext cx="10671048" cy="365760"/>
          </a:xfrm>
          <a:prstGeom prst="rect">
            <a:avLst/>
          </a:prstGeom>
          <a:noFill/>
        </p:spPr>
        <p:txBody>
          <a:bodyPr wrap="square">
            <a:spAutoFit/>
          </a:bodyPr>
          <a:lstStyle/>
          <a:p>
            <a:pPr>
              <a:spcAft>
                <a:spcPts val="0"/>
              </a:spcAft>
            </a:pPr>
            <a:r>
              <a:rPr sz="1400" b="1">
                <a:solidFill>
                  <a:srgbClr val="306FA4"/>
                </a:solidFill>
                <a:latin typeface="微软雅黑"/>
              </a:rPr>
              <a:t>Camunda 8.9 orchestration + Spring Boot job workers + deployment-bound forms</a:t>
            </a:r>
          </a:p>
        </p:txBody>
      </p:sp>
      <p:sp>
        <p:nvSpPr>
          <p:cNvPr id="4" name="TextBox 3"/>
          <p:cNvSpPr txBox="1"/>
          <p:nvPr/>
        </p:nvSpPr>
        <p:spPr>
          <a:xfrm>
            <a:off x="742950" y="1691640"/>
            <a:ext cx="5212080" cy="4572000"/>
          </a:xfrm>
          <a:prstGeom prst="rect">
            <a:avLst/>
          </a:prstGeom>
          <a:noFill/>
        </p:spPr>
        <p:txBody>
          <a:bodyPr wrap="square">
            <a:spAutoFit/>
          </a:bodyPr>
          <a:lstStyle/>
          <a:p>
            <a:pPr>
              <a:spcAft>
                <a:spcPts val="600"/>
              </a:spcAft>
            </a:pPr>
            <a:r>
              <a:rPr sz="1800" b="1">
                <a:solidFill>
                  <a:srgbClr val="168C83"/>
                </a:solidFill>
                <a:latin typeface="微软雅黑"/>
              </a:rPr>
              <a:t>Runtime architecture</a:t>
            </a:r>
          </a:p>
          <a:p>
            <a:pPr>
              <a:spcAft>
                <a:spcPts val="400"/>
              </a:spcAft>
            </a:pPr>
            <a:r>
              <a:rPr sz="1300">
                <a:solidFill>
                  <a:srgbClr val="182F46"/>
                </a:solidFill>
                <a:latin typeface="微软雅黑"/>
              </a:rPr>
              <a:t>Camunda 8.9 (c8run, local self-managed cluster) - Zeebe engine, Operate, Tasklist.</a:t>
            </a:r>
          </a:p>
          <a:p>
            <a:pPr>
              <a:spcAft>
                <a:spcPts val="400"/>
              </a:spcAft>
            </a:pPr>
            <a:r>
              <a:rPr sz="1300">
                <a:solidFill>
                  <a:srgbClr val="182F46"/>
                </a:solidFill>
                <a:latin typeface="微软雅黑"/>
              </a:rPr>
              <a:t>Process_Hospital_Integrated: 1 executable pool, 11 lanes, 81 user tasks, 51 automated</a:t>
            </a:r>
          </a:p>
          <a:p>
            <a:pPr>
              <a:spcAft>
                <a:spcPts val="400"/>
              </a:spcAft>
            </a:pPr>
            <a:r>
              <a:rPr sz="1300">
                <a:solidFill>
                  <a:srgbClr val="182F46"/>
                </a:solidFill>
                <a:latin typeface="微软雅黑"/>
              </a:rPr>
              <a:t>steps (service + send tasks), 81 exclusive / 3 parallel / 6 event-based gateways.</a:t>
            </a:r>
          </a:p>
          <a:p>
            <a:pPr>
              <a:spcAft>
                <a:spcPts val="400"/>
              </a:spcAft>
            </a:pPr>
            <a:r>
              <a:rPr sz="1300">
                <a:solidFill>
                  <a:srgbClr val="182F46"/>
                </a:solidFill>
                <a:latin typeface="微软雅黑"/>
              </a:rPr>
              <a:t>8 non-executable black-box pools model the external parties; they interact only through</a:t>
            </a:r>
          </a:p>
          <a:p>
            <a:pPr>
              <a:spcAft>
                <a:spcPts val="400"/>
              </a:spcAft>
            </a:pPr>
            <a:r>
              <a:rPr sz="1300">
                <a:solidFill>
                  <a:srgbClr val="182F46"/>
                </a:solidFill>
                <a:latin typeface="微软雅黑"/>
              </a:rPr>
              <a:t>8 message flows and 49 message events (correlation key = referralId / patientId).</a:t>
            </a:r>
          </a:p>
          <a:p>
            <a:pPr>
              <a:spcAft>
                <a:spcPts val="400"/>
              </a:spcAft>
            </a:pPr>
          </a:p>
          <a:p>
            <a:pPr>
              <a:spcAft>
                <a:spcPts val="400"/>
              </a:spcAft>
            </a:pPr>
            <a:r>
              <a:rPr sz="1300">
                <a:solidFill>
                  <a:srgbClr val="182F46"/>
                </a:solidFill>
                <a:latin typeface="微软雅黑"/>
              </a:rPr>
              <a:t>Spring Boot 4.0.5 worker application (java/): 13 worker classes covering 50 job types,</a:t>
            </a:r>
          </a:p>
          <a:p>
            <a:pPr>
              <a:spcAft>
                <a:spcPts val="400"/>
              </a:spcAft>
            </a:pPr>
            <a:r>
              <a:rPr sz="1300">
                <a:solidFill>
                  <a:srgbClr val="182F46"/>
                </a:solidFill>
                <a:latin typeface="微软雅黑"/>
              </a:rPr>
              <a:t>an embedded H2 system of record (20 tables), and a simulation layer that answers on</a:t>
            </a:r>
          </a:p>
          <a:p>
            <a:pPr>
              <a:spcAft>
                <a:spcPts val="400"/>
              </a:spcAft>
            </a:pPr>
            <a:r>
              <a:rPr sz="1300">
                <a:solidFill>
                  <a:srgbClr val="182F46"/>
                </a:solidFill>
                <a:latin typeface="微软雅黑"/>
              </a:rPr>
              <a:t>behalf of the external parties so the pathway can be walked end to end.</a:t>
            </a:r>
          </a:p>
        </p:txBody>
      </p:sp>
      <p:sp>
        <p:nvSpPr>
          <p:cNvPr id="5" name="TextBox 4"/>
          <p:cNvSpPr txBox="1"/>
          <p:nvPr/>
        </p:nvSpPr>
        <p:spPr>
          <a:xfrm>
            <a:off x="6309360" y="1691640"/>
            <a:ext cx="5120640" cy="4572000"/>
          </a:xfrm>
          <a:prstGeom prst="rect">
            <a:avLst/>
          </a:prstGeom>
          <a:noFill/>
        </p:spPr>
        <p:txBody>
          <a:bodyPr wrap="square">
            <a:spAutoFit/>
          </a:bodyPr>
          <a:lstStyle/>
          <a:p>
            <a:pPr>
              <a:spcAft>
                <a:spcPts val="600"/>
              </a:spcAft>
            </a:pPr>
            <a:r>
              <a:rPr sz="1800" b="1">
                <a:solidFill>
                  <a:srgbClr val="306FA4"/>
                </a:solidFill>
                <a:latin typeface="微软雅黑"/>
              </a:rPr>
              <a:t>Design decisions</a:t>
            </a:r>
          </a:p>
          <a:p>
            <a:pPr>
              <a:spcAft>
                <a:spcPts val="400"/>
              </a:spcAft>
            </a:pPr>
            <a:r>
              <a:rPr sz="1300">
                <a:solidFill>
                  <a:srgbClr val="182F46"/>
                </a:solidFill>
                <a:latin typeface="微软雅黑"/>
              </a:rPr>
              <a:t>One executable process, not 17: keeps a single instance per referral and lets the</a:t>
            </a:r>
          </a:p>
          <a:p>
            <a:pPr>
              <a:spcAft>
                <a:spcPts val="400"/>
              </a:spcAft>
            </a:pPr>
            <a:r>
              <a:rPr sz="1300">
                <a:solidFill>
                  <a:srgbClr val="182F46"/>
                </a:solidFill>
                <a:latin typeface="微软雅黑"/>
              </a:rPr>
              <a:t>external-trigger router open any stage from one entry point.</a:t>
            </a:r>
          </a:p>
          <a:p>
            <a:pPr>
              <a:spcAft>
                <a:spcPts val="400"/>
              </a:spcAft>
            </a:pPr>
          </a:p>
          <a:p>
            <a:pPr>
              <a:spcAft>
                <a:spcPts val="400"/>
              </a:spcAft>
            </a:pPr>
            <a:r>
              <a:rPr sz="1300">
                <a:solidFill>
                  <a:srgbClr val="182F46"/>
                </a:solidFill>
                <a:latin typeface="微软雅黑"/>
              </a:rPr>
              <a:t>Black-box pools for externals: BPMN lanes cannot reference another process, and a</a:t>
            </a:r>
          </a:p>
          <a:p>
            <a:pPr>
              <a:spcAft>
                <a:spcPts val="400"/>
              </a:spcAft>
            </a:pPr>
            <a:r>
              <a:rPr sz="1300">
                <a:solidFill>
                  <a:srgbClr val="182F46"/>
                </a:solidFill>
                <a:latin typeface="微软雅黑"/>
              </a:rPr>
              <a:t>message flow may not join elements of the same pool.</a:t>
            </a:r>
          </a:p>
          <a:p>
            <a:pPr>
              <a:spcAft>
                <a:spcPts val="400"/>
              </a:spcAft>
            </a:pPr>
          </a:p>
          <a:p>
            <a:pPr>
              <a:spcAft>
                <a:spcPts val="400"/>
              </a:spcAft>
            </a:pPr>
            <a:r>
              <a:rPr sz="1300">
                <a:solidFill>
                  <a:srgbClr val="182F46"/>
                </a:solidFill>
                <a:latin typeface="微软雅黑"/>
              </a:rPr>
              <a:t>16 deployment-bound forms reused across 81 tasks; a shared form shows only the</a:t>
            </a:r>
          </a:p>
          <a:p>
            <a:pPr>
              <a:spcAft>
                <a:spcPts val="400"/>
              </a:spcAft>
            </a:pPr>
            <a:r>
              <a:rPr sz="1300">
                <a:solidFill>
                  <a:srgbClr val="182F46"/>
                </a:solidFill>
                <a:latin typeface="微软雅黑"/>
              </a:rPr>
              <a:t>section for the current task via hospitalFormTask.</a:t>
            </a:r>
          </a:p>
          <a:p>
            <a:pPr>
              <a:spcAft>
                <a:spcPts val="400"/>
              </a:spcAft>
            </a:pPr>
          </a:p>
          <a:p>
            <a:pPr>
              <a:spcAft>
                <a:spcPts val="400"/>
              </a:spcAft>
            </a:pPr>
            <a:r>
              <a:rPr sz="1300">
                <a:solidFill>
                  <a:srgbClr val="182F46"/>
                </a:solidFill>
                <a:latin typeface="微软雅黑"/>
              </a:rPr>
              <a:t>Exceptions are modelled as timer/message catch plus exclusive gateways - Camunda 8</a:t>
            </a:r>
          </a:p>
          <a:p>
            <a:pPr>
              <a:spcAft>
                <a:spcPts val="400"/>
              </a:spcAft>
            </a:pPr>
            <a:r>
              <a:rPr sz="1300">
                <a:solidFill>
                  <a:srgbClr val="182F46"/>
                </a:solidFill>
                <a:latin typeface="微软雅黑"/>
              </a:rPr>
              <a:t>has no BPMN error escalation between pools.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42950" y="411480"/>
            <a:ext cx="10671048" cy="685800"/>
          </a:xfrm>
          <a:prstGeom prst="rect">
            <a:avLst/>
          </a:prstGeom>
          <a:noFill/>
        </p:spPr>
        <p:txBody>
          <a:bodyPr wrap="square">
            <a:spAutoFit/>
          </a:bodyPr>
          <a:lstStyle/>
          <a:p>
            <a:pPr>
              <a:spcAft>
                <a:spcPts val="200"/>
              </a:spcAft>
            </a:pPr>
            <a:r>
              <a:rPr sz="3200" b="1">
                <a:solidFill>
                  <a:srgbClr val="132B42"/>
                </a:solidFill>
                <a:latin typeface="微软雅黑"/>
              </a:rPr>
              <a:t>Demo Flow</a:t>
            </a:r>
          </a:p>
        </p:txBody>
      </p:sp>
      <p:sp>
        <p:nvSpPr>
          <p:cNvPr id="3" name="TextBox 2"/>
          <p:cNvSpPr txBox="1"/>
          <p:nvPr/>
        </p:nvSpPr>
        <p:spPr>
          <a:xfrm>
            <a:off x="742950" y="1078992"/>
            <a:ext cx="10671048" cy="365760"/>
          </a:xfrm>
          <a:prstGeom prst="rect">
            <a:avLst/>
          </a:prstGeom>
          <a:noFill/>
        </p:spPr>
        <p:txBody>
          <a:bodyPr wrap="square">
            <a:spAutoFit/>
          </a:bodyPr>
          <a:lstStyle/>
          <a:p>
            <a:pPr>
              <a:spcAft>
                <a:spcPts val="0"/>
              </a:spcAft>
            </a:pPr>
            <a:r>
              <a:rPr sz="1400" b="1">
                <a:solidFill>
                  <a:srgbClr val="306FA4"/>
                </a:solidFill>
                <a:latin typeface="微软雅黑"/>
              </a:rPr>
              <a:t>How to run the pathway end to end</a:t>
            </a:r>
          </a:p>
        </p:txBody>
      </p:sp>
      <p:sp>
        <p:nvSpPr>
          <p:cNvPr id="4" name="TextBox 3"/>
          <p:cNvSpPr txBox="1"/>
          <p:nvPr/>
        </p:nvSpPr>
        <p:spPr>
          <a:xfrm>
            <a:off x="742950" y="1600200"/>
            <a:ext cx="10671048" cy="4572000"/>
          </a:xfrm>
          <a:prstGeom prst="rect">
            <a:avLst/>
          </a:prstGeom>
          <a:noFill/>
        </p:spPr>
        <p:txBody>
          <a:bodyPr wrap="square" anchor="t">
            <a:spAutoFit/>
          </a:bodyPr>
          <a:lstStyle/>
          <a:p>
            <a:pPr>
              <a:spcAft>
                <a:spcPts val="800"/>
              </a:spcAft>
            </a:pPr>
            <a:r>
              <a:rPr sz="1500" b="0">
                <a:solidFill>
                  <a:srgbClr val="182F46"/>
                </a:solidFill>
                <a:latin typeface="微软雅黑"/>
              </a:rPr>
              <a:t>1  Start the cluster:  .\c8run.exe start  (ports 26500 / 8080 / 9600)</a:t>
            </a:r>
          </a:p>
          <a:p>
            <a:pPr>
              <a:spcAft>
                <a:spcPts val="800"/>
              </a:spcAft>
            </a:pPr>
            <a:r>
              <a:rPr sz="1500" b="0">
                <a:solidFill>
                  <a:srgbClr val="182F46"/>
                </a:solidFill>
                <a:latin typeface="微软雅黑"/>
              </a:rPr>
              <a:t>2  Deploy model and forms in ONE request - the forms are deployment-bound:</a:t>
            </a:r>
          </a:p>
          <a:p>
            <a:pPr lvl="1">
              <a:spcAft>
                <a:spcPts val="800"/>
              </a:spcAft>
            </a:pPr>
            <a:r>
              <a:rPr sz="1500" b="0">
                <a:solidFill>
                  <a:srgbClr val="182F46"/>
                </a:solidFill>
                <a:latin typeface="微软雅黑"/>
              </a:rPr>
              <a:t>          curl -X POST http://localhost:8080/v2/deployments  -F resources=@1-17.bpmn  -F resources=@01_receive_referral.form  ... (all 16)</a:t>
            </a:r>
          </a:p>
          <a:p>
            <a:pPr>
              <a:spcAft>
                <a:spcPts val="800"/>
              </a:spcAft>
            </a:pPr>
            <a:r>
              <a:rPr sz="1500" b="0">
                <a:solidFill>
                  <a:srgbClr val="182F46"/>
                </a:solidFill>
                <a:latin typeface="微软雅黑"/>
              </a:rPr>
              <a:t>3  Start the workers:  cd java &amp;&amp; .\mvnw.cmd spring-boot:run</a:t>
            </a:r>
          </a:p>
          <a:p>
            <a:pPr>
              <a:spcAft>
                <a:spcPts val="800"/>
              </a:spcAft>
            </a:pPr>
            <a:r>
              <a:rPr sz="1500" b="0">
                <a:solidFill>
                  <a:srgbClr val="182F46"/>
                </a:solidFill>
                <a:latin typeface="微软雅黑"/>
              </a:rPr>
              <a:t>4  Open Tasklist and start the referral at the hospital start event (form 01).</a:t>
            </a:r>
          </a:p>
          <a:p>
            <a:pPr>
              <a:spcAft>
                <a:spcPts val="800"/>
              </a:spcAft>
            </a:pPr>
            <a:r>
              <a:rPr sz="1500" b="0">
                <a:solidFill>
                  <a:srgbClr val="182F46"/>
                </a:solidFill>
                <a:latin typeface="微软雅黑"/>
              </a:rPr>
              <a:t>5  Work the human tasks in order. Simulation switches in application.properties decide</a:t>
            </a:r>
          </a:p>
          <a:p>
            <a:pPr lvl="1">
              <a:spcAft>
                <a:spcPts val="800"/>
              </a:spcAft>
            </a:pPr>
            <a:r>
              <a:rPr sz="1500" b="0">
                <a:solidFill>
                  <a:srgbClr val="182F46"/>
                </a:solidFill>
                <a:latin typeface="微软雅黑"/>
              </a:rPr>
              <a:t>          slot availability, patient consent, funding, payment and refund outcomes.</a:t>
            </a:r>
          </a:p>
          <a:p>
            <a:pPr>
              <a:spcAft>
                <a:spcPts val="800"/>
              </a:spcAft>
            </a:pPr>
            <a:r>
              <a:rPr sz="1500" b="0">
                <a:solidFill>
                  <a:srgbClr val="182F46"/>
                </a:solidFill>
                <a:latin typeface="微软雅黑"/>
              </a:rPr>
              <a:t>6  Automated external answers arrive from PatientAutoResponder every 10 s; the entry</a:t>
            </a:r>
          </a:p>
          <a:p>
            <a:pPr lvl="1">
              <a:spcAft>
                <a:spcPts val="800"/>
              </a:spcAft>
            </a:pPr>
            <a:r>
              <a:rPr sz="1500" b="0">
                <a:solidFill>
                  <a:srgbClr val="182F46"/>
                </a:solidFill>
                <a:latin typeface="微软雅黑"/>
              </a:rPr>
              <a:t>          referral message and the clinic-visit message are the two gates that stay manual.</a:t>
            </a:r>
          </a:p>
          <a:p>
            <a:pPr>
              <a:spcAft>
                <a:spcPts val="800"/>
              </a:spcAft>
            </a:pPr>
            <a:r>
              <a:rPr sz="1500" b="0">
                <a:solidFill>
                  <a:srgbClr val="182F46"/>
                </a:solidFill>
                <a:latin typeface="微软雅黑"/>
              </a:rPr>
              <a:t>7  Verify in Operate: instance COMPLETED, hasIncident = false, no active task left.</a:t>
            </a:r>
          </a:p>
          <a:p>
            <a:pPr>
              <a:spcAft>
                <a:spcPts val="800"/>
              </a:spcAft>
            </a:pPr>
          </a:p>
          <a:p>
            <a:pPr>
              <a:spcAft>
                <a:spcPts val="800"/>
              </a:spcAft>
            </a:pPr>
            <a:r>
              <a:rPr sz="1500" b="0">
                <a:solidFill>
                  <a:srgbClr val="182F46"/>
                </a:solidFill>
                <a:latin typeface="微软雅黑"/>
              </a:rPr>
              <a:t>Manual walkthrough with every message name and variable: MANUAL_TEST_GUIDE.md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42950" y="411480"/>
            <a:ext cx="10671048" cy="685800"/>
          </a:xfrm>
          <a:prstGeom prst="rect">
            <a:avLst/>
          </a:prstGeom>
          <a:noFill/>
        </p:spPr>
        <p:txBody>
          <a:bodyPr wrap="square">
            <a:spAutoFit/>
          </a:bodyPr>
          <a:lstStyle/>
          <a:p>
            <a:pPr>
              <a:spcAft>
                <a:spcPts val="200"/>
              </a:spcAft>
            </a:pPr>
            <a:r>
              <a:rPr sz="3200" b="1">
                <a:solidFill>
                  <a:srgbClr val="132B42"/>
                </a:solidFill>
                <a:latin typeface="微软雅黑"/>
              </a:rPr>
              <a:t>Acceptance Test Overview</a:t>
            </a:r>
          </a:p>
        </p:txBody>
      </p:sp>
      <p:sp>
        <p:nvSpPr>
          <p:cNvPr id="3" name="TextBox 2"/>
          <p:cNvSpPr txBox="1"/>
          <p:nvPr/>
        </p:nvSpPr>
        <p:spPr>
          <a:xfrm>
            <a:off x="742950" y="1078992"/>
            <a:ext cx="10671048" cy="365760"/>
          </a:xfrm>
          <a:prstGeom prst="rect">
            <a:avLst/>
          </a:prstGeom>
          <a:noFill/>
        </p:spPr>
        <p:txBody>
          <a:bodyPr wrap="square">
            <a:spAutoFit/>
          </a:bodyPr>
          <a:lstStyle/>
          <a:p>
            <a:pPr>
              <a:spcAft>
                <a:spcPts val="0"/>
              </a:spcAft>
            </a:pPr>
            <a:r>
              <a:rPr sz="1400" b="1">
                <a:solidFill>
                  <a:srgbClr val="306FA4"/>
                </a:solidFill>
                <a:latin typeface="微软雅黑"/>
              </a:rPr>
              <a:t>13 requirements / 11 business rules - 16 acceptance cases - 28 automated tests</a:t>
            </a:r>
          </a:p>
        </p:txBody>
      </p:sp>
      <p:sp>
        <p:nvSpPr>
          <p:cNvPr id="4" name="TextBox 3"/>
          <p:cNvSpPr txBox="1"/>
          <p:nvPr/>
        </p:nvSpPr>
        <p:spPr>
          <a:xfrm>
            <a:off x="742950" y="1691640"/>
            <a:ext cx="5212080" cy="4480560"/>
          </a:xfrm>
          <a:prstGeom prst="rect">
            <a:avLst/>
          </a:prstGeom>
          <a:noFill/>
        </p:spPr>
        <p:txBody>
          <a:bodyPr wrap="square">
            <a:spAutoFit/>
          </a:bodyPr>
          <a:lstStyle/>
          <a:p>
            <a:pPr>
              <a:spcAft>
                <a:spcPts val="600"/>
              </a:spcAft>
            </a:pPr>
            <a:r>
              <a:rPr sz="1800" b="1">
                <a:solidFill>
                  <a:srgbClr val="168C83"/>
                </a:solidFill>
                <a:latin typeface="微软雅黑"/>
              </a:rPr>
              <a:t>Automated suites - 28 / 28 pass</a:t>
            </a:r>
          </a:p>
          <a:p>
            <a:pPr>
              <a:spcAft>
                <a:spcPts val="400"/>
              </a:spcAft>
            </a:pPr>
            <a:r>
              <a:rPr sz="1300">
                <a:solidFill>
                  <a:srgbClr val="182F46"/>
                </a:solidFill>
                <a:latin typeface="微软雅黑"/>
              </a:rPr>
              <a:t>BPMN model coverage              7 / 7</a:t>
            </a:r>
          </a:p>
          <a:p>
            <a:pPr>
              <a:spcAft>
                <a:spcPts val="400"/>
              </a:spcAft>
            </a:pPr>
            <a:r>
              <a:rPr sz="1300">
                <a:solidFill>
                  <a:srgbClr val="182F46"/>
                </a:solidFill>
                <a:latin typeface="微软雅黑"/>
              </a:rPr>
              <a:t>Hospital database (H2)           7 / 7</a:t>
            </a:r>
          </a:p>
          <a:p>
            <a:pPr>
              <a:spcAft>
                <a:spcPts val="400"/>
              </a:spcAft>
            </a:pPr>
            <a:r>
              <a:rPr sz="1300">
                <a:solidFill>
                  <a:srgbClr val="182F46"/>
                </a:solidFill>
                <a:latin typeface="微软雅黑"/>
              </a:rPr>
              <a:t>Worker persistence               6 / 6</a:t>
            </a:r>
          </a:p>
          <a:p>
            <a:pPr>
              <a:spcAft>
                <a:spcPts val="400"/>
              </a:spcAft>
            </a:pPr>
            <a:r>
              <a:rPr sz="1300">
                <a:solidFill>
                  <a:srgbClr val="182F46"/>
                </a:solidFill>
                <a:latin typeface="微软雅黑"/>
              </a:rPr>
              <a:t>Hospital pathway integration     6 / 6</a:t>
            </a:r>
          </a:p>
          <a:p>
            <a:pPr>
              <a:spcAft>
                <a:spcPts val="400"/>
              </a:spcAft>
            </a:pPr>
            <a:r>
              <a:rPr sz="1300">
                <a:solidFill>
                  <a:srgbClr val="182F46"/>
                </a:solidFill>
                <a:latin typeface="微软雅黑"/>
              </a:rPr>
              <a:t>Corridor message audit           2 / 2</a:t>
            </a:r>
          </a:p>
          <a:p>
            <a:pPr>
              <a:spcAft>
                <a:spcPts val="400"/>
              </a:spcAft>
            </a:pPr>
          </a:p>
          <a:p>
            <a:pPr>
              <a:spcAft>
                <a:spcPts val="400"/>
              </a:spcAft>
            </a:pPr>
            <a:r>
              <a:rPr sz="1300">
                <a:solidFill>
                  <a:srgbClr val="182F46"/>
                </a:solidFill>
                <a:latin typeface="微软雅黑"/>
              </a:rPr>
              <a:t>Evidence: evidence/tests/*.txt and *.xml, plus the Maven logs.</a:t>
            </a:r>
          </a:p>
        </p:txBody>
      </p:sp>
      <p:sp>
        <p:nvSpPr>
          <p:cNvPr id="5" name="TextBox 4"/>
          <p:cNvSpPr txBox="1"/>
          <p:nvPr/>
        </p:nvSpPr>
        <p:spPr>
          <a:xfrm>
            <a:off x="6309360" y="1691640"/>
            <a:ext cx="5120640" cy="4480560"/>
          </a:xfrm>
          <a:prstGeom prst="rect">
            <a:avLst/>
          </a:prstGeom>
          <a:noFill/>
        </p:spPr>
        <p:txBody>
          <a:bodyPr wrap="square">
            <a:spAutoFit/>
          </a:bodyPr>
          <a:lstStyle/>
          <a:p>
            <a:pPr>
              <a:spcAft>
                <a:spcPts val="600"/>
              </a:spcAft>
            </a:pPr>
            <a:r>
              <a:rPr sz="1800" b="1">
                <a:solidFill>
                  <a:srgbClr val="306FA4"/>
                </a:solidFill>
                <a:latin typeface="微软雅黑"/>
              </a:rPr>
              <a:t>Acceptance cases AT-01 to AT-16</a:t>
            </a:r>
          </a:p>
          <a:p>
            <a:pPr>
              <a:spcAft>
                <a:spcPts val="400"/>
              </a:spcAft>
            </a:pPr>
            <a:r>
              <a:rPr sz="1300">
                <a:solidFill>
                  <a:srgbClr val="182F46"/>
                </a:solidFill>
                <a:latin typeface="微软雅黑"/>
              </a:rPr>
              <a:t>Each case states requirement/rule, preconditions, test data, actions,</a:t>
            </a:r>
          </a:p>
          <a:p>
            <a:pPr>
              <a:spcAft>
                <a:spcPts val="400"/>
              </a:spcAft>
            </a:pPr>
            <a:r>
              <a:rPr sz="1300">
                <a:solidFill>
                  <a:srgbClr val="182F46"/>
                </a:solidFill>
                <a:latin typeface="微软雅黑"/>
              </a:rPr>
              <a:t>expected outcome, pass/fail condition and evidence state.</a:t>
            </a:r>
          </a:p>
          <a:p>
            <a:pPr>
              <a:spcAft>
                <a:spcPts val="400"/>
              </a:spcAft>
            </a:pPr>
          </a:p>
          <a:p>
            <a:pPr>
              <a:spcAft>
                <a:spcPts val="400"/>
              </a:spcAft>
            </a:pPr>
            <a:r>
              <a:rPr sz="1300">
                <a:solidFill>
                  <a:srgbClr val="182F46"/>
                </a:solidFill>
                <a:latin typeface="微软雅黑"/>
              </a:rPr>
              <a:t>Executed: AT-01, AT-02, AT-03, AT-04, AT-10, AT-11 (part),</a:t>
            </a:r>
          </a:p>
          <a:p>
            <a:pPr>
              <a:spcAft>
                <a:spcPts val="400"/>
              </a:spcAft>
            </a:pPr>
            <a:r>
              <a:rPr sz="1300">
                <a:solidFill>
                  <a:srgbClr val="182F46"/>
                </a:solidFill>
                <a:latin typeface="微软雅黑"/>
              </a:rPr>
              <a:t>AT-12, AT-13, AT-14, AT-15 (part), AT-16.</a:t>
            </a:r>
          </a:p>
          <a:p>
            <a:pPr>
              <a:spcAft>
                <a:spcPts val="400"/>
              </a:spcAft>
            </a:pPr>
          </a:p>
          <a:p>
            <a:pPr>
              <a:spcAft>
                <a:spcPts val="400"/>
              </a:spcAft>
            </a:pPr>
            <a:r>
              <a:rPr sz="1300">
                <a:solidFill>
                  <a:srgbClr val="182F46"/>
                </a:solidFill>
                <a:latin typeface="微软雅黑"/>
              </a:rPr>
              <a:t>Planned: the remaining negative and boundary token routes - they pass</a:t>
            </a:r>
          </a:p>
          <a:p>
            <a:pPr>
              <a:spcAft>
                <a:spcPts val="400"/>
              </a:spcAft>
            </a:pPr>
            <a:r>
              <a:rPr sz="1300">
                <a:solidFill>
                  <a:srgbClr val="182F46"/>
                </a:solidFill>
                <a:latin typeface="微软雅黑"/>
              </a:rPr>
              <a:t>design-time FEEL evaluation (53 / 53) but have no runtime trace yet.</a:t>
            </a:r>
          </a:p>
          <a:p>
            <a:pPr>
              <a:spcAft>
                <a:spcPts val="400"/>
              </a:spcAft>
            </a:pPr>
          </a:p>
          <a:p>
            <a:pPr>
              <a:spcAft>
                <a:spcPts val="400"/>
              </a:spcAft>
            </a:pPr>
            <a:r>
              <a:rPr sz="1300">
                <a:solidFill>
                  <a:srgbClr val="182F46"/>
                </a:solidFill>
                <a:latin typeface="微软雅黑"/>
              </a:rPr>
              <a:t>Full plan: deliverables/Hospital_Patient_Pathway_Acceptance_Test_Plan.docx</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492.75,&quot;left&quot;:53.15,&quot;top&quot;:15.95,&quot;width&quot;:843.85}"/>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492.75,&quot;left&quot;:53.15,&quot;top&quot;:15.95,&quot;width&quot;:843.8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492.75,&quot;left&quot;:53.15,&quot;top&quot;:15.95,&quot;width&quot;:843.8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492.75,&quot;left&quot;:53.15,&quot;top&quot;:15.95,&quot;width&quot;:843.8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492.75,&quot;left&quot;:53.15,&quot;top&quot;:15.95,&quot;width&quot;:843.8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492.75,&quot;left&quot;:53.15,&quot;top&quot;:15.95,&quot;width&quot;:843.8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492.75,&quot;left&quot;:53.15,&quot;top&quot;:15.95,&quot;width&quot;:843.8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492.75,&quot;left&quot;:53.15,&quot;top&quot;:15.95,&quot;width&quot;:843.85}"/>
</p:tagLst>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236</TotalTime>
  <Words>3224</Words>
  <Application>Microsoft Office PowerPoint</Application>
  <PresentationFormat>宽屏</PresentationFormat>
  <Paragraphs>190</Paragraphs>
  <Slides>23</Slides>
  <Notes>21</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23</vt:i4>
      </vt:variant>
    </vt:vector>
  </HeadingPairs>
  <TitlesOfParts>
    <vt:vector size="26" baseType="lpstr">
      <vt:lpstr>微软雅黑</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宸宇 杨</cp:lastModifiedBy>
  <cp:revision>11</cp:revision>
  <dcterms:created xsi:type="dcterms:W3CDTF">2026-09-28T23:59:00Z</dcterms:created>
  <dcterms:modified xsi:type="dcterms:W3CDTF">2026-09-29T06:59:23Z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7B4AF7D738EA4213AFCDDC8FA5BF8D0B_12</vt:lpwstr>
  </property>
  <property fmtid="{D5CDD505-2E9C-101B-9397-08002B2CF9AE}" pid="3" name="KSOProductBuildVer">
    <vt:lpwstr>2052-12.1.0.28505</vt:lpwstr>
  </property>
</Properties>
</file>